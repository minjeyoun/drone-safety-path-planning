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4" r:id="rId1"/>
  </p:sldMasterIdLst>
  <p:notesMasterIdLst>
    <p:notesMasterId r:id="rId4"/>
  </p:notesMasterIdLst>
  <p:sldIdLst>
    <p:sldId id="269" r:id="rId2"/>
    <p:sldId id="268" r:id="rId3"/>
  </p:sldIdLst>
  <p:sldSz cx="27000200" cy="48599725"/>
  <p:notesSz cx="6797675" cy="9928225"/>
  <p:embeddedFontLst>
    <p:embeddedFont>
      <p:font typeface="맑은 고딕" panose="020B0503020000020004" pitchFamily="50" charset="-127"/>
      <p:regular r:id="rId5"/>
      <p:bold r:id="rId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2" userDrawn="1">
          <p15:clr>
            <a:srgbClr val="A4A3A4"/>
          </p15:clr>
        </p15:guide>
        <p15:guide id="2" pos="85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13F"/>
    <a:srgbClr val="0A2647"/>
    <a:srgbClr val="638FCF"/>
    <a:srgbClr val="5790DB"/>
    <a:srgbClr val="2867BA"/>
    <a:srgbClr val="E7F0F9"/>
    <a:srgbClr val="EFF5FB"/>
    <a:srgbClr val="205295"/>
    <a:srgbClr val="144272"/>
    <a:srgbClr val="0A26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A488322-F2BA-4B5B-9748-0D474271808F}" styleName="보통 스타일 3 - 강조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밝은 스타일 2 - 강조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A107856-5554-42FB-B03E-39F5DBC370BA}" styleName="보통 스타일 4 - 강조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보통 스타일 4 - 강조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어두운 스타일 2 - 강조 5/강조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660B408-B3CF-4A94-85FC-2B1E0A45F4A2}" styleName="어두운 스타일 2 - 강조 1/강조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28" autoAdjust="0"/>
    <p:restoredTop sz="98397" autoAdjust="0"/>
  </p:normalViewPr>
  <p:slideViewPr>
    <p:cSldViewPr snapToGrid="0" showGuides="1">
      <p:cViewPr>
        <p:scale>
          <a:sx n="33" d="100"/>
          <a:sy n="33" d="100"/>
        </p:scale>
        <p:origin x="696" y="16"/>
      </p:cViewPr>
      <p:guideLst>
        <p:guide orient="horz" pos="21892"/>
        <p:guide pos="852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microsoft.com/office/2016/11/relationships/changesInfo" Target="changesInfos/changesInfo1.xml"/><Relationship Id="rId5" Type="http://schemas.openxmlformats.org/officeDocument/2006/relationships/font" Target="fonts/font1.fntdata"/><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민제/전자공학과" userId="0bf9cbae-712b-4b0b-9ac8-759a7d9737b0" providerId="ADAL" clId="{F206A62D-73CF-42C4-88EB-B7622EC10015}"/>
    <pc:docChg chg="modSld">
      <pc:chgData name="윤민제/전자공학과" userId="0bf9cbae-712b-4b0b-9ac8-759a7d9737b0" providerId="ADAL" clId="{F206A62D-73CF-42C4-88EB-B7622EC10015}" dt="2024-06-24T06:10:07.108" v="0" actId="404"/>
      <pc:docMkLst>
        <pc:docMk/>
      </pc:docMkLst>
      <pc:sldChg chg="modSp mod">
        <pc:chgData name="윤민제/전자공학과" userId="0bf9cbae-712b-4b0b-9ac8-759a7d9737b0" providerId="ADAL" clId="{F206A62D-73CF-42C4-88EB-B7622EC10015}" dt="2024-06-24T06:10:07.108" v="0" actId="404"/>
        <pc:sldMkLst>
          <pc:docMk/>
          <pc:sldMk cId="2126497554" sldId="268"/>
        </pc:sldMkLst>
        <pc:spChg chg="mod">
          <ac:chgData name="윤민제/전자공학과" userId="0bf9cbae-712b-4b0b-9ac8-759a7d9737b0" providerId="ADAL" clId="{F206A62D-73CF-42C4-88EB-B7622EC10015}" dt="2024-06-24T06:10:07.108" v="0" actId="404"/>
          <ac:spMkLst>
            <pc:docMk/>
            <pc:sldMk cId="2126497554" sldId="268"/>
            <ac:spMk id="16" creationId="{B640F4EE-4078-04F4-923D-A3AA1F5DEC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2946400" cy="498007"/>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49688" y="1"/>
            <a:ext cx="2946400" cy="498007"/>
          </a:xfrm>
          <a:prstGeom prst="rect">
            <a:avLst/>
          </a:prstGeom>
        </p:spPr>
        <p:txBody>
          <a:bodyPr vert="horz" lIns="91440" tIns="45720" rIns="91440" bIns="45720" rtlCol="0"/>
          <a:lstStyle>
            <a:lvl1pPr algn="r">
              <a:defRPr sz="1200"/>
            </a:lvl1pPr>
          </a:lstStyle>
          <a:p>
            <a:fld id="{AD3CB5DC-FE6D-41AE-AB88-3D116122E932}" type="datetimeFigureOut">
              <a:rPr lang="ko-KR" altLang="en-US" smtClean="0"/>
              <a:pPr/>
              <a:t>2024-06-24</a:t>
            </a:fld>
            <a:endParaRPr lang="ko-KR" altLang="en-US" dirty="0"/>
          </a:p>
        </p:txBody>
      </p:sp>
      <p:sp>
        <p:nvSpPr>
          <p:cNvPr id="4" name="슬라이드 이미지 개체 틀 3"/>
          <p:cNvSpPr>
            <a:spLocks noGrp="1" noRot="1" noChangeAspect="1"/>
          </p:cNvSpPr>
          <p:nvPr>
            <p:ph type="sldImg" idx="2"/>
          </p:nvPr>
        </p:nvSpPr>
        <p:spPr>
          <a:xfrm>
            <a:off x="2468563" y="1241425"/>
            <a:ext cx="1860550" cy="3351213"/>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79450" y="4777362"/>
            <a:ext cx="5438775" cy="3910635"/>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30219"/>
            <a:ext cx="2946400" cy="49800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9688" y="9430219"/>
            <a:ext cx="2946400" cy="498007"/>
          </a:xfrm>
          <a:prstGeom prst="rect">
            <a:avLst/>
          </a:prstGeom>
        </p:spPr>
        <p:txBody>
          <a:bodyPr vert="horz" lIns="91440" tIns="45720" rIns="91440" bIns="45720" rtlCol="0" anchor="b"/>
          <a:lstStyle>
            <a:lvl1pPr algn="r">
              <a:defRPr sz="1200"/>
            </a:lvl1pPr>
          </a:lstStyle>
          <a:p>
            <a:fld id="{C9D5E9DE-9A17-4DC5-B0EF-A071BB3E201F}" type="slidenum">
              <a:rPr lang="ko-KR" altLang="en-US" smtClean="0"/>
              <a:pPr/>
              <a:t>‹#›</a:t>
            </a:fld>
            <a:endParaRPr lang="ko-KR" altLang="en-US" dirty="0"/>
          </a:p>
        </p:txBody>
      </p:sp>
    </p:spTree>
    <p:extLst>
      <p:ext uri="{BB962C8B-B14F-4D97-AF65-F5344CB8AC3E}">
        <p14:creationId xmlns:p14="http://schemas.microsoft.com/office/powerpoint/2010/main" val="278448924"/>
      </p:ext>
    </p:extLst>
  </p:cSld>
  <p:clrMap bg1="lt1" tx1="dk1" bg2="lt2" tx2="dk2" accent1="accent1" accent2="accent2" accent3="accent3" accent4="accent4" accent5="accent5" accent6="accent6" hlink="hlink" folHlink="folHlink"/>
  <p:notesStyle>
    <a:lvl1pPr marL="0" algn="l" defTabSz="914344" rtl="0" eaLnBrk="1" latinLnBrk="1" hangingPunct="1">
      <a:defRPr sz="1200" kern="1200">
        <a:solidFill>
          <a:schemeClr val="tx1"/>
        </a:solidFill>
        <a:latin typeface="+mn-lt"/>
        <a:ea typeface="+mn-ea"/>
        <a:cs typeface="+mn-cs"/>
      </a:defRPr>
    </a:lvl1pPr>
    <a:lvl2pPr marL="457172" algn="l" defTabSz="914344" rtl="0" eaLnBrk="1" latinLnBrk="1" hangingPunct="1">
      <a:defRPr sz="1200" kern="1200">
        <a:solidFill>
          <a:schemeClr val="tx1"/>
        </a:solidFill>
        <a:latin typeface="+mn-lt"/>
        <a:ea typeface="+mn-ea"/>
        <a:cs typeface="+mn-cs"/>
      </a:defRPr>
    </a:lvl2pPr>
    <a:lvl3pPr marL="914344" algn="l" defTabSz="914344" rtl="0" eaLnBrk="1" latinLnBrk="1" hangingPunct="1">
      <a:defRPr sz="1200" kern="1200">
        <a:solidFill>
          <a:schemeClr val="tx1"/>
        </a:solidFill>
        <a:latin typeface="+mn-lt"/>
        <a:ea typeface="+mn-ea"/>
        <a:cs typeface="+mn-cs"/>
      </a:defRPr>
    </a:lvl3pPr>
    <a:lvl4pPr marL="1371515" algn="l" defTabSz="914344" rtl="0" eaLnBrk="1" latinLnBrk="1" hangingPunct="1">
      <a:defRPr sz="1200" kern="1200">
        <a:solidFill>
          <a:schemeClr val="tx1"/>
        </a:solidFill>
        <a:latin typeface="+mn-lt"/>
        <a:ea typeface="+mn-ea"/>
        <a:cs typeface="+mn-cs"/>
      </a:defRPr>
    </a:lvl4pPr>
    <a:lvl5pPr marL="1828687" algn="l" defTabSz="914344" rtl="0" eaLnBrk="1" latinLnBrk="1" hangingPunct="1">
      <a:defRPr sz="1200" kern="1200">
        <a:solidFill>
          <a:schemeClr val="tx1"/>
        </a:solidFill>
        <a:latin typeface="+mn-lt"/>
        <a:ea typeface="+mn-ea"/>
        <a:cs typeface="+mn-cs"/>
      </a:defRPr>
    </a:lvl5pPr>
    <a:lvl6pPr marL="2285859" algn="l" defTabSz="914344" rtl="0" eaLnBrk="1" latinLnBrk="1" hangingPunct="1">
      <a:defRPr sz="1200" kern="1200">
        <a:solidFill>
          <a:schemeClr val="tx1"/>
        </a:solidFill>
        <a:latin typeface="+mn-lt"/>
        <a:ea typeface="+mn-ea"/>
        <a:cs typeface="+mn-cs"/>
      </a:defRPr>
    </a:lvl6pPr>
    <a:lvl7pPr marL="2743031" algn="l" defTabSz="914344" rtl="0" eaLnBrk="1" latinLnBrk="1" hangingPunct="1">
      <a:defRPr sz="1200" kern="1200">
        <a:solidFill>
          <a:schemeClr val="tx1"/>
        </a:solidFill>
        <a:latin typeface="+mn-lt"/>
        <a:ea typeface="+mn-ea"/>
        <a:cs typeface="+mn-cs"/>
      </a:defRPr>
    </a:lvl7pPr>
    <a:lvl8pPr marL="3200203" algn="l" defTabSz="914344" rtl="0" eaLnBrk="1" latinLnBrk="1" hangingPunct="1">
      <a:defRPr sz="1200" kern="1200">
        <a:solidFill>
          <a:schemeClr val="tx1"/>
        </a:solidFill>
        <a:latin typeface="+mn-lt"/>
        <a:ea typeface="+mn-ea"/>
        <a:cs typeface="+mn-cs"/>
      </a:defRPr>
    </a:lvl8pPr>
    <a:lvl9pPr marL="3657374" algn="l" defTabSz="914344"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365375" y="744538"/>
            <a:ext cx="2066925" cy="37226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601AF1BA-83F7-49C4-9800-D297FEFDF4BF}" type="slidenum">
              <a:rPr lang="ko-KR" altLang="en-US" smtClean="0"/>
              <a:pPr/>
              <a:t>1</a:t>
            </a:fld>
            <a:endParaRPr lang="ko-KR" altLang="en-US" dirty="0"/>
          </a:p>
        </p:txBody>
      </p:sp>
    </p:spTree>
    <p:extLst>
      <p:ext uri="{BB962C8B-B14F-4D97-AF65-F5344CB8AC3E}">
        <p14:creationId xmlns:p14="http://schemas.microsoft.com/office/powerpoint/2010/main" val="3499427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365375" y="744538"/>
            <a:ext cx="2066925" cy="37226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601AF1BA-83F7-49C4-9800-D297FEFDF4BF}" type="slidenum">
              <a:rPr lang="ko-KR" altLang="en-US" smtClean="0"/>
              <a:pPr/>
              <a:t>2</a:t>
            </a:fld>
            <a:endParaRPr lang="ko-KR" altLang="en-US" dirty="0"/>
          </a:p>
        </p:txBody>
      </p:sp>
    </p:spTree>
    <p:extLst>
      <p:ext uri="{BB962C8B-B14F-4D97-AF65-F5344CB8AC3E}">
        <p14:creationId xmlns:p14="http://schemas.microsoft.com/office/powerpoint/2010/main" val="2575730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025015" y="7953709"/>
            <a:ext cx="22950170" cy="16919904"/>
          </a:xfrm>
        </p:spPr>
        <p:txBody>
          <a:bodyPr anchor="b"/>
          <a:lstStyle>
            <a:lvl1pPr algn="ctr">
              <a:defRPr sz="17717"/>
            </a:lvl1pPr>
          </a:lstStyle>
          <a:p>
            <a:r>
              <a:rPr lang="ko-KR" altLang="en-US"/>
              <a:t>마스터 제목 스타일 편집</a:t>
            </a:r>
            <a:endParaRPr lang="en-US" dirty="0"/>
          </a:p>
        </p:txBody>
      </p:sp>
      <p:sp>
        <p:nvSpPr>
          <p:cNvPr id="3" name="Subtitle 2"/>
          <p:cNvSpPr>
            <a:spLocks noGrp="1"/>
          </p:cNvSpPr>
          <p:nvPr>
            <p:ph type="subTitle" idx="1"/>
          </p:nvPr>
        </p:nvSpPr>
        <p:spPr>
          <a:xfrm>
            <a:off x="3375025" y="25526109"/>
            <a:ext cx="20250150" cy="11733680"/>
          </a:xfrm>
        </p:spPr>
        <p:txBody>
          <a:bodyPr/>
          <a:lstStyle>
            <a:lvl1pPr marL="0" indent="0" algn="ctr">
              <a:buNone/>
              <a:defRPr sz="7087"/>
            </a:lvl1pPr>
            <a:lvl2pPr marL="1350020" indent="0" algn="ctr">
              <a:buNone/>
              <a:defRPr sz="5906"/>
            </a:lvl2pPr>
            <a:lvl3pPr marL="2700040" indent="0" algn="ctr">
              <a:buNone/>
              <a:defRPr sz="5315"/>
            </a:lvl3pPr>
            <a:lvl4pPr marL="4050060" indent="0" algn="ctr">
              <a:buNone/>
              <a:defRPr sz="4724"/>
            </a:lvl4pPr>
            <a:lvl5pPr marL="5400081" indent="0" algn="ctr">
              <a:buNone/>
              <a:defRPr sz="4724"/>
            </a:lvl5pPr>
            <a:lvl6pPr marL="6750101" indent="0" algn="ctr">
              <a:buNone/>
              <a:defRPr sz="4724"/>
            </a:lvl6pPr>
            <a:lvl7pPr marL="8100121" indent="0" algn="ctr">
              <a:buNone/>
              <a:defRPr sz="4724"/>
            </a:lvl7pPr>
            <a:lvl8pPr marL="9450141" indent="0" algn="ctr">
              <a:buNone/>
              <a:defRPr sz="4724"/>
            </a:lvl8pPr>
            <a:lvl9pPr marL="10800161" indent="0" algn="ctr">
              <a:buNone/>
              <a:defRPr sz="4724"/>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399623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648508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842202" y="12116196"/>
            <a:ext cx="23287673" cy="20216132"/>
          </a:xfrm>
        </p:spPr>
        <p:txBody>
          <a:bodyPr anchor="b"/>
          <a:lstStyle>
            <a:lvl1pPr>
              <a:defRPr sz="17717"/>
            </a:lvl1pPr>
          </a:lstStyle>
          <a:p>
            <a:r>
              <a:rPr lang="ko-KR" altLang="en-US"/>
              <a:t>마스터 제목 스타일 편집</a:t>
            </a:r>
            <a:endParaRPr lang="en-US" dirty="0"/>
          </a:p>
        </p:txBody>
      </p:sp>
      <p:sp>
        <p:nvSpPr>
          <p:cNvPr id="3" name="Text Placeholder 2"/>
          <p:cNvSpPr>
            <a:spLocks noGrp="1"/>
          </p:cNvSpPr>
          <p:nvPr>
            <p:ph type="body" idx="1"/>
          </p:nvPr>
        </p:nvSpPr>
        <p:spPr>
          <a:xfrm>
            <a:off x="1842202" y="32523580"/>
            <a:ext cx="23287673" cy="10631186"/>
          </a:xfrm>
        </p:spPr>
        <p:txBody>
          <a:bodyPr/>
          <a:lstStyle>
            <a:lvl1pPr marL="0" indent="0">
              <a:buNone/>
              <a:defRPr sz="7087">
                <a:solidFill>
                  <a:schemeClr val="tx1"/>
                </a:solidFill>
              </a:defRPr>
            </a:lvl1pPr>
            <a:lvl2pPr marL="1350020" indent="0">
              <a:buNone/>
              <a:defRPr sz="5906">
                <a:solidFill>
                  <a:schemeClr val="tx1">
                    <a:tint val="75000"/>
                  </a:schemeClr>
                </a:solidFill>
              </a:defRPr>
            </a:lvl2pPr>
            <a:lvl3pPr marL="2700040" indent="0">
              <a:buNone/>
              <a:defRPr sz="5315">
                <a:solidFill>
                  <a:schemeClr val="tx1">
                    <a:tint val="75000"/>
                  </a:schemeClr>
                </a:solidFill>
              </a:defRPr>
            </a:lvl3pPr>
            <a:lvl4pPr marL="4050060" indent="0">
              <a:buNone/>
              <a:defRPr sz="4724">
                <a:solidFill>
                  <a:schemeClr val="tx1">
                    <a:tint val="75000"/>
                  </a:schemeClr>
                </a:solidFill>
              </a:defRPr>
            </a:lvl4pPr>
            <a:lvl5pPr marL="5400081" indent="0">
              <a:buNone/>
              <a:defRPr sz="4724">
                <a:solidFill>
                  <a:schemeClr val="tx1">
                    <a:tint val="75000"/>
                  </a:schemeClr>
                </a:solidFill>
              </a:defRPr>
            </a:lvl5pPr>
            <a:lvl6pPr marL="6750101" indent="0">
              <a:buNone/>
              <a:defRPr sz="4724">
                <a:solidFill>
                  <a:schemeClr val="tx1">
                    <a:tint val="75000"/>
                  </a:schemeClr>
                </a:solidFill>
              </a:defRPr>
            </a:lvl6pPr>
            <a:lvl7pPr marL="8100121" indent="0">
              <a:buNone/>
              <a:defRPr sz="4724">
                <a:solidFill>
                  <a:schemeClr val="tx1">
                    <a:tint val="75000"/>
                  </a:schemeClr>
                </a:solidFill>
              </a:defRPr>
            </a:lvl7pPr>
            <a:lvl8pPr marL="9450141" indent="0">
              <a:buNone/>
              <a:defRPr sz="4724">
                <a:solidFill>
                  <a:schemeClr val="tx1">
                    <a:tint val="75000"/>
                  </a:schemeClr>
                </a:solidFill>
              </a:defRPr>
            </a:lvl8pPr>
            <a:lvl9pPr marL="10800161" indent="0">
              <a:buNone/>
              <a:defRPr sz="4724">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2837466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856264" y="12937427"/>
            <a:ext cx="11475085" cy="308360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3668851" y="12937427"/>
            <a:ext cx="11475085" cy="30836079"/>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2570826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859780" y="2587496"/>
            <a:ext cx="23287673" cy="9393700"/>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859784" y="11913686"/>
            <a:ext cx="11422348" cy="5838713"/>
          </a:xfrm>
        </p:spPr>
        <p:txBody>
          <a:bodyPr anchor="b"/>
          <a:lstStyle>
            <a:lvl1pPr marL="0" indent="0">
              <a:buNone/>
              <a:defRPr sz="7087" b="1"/>
            </a:lvl1pPr>
            <a:lvl2pPr marL="1350020" indent="0">
              <a:buNone/>
              <a:defRPr sz="5906" b="1"/>
            </a:lvl2pPr>
            <a:lvl3pPr marL="2700040" indent="0">
              <a:buNone/>
              <a:defRPr sz="5315" b="1"/>
            </a:lvl3pPr>
            <a:lvl4pPr marL="4050060" indent="0">
              <a:buNone/>
              <a:defRPr sz="4724" b="1"/>
            </a:lvl4pPr>
            <a:lvl5pPr marL="5400081" indent="0">
              <a:buNone/>
              <a:defRPr sz="4724" b="1"/>
            </a:lvl5pPr>
            <a:lvl6pPr marL="6750101" indent="0">
              <a:buNone/>
              <a:defRPr sz="4724" b="1"/>
            </a:lvl6pPr>
            <a:lvl7pPr marL="8100121" indent="0">
              <a:buNone/>
              <a:defRPr sz="4724" b="1"/>
            </a:lvl7pPr>
            <a:lvl8pPr marL="9450141" indent="0">
              <a:buNone/>
              <a:defRPr sz="4724" b="1"/>
            </a:lvl8pPr>
            <a:lvl9pPr marL="10800161" indent="0">
              <a:buNone/>
              <a:defRPr sz="4724"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859784" y="17752399"/>
            <a:ext cx="11422348" cy="2611110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3668853" y="11913686"/>
            <a:ext cx="11478602" cy="5838713"/>
          </a:xfrm>
        </p:spPr>
        <p:txBody>
          <a:bodyPr anchor="b"/>
          <a:lstStyle>
            <a:lvl1pPr marL="0" indent="0">
              <a:buNone/>
              <a:defRPr sz="7087" b="1"/>
            </a:lvl1pPr>
            <a:lvl2pPr marL="1350020" indent="0">
              <a:buNone/>
              <a:defRPr sz="5906" b="1"/>
            </a:lvl2pPr>
            <a:lvl3pPr marL="2700040" indent="0">
              <a:buNone/>
              <a:defRPr sz="5315" b="1"/>
            </a:lvl3pPr>
            <a:lvl4pPr marL="4050060" indent="0">
              <a:buNone/>
              <a:defRPr sz="4724" b="1"/>
            </a:lvl4pPr>
            <a:lvl5pPr marL="5400081" indent="0">
              <a:buNone/>
              <a:defRPr sz="4724" b="1"/>
            </a:lvl5pPr>
            <a:lvl6pPr marL="6750101" indent="0">
              <a:buNone/>
              <a:defRPr sz="4724" b="1"/>
            </a:lvl6pPr>
            <a:lvl7pPr marL="8100121" indent="0">
              <a:buNone/>
              <a:defRPr sz="4724" b="1"/>
            </a:lvl7pPr>
            <a:lvl8pPr marL="9450141" indent="0">
              <a:buNone/>
              <a:defRPr sz="4724" b="1"/>
            </a:lvl8pPr>
            <a:lvl9pPr marL="10800161" indent="0">
              <a:buNone/>
              <a:defRPr sz="4724"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3668853" y="17752399"/>
            <a:ext cx="11478602" cy="2611110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8" name="Footer Placeholder 7"/>
          <p:cNvSpPr>
            <a:spLocks noGrp="1"/>
          </p:cNvSpPr>
          <p:nvPr>
            <p:ph type="ftr" sz="quarter" idx="11"/>
          </p:nvPr>
        </p:nvSpPr>
        <p:spPr/>
        <p:txBody>
          <a:bodyPr/>
          <a:lstStyle/>
          <a:p>
            <a:endParaRPr lang="ko-KR" altLang="en-US" dirty="0"/>
          </a:p>
        </p:txBody>
      </p:sp>
      <p:sp>
        <p:nvSpPr>
          <p:cNvPr id="9" name="Slide Number Placeholder 8"/>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2877288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4" name="Footer Placeholder 3"/>
          <p:cNvSpPr>
            <a:spLocks noGrp="1"/>
          </p:cNvSpPr>
          <p:nvPr>
            <p:ph type="ftr" sz="quarter" idx="11"/>
          </p:nvPr>
        </p:nvSpPr>
        <p:spPr/>
        <p:txBody>
          <a:bodyPr/>
          <a:lstStyle/>
          <a:p>
            <a:endParaRPr lang="ko-KR" altLang="en-US" dirty="0"/>
          </a:p>
        </p:txBody>
      </p:sp>
      <p:sp>
        <p:nvSpPr>
          <p:cNvPr id="5" name="Slide Number Placeholder 4"/>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1687517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3" name="Footer Placeholder 2"/>
          <p:cNvSpPr>
            <a:spLocks noGrp="1"/>
          </p:cNvSpPr>
          <p:nvPr>
            <p:ph type="ftr" sz="quarter" idx="11"/>
          </p:nvPr>
        </p:nvSpPr>
        <p:spPr/>
        <p:txBody>
          <a:bodyPr/>
          <a:lstStyle/>
          <a:p>
            <a:endParaRPr lang="ko-KR" altLang="en-US" dirty="0"/>
          </a:p>
        </p:txBody>
      </p:sp>
      <p:sp>
        <p:nvSpPr>
          <p:cNvPr id="4" name="Slide Number Placeholder 3"/>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272225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859781" y="3239982"/>
            <a:ext cx="8708267" cy="11339936"/>
          </a:xfrm>
        </p:spPr>
        <p:txBody>
          <a:bodyPr anchor="b"/>
          <a:lstStyle>
            <a:lvl1pPr>
              <a:defRPr sz="9449"/>
            </a:lvl1pPr>
          </a:lstStyle>
          <a:p>
            <a:r>
              <a:rPr lang="ko-KR" altLang="en-US"/>
              <a:t>마스터 제목 스타일 편집</a:t>
            </a:r>
            <a:endParaRPr lang="en-US" dirty="0"/>
          </a:p>
        </p:txBody>
      </p:sp>
      <p:sp>
        <p:nvSpPr>
          <p:cNvPr id="3" name="Content Placeholder 2"/>
          <p:cNvSpPr>
            <a:spLocks noGrp="1"/>
          </p:cNvSpPr>
          <p:nvPr>
            <p:ph idx="1"/>
          </p:nvPr>
        </p:nvSpPr>
        <p:spPr>
          <a:xfrm>
            <a:off x="11478602" y="6997471"/>
            <a:ext cx="13668851" cy="34537305"/>
          </a:xfrm>
        </p:spPr>
        <p:txBody>
          <a:bodyPr/>
          <a:lstStyle>
            <a:lvl1pPr>
              <a:defRPr sz="9449"/>
            </a:lvl1pPr>
            <a:lvl2pPr>
              <a:defRPr sz="8268"/>
            </a:lvl2pPr>
            <a:lvl3pPr>
              <a:defRPr sz="7087"/>
            </a:lvl3pPr>
            <a:lvl4pPr>
              <a:defRPr sz="5906"/>
            </a:lvl4pPr>
            <a:lvl5pPr>
              <a:defRPr sz="5906"/>
            </a:lvl5pPr>
            <a:lvl6pPr>
              <a:defRPr sz="5906"/>
            </a:lvl6pPr>
            <a:lvl7pPr>
              <a:defRPr sz="5906"/>
            </a:lvl7pPr>
            <a:lvl8pPr>
              <a:defRPr sz="5906"/>
            </a:lvl8pPr>
            <a:lvl9pPr>
              <a:defRPr sz="5906"/>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859781" y="14579917"/>
            <a:ext cx="8708267" cy="27011101"/>
          </a:xfrm>
        </p:spPr>
        <p:txBody>
          <a:bodyPr/>
          <a:lstStyle>
            <a:lvl1pPr marL="0" indent="0">
              <a:buNone/>
              <a:defRPr sz="4724"/>
            </a:lvl1pPr>
            <a:lvl2pPr marL="1350020" indent="0">
              <a:buNone/>
              <a:defRPr sz="4134"/>
            </a:lvl2pPr>
            <a:lvl3pPr marL="2700040" indent="0">
              <a:buNone/>
              <a:defRPr sz="3543"/>
            </a:lvl3pPr>
            <a:lvl4pPr marL="4050060" indent="0">
              <a:buNone/>
              <a:defRPr sz="2953"/>
            </a:lvl4pPr>
            <a:lvl5pPr marL="5400081" indent="0">
              <a:buNone/>
              <a:defRPr sz="2953"/>
            </a:lvl5pPr>
            <a:lvl6pPr marL="6750101" indent="0">
              <a:buNone/>
              <a:defRPr sz="2953"/>
            </a:lvl6pPr>
            <a:lvl7pPr marL="8100121" indent="0">
              <a:buNone/>
              <a:defRPr sz="2953"/>
            </a:lvl7pPr>
            <a:lvl8pPr marL="9450141" indent="0">
              <a:buNone/>
              <a:defRPr sz="2953"/>
            </a:lvl8pPr>
            <a:lvl9pPr marL="10800161" indent="0">
              <a:buNone/>
              <a:defRPr sz="2953"/>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1963329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859781" y="3239982"/>
            <a:ext cx="8708267" cy="11339936"/>
          </a:xfrm>
        </p:spPr>
        <p:txBody>
          <a:bodyPr anchor="b"/>
          <a:lstStyle>
            <a:lvl1pPr>
              <a:defRPr sz="9449"/>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11478602" y="6997471"/>
            <a:ext cx="13668851" cy="34537305"/>
          </a:xfrm>
        </p:spPr>
        <p:txBody>
          <a:bodyPr anchor="t"/>
          <a:lstStyle>
            <a:lvl1pPr marL="0" indent="0">
              <a:buNone/>
              <a:defRPr sz="9449"/>
            </a:lvl1pPr>
            <a:lvl2pPr marL="1350020" indent="0">
              <a:buNone/>
              <a:defRPr sz="8268"/>
            </a:lvl2pPr>
            <a:lvl3pPr marL="2700040" indent="0">
              <a:buNone/>
              <a:defRPr sz="7087"/>
            </a:lvl3pPr>
            <a:lvl4pPr marL="4050060" indent="0">
              <a:buNone/>
              <a:defRPr sz="5906"/>
            </a:lvl4pPr>
            <a:lvl5pPr marL="5400081" indent="0">
              <a:buNone/>
              <a:defRPr sz="5906"/>
            </a:lvl5pPr>
            <a:lvl6pPr marL="6750101" indent="0">
              <a:buNone/>
              <a:defRPr sz="5906"/>
            </a:lvl6pPr>
            <a:lvl7pPr marL="8100121" indent="0">
              <a:buNone/>
              <a:defRPr sz="5906"/>
            </a:lvl7pPr>
            <a:lvl8pPr marL="9450141" indent="0">
              <a:buNone/>
              <a:defRPr sz="5906"/>
            </a:lvl8pPr>
            <a:lvl9pPr marL="10800161" indent="0">
              <a:buNone/>
              <a:defRPr sz="5906"/>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859781" y="14579917"/>
            <a:ext cx="8708267" cy="27011101"/>
          </a:xfrm>
        </p:spPr>
        <p:txBody>
          <a:bodyPr/>
          <a:lstStyle>
            <a:lvl1pPr marL="0" indent="0">
              <a:buNone/>
              <a:defRPr sz="4724"/>
            </a:lvl1pPr>
            <a:lvl2pPr marL="1350020" indent="0">
              <a:buNone/>
              <a:defRPr sz="4134"/>
            </a:lvl2pPr>
            <a:lvl3pPr marL="2700040" indent="0">
              <a:buNone/>
              <a:defRPr sz="3543"/>
            </a:lvl3pPr>
            <a:lvl4pPr marL="4050060" indent="0">
              <a:buNone/>
              <a:defRPr sz="2953"/>
            </a:lvl4pPr>
            <a:lvl5pPr marL="5400081" indent="0">
              <a:buNone/>
              <a:defRPr sz="2953"/>
            </a:lvl5pPr>
            <a:lvl6pPr marL="6750101" indent="0">
              <a:buNone/>
              <a:defRPr sz="2953"/>
            </a:lvl6pPr>
            <a:lvl7pPr marL="8100121" indent="0">
              <a:buNone/>
              <a:defRPr sz="2953"/>
            </a:lvl7pPr>
            <a:lvl8pPr marL="9450141" indent="0">
              <a:buNone/>
              <a:defRPr sz="2953"/>
            </a:lvl8pPr>
            <a:lvl9pPr marL="10800161" indent="0">
              <a:buNone/>
              <a:defRPr sz="2953"/>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6" name="Footer Placeholder 5"/>
          <p:cNvSpPr>
            <a:spLocks noGrp="1"/>
          </p:cNvSpPr>
          <p:nvPr>
            <p:ph type="ftr" sz="quarter" idx="11"/>
          </p:nvPr>
        </p:nvSpPr>
        <p:spPr/>
        <p:txBody>
          <a:bodyPr/>
          <a:lstStyle/>
          <a:p>
            <a:endParaRPr lang="ko-KR" altLang="en-US" dirty="0"/>
          </a:p>
        </p:txBody>
      </p:sp>
      <p:sp>
        <p:nvSpPr>
          <p:cNvPr id="7" name="Slide Number Placeholder 6"/>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1386487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2312807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322020" y="2587486"/>
            <a:ext cx="5821918" cy="41186020"/>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856265" y="2587486"/>
            <a:ext cx="17128252" cy="41186020"/>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257DE3AA-791A-4454-83BC-785024B44FFC}" type="datetimeFigureOut">
              <a:rPr lang="ko-KR" altLang="en-US" smtClean="0"/>
              <a:pPr/>
              <a:t>2024-06-24</a:t>
            </a:fld>
            <a:endParaRPr lang="ko-KR" altLang="en-US" dirty="0"/>
          </a:p>
        </p:txBody>
      </p:sp>
      <p:sp>
        <p:nvSpPr>
          <p:cNvPr id="5" name="Footer Placeholder 4"/>
          <p:cNvSpPr>
            <a:spLocks noGrp="1"/>
          </p:cNvSpPr>
          <p:nvPr>
            <p:ph type="ftr" sz="quarter" idx="11"/>
          </p:nvPr>
        </p:nvSpPr>
        <p:spPr/>
        <p:txBody>
          <a:bodyPr/>
          <a:lstStyle/>
          <a:p>
            <a:endParaRPr lang="ko-KR" altLang="en-US" dirty="0"/>
          </a:p>
        </p:txBody>
      </p:sp>
      <p:sp>
        <p:nvSpPr>
          <p:cNvPr id="6" name="Slide Number Placeholder 5"/>
          <p:cNvSpPr>
            <a:spLocks noGrp="1"/>
          </p:cNvSpPr>
          <p:nvPr>
            <p:ph type="sldNum" sz="quarter" idx="12"/>
          </p:nvPr>
        </p:nvSpPr>
        <p:spPr/>
        <p:txBody>
          <a:body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3409872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56264" y="2587496"/>
            <a:ext cx="23287673" cy="9393700"/>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856264" y="12937427"/>
            <a:ext cx="23287673" cy="30836079"/>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856264" y="45044756"/>
            <a:ext cx="6075045" cy="2587485"/>
          </a:xfrm>
          <a:prstGeom prst="rect">
            <a:avLst/>
          </a:prstGeom>
        </p:spPr>
        <p:txBody>
          <a:bodyPr vert="horz" lIns="91440" tIns="45720" rIns="91440" bIns="45720" rtlCol="0" anchor="ctr"/>
          <a:lstStyle>
            <a:lvl1pPr algn="l">
              <a:defRPr sz="3543">
                <a:solidFill>
                  <a:schemeClr val="tx1">
                    <a:tint val="75000"/>
                  </a:schemeClr>
                </a:solidFill>
              </a:defRPr>
            </a:lvl1pPr>
          </a:lstStyle>
          <a:p>
            <a:fld id="{257DE3AA-791A-4454-83BC-785024B44FFC}" type="datetimeFigureOut">
              <a:rPr lang="ko-KR" altLang="en-US" smtClean="0"/>
              <a:pPr/>
              <a:t>2024-06-24</a:t>
            </a:fld>
            <a:endParaRPr lang="ko-KR" altLang="en-US" dirty="0"/>
          </a:p>
        </p:txBody>
      </p:sp>
      <p:sp>
        <p:nvSpPr>
          <p:cNvPr id="5" name="Footer Placeholder 4"/>
          <p:cNvSpPr>
            <a:spLocks noGrp="1"/>
          </p:cNvSpPr>
          <p:nvPr>
            <p:ph type="ftr" sz="quarter" idx="3"/>
          </p:nvPr>
        </p:nvSpPr>
        <p:spPr>
          <a:xfrm>
            <a:off x="8943816" y="45044756"/>
            <a:ext cx="9112568" cy="2587485"/>
          </a:xfrm>
          <a:prstGeom prst="rect">
            <a:avLst/>
          </a:prstGeom>
        </p:spPr>
        <p:txBody>
          <a:bodyPr vert="horz" lIns="91440" tIns="45720" rIns="91440" bIns="45720" rtlCol="0" anchor="ctr"/>
          <a:lstStyle>
            <a:lvl1pPr algn="ctr">
              <a:defRPr sz="3543">
                <a:solidFill>
                  <a:schemeClr val="tx1">
                    <a:tint val="75000"/>
                  </a:schemeClr>
                </a:solidFill>
              </a:defRPr>
            </a:lvl1pPr>
          </a:lstStyle>
          <a:p>
            <a:endParaRPr lang="ko-KR" altLang="en-US" dirty="0"/>
          </a:p>
        </p:txBody>
      </p:sp>
      <p:sp>
        <p:nvSpPr>
          <p:cNvPr id="6" name="Slide Number Placeholder 5"/>
          <p:cNvSpPr>
            <a:spLocks noGrp="1"/>
          </p:cNvSpPr>
          <p:nvPr>
            <p:ph type="sldNum" sz="quarter" idx="4"/>
          </p:nvPr>
        </p:nvSpPr>
        <p:spPr>
          <a:xfrm>
            <a:off x="19068891" y="45044756"/>
            <a:ext cx="6075045" cy="2587485"/>
          </a:xfrm>
          <a:prstGeom prst="rect">
            <a:avLst/>
          </a:prstGeom>
        </p:spPr>
        <p:txBody>
          <a:bodyPr vert="horz" lIns="91440" tIns="45720" rIns="91440" bIns="45720" rtlCol="0" anchor="ctr"/>
          <a:lstStyle>
            <a:lvl1pPr algn="r">
              <a:defRPr sz="3543">
                <a:solidFill>
                  <a:schemeClr val="tx1">
                    <a:tint val="75000"/>
                  </a:schemeClr>
                </a:solidFill>
              </a:defRPr>
            </a:lvl1pPr>
          </a:lstStyle>
          <a:p>
            <a:fld id="{C1C8ED67-9C04-4113-9FBC-A0EA21C2C75D}" type="slidenum">
              <a:rPr lang="ko-KR" altLang="en-US" smtClean="0"/>
              <a:pPr/>
              <a:t>‹#›</a:t>
            </a:fld>
            <a:endParaRPr lang="ko-KR" altLang="en-US" dirty="0"/>
          </a:p>
        </p:txBody>
      </p:sp>
    </p:spTree>
    <p:extLst>
      <p:ext uri="{BB962C8B-B14F-4D97-AF65-F5344CB8AC3E}">
        <p14:creationId xmlns:p14="http://schemas.microsoft.com/office/powerpoint/2010/main" val="29864236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700040" rtl="0" eaLnBrk="1" latinLnBrk="1" hangingPunct="1">
        <a:lnSpc>
          <a:spcPct val="90000"/>
        </a:lnSpc>
        <a:spcBef>
          <a:spcPct val="0"/>
        </a:spcBef>
        <a:buNone/>
        <a:defRPr sz="12992" kern="1200">
          <a:solidFill>
            <a:schemeClr val="tx1"/>
          </a:solidFill>
          <a:latin typeface="+mj-lt"/>
          <a:ea typeface="+mj-ea"/>
          <a:cs typeface="+mj-cs"/>
        </a:defRPr>
      </a:lvl1pPr>
    </p:titleStyle>
    <p:bodyStyle>
      <a:lvl1pPr marL="675010" indent="-675010" algn="l" defTabSz="2700040" rtl="0" eaLnBrk="1" latinLnBrk="1" hangingPunct="1">
        <a:lnSpc>
          <a:spcPct val="90000"/>
        </a:lnSpc>
        <a:spcBef>
          <a:spcPts val="2953"/>
        </a:spcBef>
        <a:buFont typeface="Arial" panose="020B0604020202020204" pitchFamily="34" charset="0"/>
        <a:buChar char="•"/>
        <a:defRPr sz="8268" kern="1200">
          <a:solidFill>
            <a:schemeClr val="tx1"/>
          </a:solidFill>
          <a:latin typeface="+mn-lt"/>
          <a:ea typeface="+mn-ea"/>
          <a:cs typeface="+mn-cs"/>
        </a:defRPr>
      </a:lvl1pPr>
      <a:lvl2pPr marL="2025030" indent="-675010" algn="l" defTabSz="2700040" rtl="0" eaLnBrk="1" latinLnBrk="1" hangingPunct="1">
        <a:lnSpc>
          <a:spcPct val="90000"/>
        </a:lnSpc>
        <a:spcBef>
          <a:spcPts val="1476"/>
        </a:spcBef>
        <a:buFont typeface="Arial" panose="020B0604020202020204" pitchFamily="34" charset="0"/>
        <a:buChar char="•"/>
        <a:defRPr sz="7087" kern="1200">
          <a:solidFill>
            <a:schemeClr val="tx1"/>
          </a:solidFill>
          <a:latin typeface="+mn-lt"/>
          <a:ea typeface="+mn-ea"/>
          <a:cs typeface="+mn-cs"/>
        </a:defRPr>
      </a:lvl2pPr>
      <a:lvl3pPr marL="3375050" indent="-675010" algn="l" defTabSz="2700040" rtl="0" eaLnBrk="1" latinLnBrk="1" hangingPunct="1">
        <a:lnSpc>
          <a:spcPct val="90000"/>
        </a:lnSpc>
        <a:spcBef>
          <a:spcPts val="1476"/>
        </a:spcBef>
        <a:buFont typeface="Arial" panose="020B0604020202020204" pitchFamily="34" charset="0"/>
        <a:buChar char="•"/>
        <a:defRPr sz="5906" kern="1200">
          <a:solidFill>
            <a:schemeClr val="tx1"/>
          </a:solidFill>
          <a:latin typeface="+mn-lt"/>
          <a:ea typeface="+mn-ea"/>
          <a:cs typeface="+mn-cs"/>
        </a:defRPr>
      </a:lvl3pPr>
      <a:lvl4pPr marL="4725071" indent="-675010" algn="l" defTabSz="2700040" rtl="0" eaLnBrk="1" latinLnBrk="1" hangingPunct="1">
        <a:lnSpc>
          <a:spcPct val="90000"/>
        </a:lnSpc>
        <a:spcBef>
          <a:spcPts val="1476"/>
        </a:spcBef>
        <a:buFont typeface="Arial" panose="020B0604020202020204" pitchFamily="34" charset="0"/>
        <a:buChar char="•"/>
        <a:defRPr sz="5315" kern="1200">
          <a:solidFill>
            <a:schemeClr val="tx1"/>
          </a:solidFill>
          <a:latin typeface="+mn-lt"/>
          <a:ea typeface="+mn-ea"/>
          <a:cs typeface="+mn-cs"/>
        </a:defRPr>
      </a:lvl4pPr>
      <a:lvl5pPr marL="6075091" indent="-675010" algn="l" defTabSz="2700040" rtl="0" eaLnBrk="1" latinLnBrk="1" hangingPunct="1">
        <a:lnSpc>
          <a:spcPct val="90000"/>
        </a:lnSpc>
        <a:spcBef>
          <a:spcPts val="1476"/>
        </a:spcBef>
        <a:buFont typeface="Arial" panose="020B0604020202020204" pitchFamily="34" charset="0"/>
        <a:buChar char="•"/>
        <a:defRPr sz="5315" kern="1200">
          <a:solidFill>
            <a:schemeClr val="tx1"/>
          </a:solidFill>
          <a:latin typeface="+mn-lt"/>
          <a:ea typeface="+mn-ea"/>
          <a:cs typeface="+mn-cs"/>
        </a:defRPr>
      </a:lvl5pPr>
      <a:lvl6pPr marL="7425111" indent="-675010" algn="l" defTabSz="2700040" rtl="0" eaLnBrk="1" latinLnBrk="1" hangingPunct="1">
        <a:lnSpc>
          <a:spcPct val="90000"/>
        </a:lnSpc>
        <a:spcBef>
          <a:spcPts val="1476"/>
        </a:spcBef>
        <a:buFont typeface="Arial" panose="020B0604020202020204" pitchFamily="34" charset="0"/>
        <a:buChar char="•"/>
        <a:defRPr sz="5315" kern="1200">
          <a:solidFill>
            <a:schemeClr val="tx1"/>
          </a:solidFill>
          <a:latin typeface="+mn-lt"/>
          <a:ea typeface="+mn-ea"/>
          <a:cs typeface="+mn-cs"/>
        </a:defRPr>
      </a:lvl6pPr>
      <a:lvl7pPr marL="8775131" indent="-675010" algn="l" defTabSz="2700040" rtl="0" eaLnBrk="1" latinLnBrk="1" hangingPunct="1">
        <a:lnSpc>
          <a:spcPct val="90000"/>
        </a:lnSpc>
        <a:spcBef>
          <a:spcPts val="1476"/>
        </a:spcBef>
        <a:buFont typeface="Arial" panose="020B0604020202020204" pitchFamily="34" charset="0"/>
        <a:buChar char="•"/>
        <a:defRPr sz="5315" kern="1200">
          <a:solidFill>
            <a:schemeClr val="tx1"/>
          </a:solidFill>
          <a:latin typeface="+mn-lt"/>
          <a:ea typeface="+mn-ea"/>
          <a:cs typeface="+mn-cs"/>
        </a:defRPr>
      </a:lvl7pPr>
      <a:lvl8pPr marL="10125151" indent="-675010" algn="l" defTabSz="2700040" rtl="0" eaLnBrk="1" latinLnBrk="1" hangingPunct="1">
        <a:lnSpc>
          <a:spcPct val="90000"/>
        </a:lnSpc>
        <a:spcBef>
          <a:spcPts val="1476"/>
        </a:spcBef>
        <a:buFont typeface="Arial" panose="020B0604020202020204" pitchFamily="34" charset="0"/>
        <a:buChar char="•"/>
        <a:defRPr sz="5315" kern="1200">
          <a:solidFill>
            <a:schemeClr val="tx1"/>
          </a:solidFill>
          <a:latin typeface="+mn-lt"/>
          <a:ea typeface="+mn-ea"/>
          <a:cs typeface="+mn-cs"/>
        </a:defRPr>
      </a:lvl8pPr>
      <a:lvl9pPr marL="11475171" indent="-675010" algn="l" defTabSz="2700040" rtl="0" eaLnBrk="1" latinLnBrk="1" hangingPunct="1">
        <a:lnSpc>
          <a:spcPct val="90000"/>
        </a:lnSpc>
        <a:spcBef>
          <a:spcPts val="1476"/>
        </a:spcBef>
        <a:buFont typeface="Arial" panose="020B0604020202020204" pitchFamily="34" charset="0"/>
        <a:buChar char="•"/>
        <a:defRPr sz="5315" kern="1200">
          <a:solidFill>
            <a:schemeClr val="tx1"/>
          </a:solidFill>
          <a:latin typeface="+mn-lt"/>
          <a:ea typeface="+mn-ea"/>
          <a:cs typeface="+mn-cs"/>
        </a:defRPr>
      </a:lvl9pPr>
    </p:bodyStyle>
    <p:otherStyle>
      <a:defPPr>
        <a:defRPr lang="en-US"/>
      </a:defPPr>
      <a:lvl1pPr marL="0" algn="l" defTabSz="2700040" rtl="0" eaLnBrk="1" latinLnBrk="1" hangingPunct="1">
        <a:defRPr sz="5315" kern="1200">
          <a:solidFill>
            <a:schemeClr val="tx1"/>
          </a:solidFill>
          <a:latin typeface="+mn-lt"/>
          <a:ea typeface="+mn-ea"/>
          <a:cs typeface="+mn-cs"/>
        </a:defRPr>
      </a:lvl1pPr>
      <a:lvl2pPr marL="1350020" algn="l" defTabSz="2700040" rtl="0" eaLnBrk="1" latinLnBrk="1" hangingPunct="1">
        <a:defRPr sz="5315" kern="1200">
          <a:solidFill>
            <a:schemeClr val="tx1"/>
          </a:solidFill>
          <a:latin typeface="+mn-lt"/>
          <a:ea typeface="+mn-ea"/>
          <a:cs typeface="+mn-cs"/>
        </a:defRPr>
      </a:lvl2pPr>
      <a:lvl3pPr marL="2700040" algn="l" defTabSz="2700040" rtl="0" eaLnBrk="1" latinLnBrk="1" hangingPunct="1">
        <a:defRPr sz="5315" kern="1200">
          <a:solidFill>
            <a:schemeClr val="tx1"/>
          </a:solidFill>
          <a:latin typeface="+mn-lt"/>
          <a:ea typeface="+mn-ea"/>
          <a:cs typeface="+mn-cs"/>
        </a:defRPr>
      </a:lvl3pPr>
      <a:lvl4pPr marL="4050060" algn="l" defTabSz="2700040" rtl="0" eaLnBrk="1" latinLnBrk="1" hangingPunct="1">
        <a:defRPr sz="5315" kern="1200">
          <a:solidFill>
            <a:schemeClr val="tx1"/>
          </a:solidFill>
          <a:latin typeface="+mn-lt"/>
          <a:ea typeface="+mn-ea"/>
          <a:cs typeface="+mn-cs"/>
        </a:defRPr>
      </a:lvl4pPr>
      <a:lvl5pPr marL="5400081" algn="l" defTabSz="2700040" rtl="0" eaLnBrk="1" latinLnBrk="1" hangingPunct="1">
        <a:defRPr sz="5315" kern="1200">
          <a:solidFill>
            <a:schemeClr val="tx1"/>
          </a:solidFill>
          <a:latin typeface="+mn-lt"/>
          <a:ea typeface="+mn-ea"/>
          <a:cs typeface="+mn-cs"/>
        </a:defRPr>
      </a:lvl5pPr>
      <a:lvl6pPr marL="6750101" algn="l" defTabSz="2700040" rtl="0" eaLnBrk="1" latinLnBrk="1" hangingPunct="1">
        <a:defRPr sz="5315" kern="1200">
          <a:solidFill>
            <a:schemeClr val="tx1"/>
          </a:solidFill>
          <a:latin typeface="+mn-lt"/>
          <a:ea typeface="+mn-ea"/>
          <a:cs typeface="+mn-cs"/>
        </a:defRPr>
      </a:lvl6pPr>
      <a:lvl7pPr marL="8100121" algn="l" defTabSz="2700040" rtl="0" eaLnBrk="1" latinLnBrk="1" hangingPunct="1">
        <a:defRPr sz="5315" kern="1200">
          <a:solidFill>
            <a:schemeClr val="tx1"/>
          </a:solidFill>
          <a:latin typeface="+mn-lt"/>
          <a:ea typeface="+mn-ea"/>
          <a:cs typeface="+mn-cs"/>
        </a:defRPr>
      </a:lvl7pPr>
      <a:lvl8pPr marL="9450141" algn="l" defTabSz="2700040" rtl="0" eaLnBrk="1" latinLnBrk="1" hangingPunct="1">
        <a:defRPr sz="5315" kern="1200">
          <a:solidFill>
            <a:schemeClr val="tx1"/>
          </a:solidFill>
          <a:latin typeface="+mn-lt"/>
          <a:ea typeface="+mn-ea"/>
          <a:cs typeface="+mn-cs"/>
        </a:defRPr>
      </a:lvl8pPr>
      <a:lvl9pPr marL="10800161" algn="l" defTabSz="2700040" rtl="0" eaLnBrk="1" latinLnBrk="1" hangingPunct="1">
        <a:defRPr sz="53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213F"/>
        </a:solidFill>
        <a:effectLst/>
      </p:bgPr>
    </p:bg>
    <p:spTree>
      <p:nvGrpSpPr>
        <p:cNvPr id="1" name=""/>
        <p:cNvGrpSpPr/>
        <p:nvPr/>
      </p:nvGrpSpPr>
      <p:grpSpPr>
        <a:xfrm>
          <a:off x="0" y="0"/>
          <a:ext cx="0" cy="0"/>
          <a:chOff x="0" y="0"/>
          <a:chExt cx="0" cy="0"/>
        </a:xfrm>
      </p:grpSpPr>
      <p:sp>
        <p:nvSpPr>
          <p:cNvPr id="234" name="모서리가 둥근 직사각형 233"/>
          <p:cNvSpPr/>
          <p:nvPr/>
        </p:nvSpPr>
        <p:spPr>
          <a:xfrm>
            <a:off x="404603" y="6588369"/>
            <a:ext cx="26190994" cy="39075046"/>
          </a:xfrm>
          <a:prstGeom prst="roundRect">
            <a:avLst>
              <a:gd name="adj" fmla="val 7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2" rIns="76200" bIns="38102" numCol="1" spcCol="0" rtlCol="0" fromWordArt="0" anchor="ctr" anchorCtr="0" forceAA="0" compatLnSpc="1">
            <a:prstTxWarp prst="textNoShape">
              <a:avLst/>
            </a:prstTxWarp>
            <a:noAutofit/>
          </a:bodyPr>
          <a:lstStyle/>
          <a:p>
            <a:pPr algn="ctr"/>
            <a:endParaRPr lang="ko-KR" altLang="en-US" sz="2335" b="1" dirty="0">
              <a:solidFill>
                <a:schemeClr val="bg1"/>
              </a:solidFill>
              <a:latin typeface="+mn-ea"/>
            </a:endParaRPr>
          </a:p>
        </p:txBody>
      </p:sp>
      <p:sp>
        <p:nvSpPr>
          <p:cNvPr id="83" name="TextBox 82"/>
          <p:cNvSpPr txBox="1"/>
          <p:nvPr/>
        </p:nvSpPr>
        <p:spPr>
          <a:xfrm>
            <a:off x="811017" y="3908355"/>
            <a:ext cx="21422094" cy="1713354"/>
          </a:xfrm>
          <a:prstGeom prst="rect">
            <a:avLst/>
          </a:prstGeom>
          <a:noFill/>
        </p:spPr>
        <p:txBody>
          <a:bodyPr wrap="square" rtlCol="0">
            <a:spAutoFit/>
          </a:bodyPr>
          <a:lstStyle/>
          <a:p>
            <a:pPr algn="ctr" defTabSz="3601582" latinLnBrk="1">
              <a:lnSpc>
                <a:spcPct val="110000"/>
              </a:lnSpc>
              <a:defRPr/>
            </a:pPr>
            <a:r>
              <a:rPr lang="en-US" altLang="ko-KR" sz="5000" b="1" dirty="0" err="1">
                <a:solidFill>
                  <a:schemeClr val="bg1"/>
                </a:solidFill>
                <a:latin typeface="+mj-ea"/>
                <a:ea typeface="+mj-ea"/>
              </a:rPr>
              <a:t>Minje</a:t>
            </a:r>
            <a:r>
              <a:rPr lang="en-US" altLang="ko-KR" sz="5000" b="1" dirty="0">
                <a:solidFill>
                  <a:schemeClr val="bg1"/>
                </a:solidFill>
                <a:latin typeface="+mj-ea"/>
                <a:ea typeface="+mj-ea"/>
              </a:rPr>
              <a:t> </a:t>
            </a:r>
            <a:r>
              <a:rPr lang="en-US" altLang="ko-KR" sz="5000" b="1" dirty="0" err="1">
                <a:solidFill>
                  <a:schemeClr val="bg1"/>
                </a:solidFill>
                <a:latin typeface="+mj-ea"/>
                <a:ea typeface="+mj-ea"/>
              </a:rPr>
              <a:t>Youn</a:t>
            </a:r>
            <a:r>
              <a:rPr lang="en-US" altLang="ko-KR" sz="5000" b="1" dirty="0">
                <a:solidFill>
                  <a:schemeClr val="bg1"/>
                </a:solidFill>
                <a:latin typeface="+mj-ea"/>
                <a:ea typeface="+mj-ea"/>
              </a:rPr>
              <a:t>, </a:t>
            </a:r>
            <a:r>
              <a:rPr lang="en-US" altLang="ko-KR" sz="5000" b="1" dirty="0" err="1">
                <a:solidFill>
                  <a:schemeClr val="bg1"/>
                </a:solidFill>
                <a:latin typeface="+mj-ea"/>
                <a:ea typeface="+mj-ea"/>
              </a:rPr>
              <a:t>Chaeeun</a:t>
            </a:r>
            <a:r>
              <a:rPr lang="en-US" altLang="ko-KR" sz="5000" b="1" dirty="0">
                <a:solidFill>
                  <a:schemeClr val="bg1"/>
                </a:solidFill>
                <a:latin typeface="+mj-ea"/>
                <a:ea typeface="+mj-ea"/>
              </a:rPr>
              <a:t> Kim, Yebin Choi, Hoon Kim</a:t>
            </a:r>
          </a:p>
          <a:p>
            <a:pPr algn="ctr" defTabSz="3601582" latinLnBrk="1">
              <a:lnSpc>
                <a:spcPct val="110000"/>
              </a:lnSpc>
              <a:defRPr/>
            </a:pPr>
            <a:r>
              <a:rPr lang="en-US" altLang="ko-KR" sz="5000" b="1" dirty="0">
                <a:solidFill>
                  <a:schemeClr val="bg1"/>
                </a:solidFill>
                <a:latin typeface="+mj-ea"/>
                <a:ea typeface="+mj-ea"/>
              </a:rPr>
              <a:t>Department</a:t>
            </a:r>
            <a:r>
              <a:rPr lang="ko-KR" altLang="en-US" sz="5000" b="1" dirty="0">
                <a:solidFill>
                  <a:schemeClr val="bg1"/>
                </a:solidFill>
                <a:latin typeface="+mj-ea"/>
                <a:ea typeface="+mj-ea"/>
              </a:rPr>
              <a:t> </a:t>
            </a:r>
            <a:r>
              <a:rPr lang="en-US" altLang="ko-KR" sz="5000" b="1" dirty="0">
                <a:solidFill>
                  <a:schemeClr val="bg1"/>
                </a:solidFill>
                <a:latin typeface="+mj-ea"/>
                <a:ea typeface="+mj-ea"/>
              </a:rPr>
              <a:t>of</a:t>
            </a:r>
            <a:r>
              <a:rPr lang="ko-KR" altLang="en-US" sz="5000" b="1" dirty="0">
                <a:solidFill>
                  <a:schemeClr val="bg1"/>
                </a:solidFill>
                <a:latin typeface="+mj-ea"/>
                <a:ea typeface="+mj-ea"/>
              </a:rPr>
              <a:t> </a:t>
            </a:r>
            <a:r>
              <a:rPr lang="en-US" altLang="ko-KR" sz="5000" b="1" dirty="0">
                <a:solidFill>
                  <a:schemeClr val="bg1"/>
                </a:solidFill>
                <a:latin typeface="+mj-ea"/>
                <a:ea typeface="+mj-ea"/>
              </a:rPr>
              <a:t>Electronics</a:t>
            </a:r>
            <a:r>
              <a:rPr lang="ko-KR" altLang="en-US" sz="5000" b="1" dirty="0">
                <a:solidFill>
                  <a:schemeClr val="bg1"/>
                </a:solidFill>
                <a:latin typeface="+mj-ea"/>
                <a:ea typeface="+mj-ea"/>
              </a:rPr>
              <a:t> </a:t>
            </a:r>
            <a:r>
              <a:rPr lang="en-US" altLang="ko-KR" sz="5000" b="1" dirty="0">
                <a:solidFill>
                  <a:schemeClr val="bg1"/>
                </a:solidFill>
                <a:latin typeface="+mj-ea"/>
                <a:ea typeface="+mj-ea"/>
              </a:rPr>
              <a:t>Engineering, Incheon National University</a:t>
            </a:r>
            <a:endParaRPr lang="en-US" altLang="ko-KR" sz="5000" dirty="0">
              <a:solidFill>
                <a:schemeClr val="bg1"/>
              </a:solidFill>
              <a:latin typeface="+mj-ea"/>
              <a:ea typeface="+mj-ea"/>
            </a:endParaRPr>
          </a:p>
        </p:txBody>
      </p:sp>
      <p:sp>
        <p:nvSpPr>
          <p:cNvPr id="127" name="Rectangle 1"/>
          <p:cNvSpPr>
            <a:spLocks noChangeArrowheads="1"/>
          </p:cNvSpPr>
          <p:nvPr/>
        </p:nvSpPr>
        <p:spPr bwMode="auto">
          <a:xfrm>
            <a:off x="811017" y="1018014"/>
            <a:ext cx="21422094" cy="2645757"/>
          </a:xfrm>
          <a:prstGeom prst="rect">
            <a:avLst/>
          </a:prstGeom>
          <a:noFill/>
          <a:ln w="9525">
            <a:noFill/>
            <a:miter lim="800000"/>
            <a:headEnd/>
            <a:tailEnd/>
          </a:ln>
          <a:effectLst/>
        </p:spPr>
        <p:txBody>
          <a:bodyPr anchor="ctr">
            <a:normAutofit/>
          </a:bodyPr>
          <a:lstStyle/>
          <a:p>
            <a:pPr algn="ctr" defTabSz="762239" latinLnBrk="1">
              <a:lnSpc>
                <a:spcPct val="110000"/>
              </a:lnSpc>
              <a:defRPr/>
            </a:pPr>
            <a:r>
              <a:rPr lang="ko-KR" altLang="en-US" sz="6100" b="1" kern="0" spc="-100" dirty="0" err="1">
                <a:solidFill>
                  <a:schemeClr val="bg1"/>
                </a:solidFill>
                <a:effectLst/>
                <a:latin typeface="+mj-ea"/>
                <a:ea typeface="+mj-ea"/>
              </a:rPr>
              <a:t>드론</a:t>
            </a:r>
            <a:r>
              <a:rPr lang="ko-KR" altLang="en-US" sz="6100" b="1" kern="0" spc="-100" dirty="0">
                <a:solidFill>
                  <a:schemeClr val="bg1"/>
                </a:solidFill>
                <a:effectLst/>
                <a:latin typeface="+mj-ea"/>
                <a:ea typeface="+mj-ea"/>
              </a:rPr>
              <a:t> 운항 안전성 제고를 위한 데이터 구축 및 품질 개선 이슈</a:t>
            </a:r>
            <a:endParaRPr kumimoji="1" lang="en-US" altLang="ko-KR" sz="5800" b="1" dirty="0">
              <a:solidFill>
                <a:schemeClr val="bg1"/>
              </a:solidFill>
              <a:latin typeface="+mj-ea"/>
              <a:ea typeface="+mj-ea"/>
              <a:cs typeface="굴림" pitchFamily="50" charset="-127"/>
            </a:endParaRPr>
          </a:p>
          <a:p>
            <a:pPr algn="ctr" defTabSz="762239" latinLnBrk="1">
              <a:lnSpc>
                <a:spcPct val="110000"/>
              </a:lnSpc>
              <a:defRPr/>
            </a:pPr>
            <a:r>
              <a:rPr kumimoji="1" lang="en-US" altLang="ko-KR" sz="3500" b="1" dirty="0">
                <a:solidFill>
                  <a:schemeClr val="bg1"/>
                </a:solidFill>
                <a:latin typeface="+mj-ea"/>
                <a:ea typeface="+mj-ea"/>
                <a:cs typeface="굴림" pitchFamily="50" charset="-127"/>
              </a:rPr>
              <a:t>Research Trends on Data Construction and Quality Improvement for Enhancing Drone Flight Safety</a:t>
            </a:r>
          </a:p>
        </p:txBody>
      </p:sp>
      <p:sp>
        <p:nvSpPr>
          <p:cNvPr id="18" name="TextBox 17"/>
          <p:cNvSpPr txBox="1"/>
          <p:nvPr/>
        </p:nvSpPr>
        <p:spPr>
          <a:xfrm>
            <a:off x="1202681" y="26103548"/>
            <a:ext cx="153904" cy="335126"/>
          </a:xfrm>
          <a:prstGeom prst="rect">
            <a:avLst/>
          </a:prstGeom>
          <a:noFill/>
        </p:spPr>
        <p:txBody>
          <a:bodyPr wrap="none" lIns="76176" tIns="38085" rIns="76176" bIns="38085" rtlCol="0">
            <a:spAutoFit/>
          </a:bodyPr>
          <a:lstStyle/>
          <a:p>
            <a:endParaRPr lang="ko-KR" altLang="en-US" sz="1678" dirty="0">
              <a:latin typeface="+mn-ea"/>
            </a:endParaRPr>
          </a:p>
        </p:txBody>
      </p:sp>
      <p:sp>
        <p:nvSpPr>
          <p:cNvPr id="19" name="양쪽 모서리가 둥근 사각형 18"/>
          <p:cNvSpPr/>
          <p:nvPr/>
        </p:nvSpPr>
        <p:spPr>
          <a:xfrm>
            <a:off x="10332144" y="35160997"/>
            <a:ext cx="15848553" cy="1145719"/>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3600" b="1" dirty="0">
                <a:solidFill>
                  <a:schemeClr val="bg1"/>
                </a:solidFill>
                <a:latin typeface="+mn-ea"/>
              </a:rPr>
              <a:t>결  론</a:t>
            </a:r>
          </a:p>
        </p:txBody>
      </p:sp>
      <p:sp>
        <p:nvSpPr>
          <p:cNvPr id="20" name="양쪽 모서리가 둥근 사각형 19"/>
          <p:cNvSpPr/>
          <p:nvPr/>
        </p:nvSpPr>
        <p:spPr>
          <a:xfrm>
            <a:off x="753553" y="7798253"/>
            <a:ext cx="9261213" cy="1209292"/>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00" b="1" dirty="0">
                <a:solidFill>
                  <a:schemeClr val="bg1"/>
                </a:solidFill>
                <a:latin typeface="+mn-ea"/>
              </a:rPr>
              <a:t>Abstract</a:t>
            </a:r>
            <a:endParaRPr lang="ko-KR" altLang="en-US" sz="3600" b="1" dirty="0">
              <a:solidFill>
                <a:schemeClr val="bg1"/>
              </a:solidFill>
              <a:latin typeface="+mn-ea"/>
            </a:endParaRPr>
          </a:p>
        </p:txBody>
      </p:sp>
      <p:sp>
        <p:nvSpPr>
          <p:cNvPr id="21" name="양쪽 모서리가 둥근 사각형 20"/>
          <p:cNvSpPr/>
          <p:nvPr/>
        </p:nvSpPr>
        <p:spPr>
          <a:xfrm>
            <a:off x="10405844" y="22060604"/>
            <a:ext cx="16018286" cy="1145719"/>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3600" b="1" kern="0" dirty="0" err="1">
                <a:solidFill>
                  <a:schemeClr val="bg1"/>
                </a:solidFill>
                <a:latin typeface="+mj-ea"/>
                <a:ea typeface="+mj-ea"/>
              </a:rPr>
              <a:t>드론</a:t>
            </a:r>
            <a:r>
              <a:rPr lang="ko-KR" altLang="en-US" sz="3600" b="1" kern="0" dirty="0">
                <a:solidFill>
                  <a:schemeClr val="bg1"/>
                </a:solidFill>
                <a:latin typeface="+mj-ea"/>
                <a:ea typeface="+mj-ea"/>
              </a:rPr>
              <a:t> 경로 안전 관련 데이터 신뢰성 이슈</a:t>
            </a:r>
            <a:endParaRPr lang="ko-KR" altLang="en-US" sz="3600" b="1" dirty="0">
              <a:solidFill>
                <a:schemeClr val="bg1"/>
              </a:solidFill>
              <a:latin typeface="+mn-ea"/>
            </a:endParaRPr>
          </a:p>
        </p:txBody>
      </p:sp>
      <p:sp>
        <p:nvSpPr>
          <p:cNvPr id="22" name="양쪽 모서리가 둥근 사각형 21"/>
          <p:cNvSpPr/>
          <p:nvPr/>
        </p:nvSpPr>
        <p:spPr>
          <a:xfrm>
            <a:off x="761840" y="15493271"/>
            <a:ext cx="9261213" cy="1113788"/>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00" b="1" dirty="0">
                <a:solidFill>
                  <a:schemeClr val="bg1"/>
                </a:solidFill>
                <a:latin typeface="+mn-ea"/>
              </a:rPr>
              <a:t>Introduction</a:t>
            </a:r>
            <a:endParaRPr lang="ko-KR" altLang="en-US" sz="3600" b="1" dirty="0">
              <a:solidFill>
                <a:schemeClr val="bg1"/>
              </a:solidFill>
              <a:latin typeface="+mn-ea"/>
            </a:endParaRPr>
          </a:p>
        </p:txBody>
      </p:sp>
      <p:sp>
        <p:nvSpPr>
          <p:cNvPr id="23" name="TextBox 22"/>
          <p:cNvSpPr txBox="1"/>
          <p:nvPr/>
        </p:nvSpPr>
        <p:spPr>
          <a:xfrm>
            <a:off x="1038857" y="25978415"/>
            <a:ext cx="153904" cy="335126"/>
          </a:xfrm>
          <a:prstGeom prst="rect">
            <a:avLst/>
          </a:prstGeom>
          <a:noFill/>
        </p:spPr>
        <p:txBody>
          <a:bodyPr wrap="none" lIns="76176" tIns="38085" rIns="76176" bIns="38085" rtlCol="0">
            <a:spAutoFit/>
          </a:bodyPr>
          <a:lstStyle/>
          <a:p>
            <a:endParaRPr lang="ko-KR" altLang="en-US" sz="1678" dirty="0">
              <a:latin typeface="+mn-ea"/>
            </a:endParaRPr>
          </a:p>
        </p:txBody>
      </p:sp>
      <p:sp>
        <p:nvSpPr>
          <p:cNvPr id="24" name="순서도: 처리 23"/>
          <p:cNvSpPr/>
          <p:nvPr/>
        </p:nvSpPr>
        <p:spPr>
          <a:xfrm>
            <a:off x="745268" y="9423219"/>
            <a:ext cx="9261213" cy="4259562"/>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fontAlgn="base" latinLnBrk="1">
              <a:lnSpc>
                <a:spcPct val="160000"/>
              </a:lnSpc>
              <a:tabLst>
                <a:tab pos="401066" algn="l"/>
                <a:tab pos="802132" algn="l"/>
                <a:tab pos="895380" algn="l"/>
                <a:tab pos="1203198" algn="l"/>
                <a:tab pos="1604264" algn="l"/>
                <a:tab pos="2005330" algn="l"/>
                <a:tab pos="2406396" algn="l"/>
                <a:tab pos="2807462" algn="l"/>
                <a:tab pos="3208528" algn="l"/>
                <a:tab pos="3609594" algn="l"/>
                <a:tab pos="4010660" algn="l"/>
                <a:tab pos="4411726" algn="l"/>
                <a:tab pos="4812792" algn="l"/>
                <a:tab pos="5213858" algn="l"/>
                <a:tab pos="5614924" algn="l"/>
                <a:tab pos="6015990" algn="l"/>
                <a:tab pos="6417056" algn="l"/>
                <a:tab pos="6818122" algn="l"/>
                <a:tab pos="7219188" algn="l"/>
                <a:tab pos="7620254" algn="l"/>
                <a:tab pos="8021320" algn="l"/>
                <a:tab pos="8422386" algn="l"/>
                <a:tab pos="8823452" algn="l"/>
                <a:tab pos="9224518" algn="l"/>
                <a:tab pos="9625584" algn="l"/>
                <a:tab pos="10026650" algn="l"/>
                <a:tab pos="10427716" algn="l"/>
                <a:tab pos="10828782" algn="l"/>
                <a:tab pos="11229848" algn="l"/>
                <a:tab pos="11630914" algn="l"/>
                <a:tab pos="12031980" algn="l"/>
                <a:tab pos="12433046" algn="l"/>
              </a:tabLst>
            </a:pPr>
            <a:r>
              <a:rPr lang="en-US" altLang="ko-KR" sz="2000" kern="0" dirty="0">
                <a:solidFill>
                  <a:srgbClr val="000000"/>
                </a:solidFill>
                <a:latin typeface="+mj-ea"/>
                <a:ea typeface="+mj-ea"/>
              </a:rPr>
              <a:t>Drones are being applied in various industries such as agriculture and logistics, and their range of applications is expected to expand. One of the crucial aspects of drone operation is the safe and efficient route planning, which has been the subject of ongoing research. This research involves data-driven analysis and route planning to improve safety and efficiency, with various data being examined to enhance safety. In this study, we review case studies of data collection on drone accidents related to improving drone safety and identify issues related to setting safe drone routes.</a:t>
            </a:r>
          </a:p>
        </p:txBody>
      </p:sp>
      <p:sp>
        <p:nvSpPr>
          <p:cNvPr id="25" name="순서도: 처리 24"/>
          <p:cNvSpPr/>
          <p:nvPr/>
        </p:nvSpPr>
        <p:spPr>
          <a:xfrm>
            <a:off x="10356691" y="36618322"/>
            <a:ext cx="15833552" cy="1982478"/>
          </a:xfrm>
          <a:prstGeom prst="flowChartProcess">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fontAlgn="base" latinLnBrk="1">
              <a:lnSpc>
                <a:spcPct val="160000"/>
              </a:lnSpc>
            </a:pPr>
            <a:r>
              <a:rPr lang="ko-KR" altLang="en-US" sz="2000" kern="0" dirty="0">
                <a:solidFill>
                  <a:srgbClr val="000000"/>
                </a:solidFill>
                <a:latin typeface="+mj-ea"/>
                <a:ea typeface="+mj-ea"/>
              </a:rPr>
              <a:t>이상의 내용을 통해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설정 문제에서의 안전성 제약 조건이 포함되고 이에 대한 데이터로 위험</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장애지역</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사고 등과 관련된 정보가 포함됨을 봄</a:t>
            </a:r>
            <a:r>
              <a:rPr lang="en-US" altLang="ko-KR" sz="2000" kern="0" dirty="0">
                <a:solidFill>
                  <a:srgbClr val="000000"/>
                </a:solidFill>
                <a:latin typeface="+mj-ea"/>
                <a:ea typeface="+mj-ea"/>
              </a:rPr>
              <a:t>.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운항과 안전 관련 법령과 데이터 구축과 활용시에 윤리적 이슈에 효과적으로 대응하여 경제성</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효율성 등을 개선하는 연구와 기술이 요구되며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이러한 관점에서의 이슈를 도출함</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향후 제도 마련과 연구에서 이러한 부분들에 대한 연구와 개발이 더욱 기대됨</a:t>
            </a:r>
            <a:r>
              <a:rPr lang="en-US" altLang="ko-KR" sz="2000" kern="0" dirty="0">
                <a:solidFill>
                  <a:srgbClr val="000000"/>
                </a:solidFill>
                <a:latin typeface="+mj-ea"/>
                <a:ea typeface="+mj-ea"/>
              </a:rPr>
              <a:t>. </a:t>
            </a:r>
            <a:endParaRPr lang="ko-KR" altLang="en-US" sz="2000" kern="0" dirty="0">
              <a:solidFill>
                <a:srgbClr val="000000"/>
              </a:solidFill>
              <a:latin typeface="+mj-ea"/>
              <a:ea typeface="+mj-ea"/>
            </a:endParaRPr>
          </a:p>
        </p:txBody>
      </p:sp>
      <p:sp>
        <p:nvSpPr>
          <p:cNvPr id="27" name="타원 26">
            <a:extLst>
              <a:ext uri="{FF2B5EF4-FFF2-40B4-BE49-F238E27FC236}">
                <a16:creationId xmlns:a16="http://schemas.microsoft.com/office/drawing/2014/main" id="{594DB4FC-C7DA-4495-8151-FEE2282E5C31}"/>
              </a:ext>
            </a:extLst>
          </p:cNvPr>
          <p:cNvSpPr/>
          <p:nvPr/>
        </p:nvSpPr>
        <p:spPr>
          <a:xfrm>
            <a:off x="11317482" y="21949514"/>
            <a:ext cx="180008" cy="180008"/>
          </a:xfrm>
          <a:prstGeom prst="ellipse">
            <a:avLst/>
          </a:prstGeom>
          <a:solidFill>
            <a:srgbClr val="DBE5E5"/>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76200" tIns="38102" rIns="76200" bIns="38102" numCol="1" spcCol="0" rtlCol="0" fromWordArt="0" anchor="ctr" anchorCtr="0" forceAA="0" compatLnSpc="1">
            <a:prstTxWarp prst="textNoShape">
              <a:avLst/>
            </a:prstTxWarp>
            <a:noAutofit/>
          </a:bodyPr>
          <a:lstStyle/>
          <a:p>
            <a:pPr algn="ctr"/>
            <a:endParaRPr lang="ko-KR" altLang="en-US" sz="2335" dirty="0">
              <a:latin typeface="+mn-ea"/>
            </a:endParaRPr>
          </a:p>
        </p:txBody>
      </p:sp>
      <p:sp>
        <p:nvSpPr>
          <p:cNvPr id="28" name="타원 27">
            <a:extLst>
              <a:ext uri="{FF2B5EF4-FFF2-40B4-BE49-F238E27FC236}">
                <a16:creationId xmlns:a16="http://schemas.microsoft.com/office/drawing/2014/main" id="{3D75F29A-1B4E-42D6-9CBC-05CAEE6D819C}"/>
              </a:ext>
            </a:extLst>
          </p:cNvPr>
          <p:cNvSpPr/>
          <p:nvPr/>
        </p:nvSpPr>
        <p:spPr>
          <a:xfrm>
            <a:off x="23393068" y="22060604"/>
            <a:ext cx="180008" cy="180008"/>
          </a:xfrm>
          <a:prstGeom prst="ellipse">
            <a:avLst/>
          </a:prstGeom>
          <a:solidFill>
            <a:srgbClr val="DBE5E5"/>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76200" tIns="38102" rIns="76200" bIns="38102" numCol="1" spcCol="0" rtlCol="0" fromWordArt="0" anchor="ctr" anchorCtr="0" forceAA="0" compatLnSpc="1">
            <a:prstTxWarp prst="textNoShape">
              <a:avLst/>
            </a:prstTxWarp>
            <a:noAutofit/>
          </a:bodyPr>
          <a:lstStyle/>
          <a:p>
            <a:pPr algn="ctr"/>
            <a:endParaRPr lang="ko-KR" altLang="en-US" sz="2335" dirty="0">
              <a:latin typeface="+mn-ea"/>
            </a:endParaRPr>
          </a:p>
        </p:txBody>
      </p:sp>
      <p:sp>
        <p:nvSpPr>
          <p:cNvPr id="29" name="순서도: 처리 28"/>
          <p:cNvSpPr/>
          <p:nvPr/>
        </p:nvSpPr>
        <p:spPr>
          <a:xfrm>
            <a:off x="10505097" y="23353539"/>
            <a:ext cx="15988284" cy="11046198"/>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fontAlgn="base" latinLnBrk="1">
              <a:lnSpc>
                <a:spcPct val="160000"/>
              </a:lnSpc>
            </a:pPr>
            <a:r>
              <a:rPr lang="en-US" altLang="ko-KR" sz="2000" dirty="0">
                <a:solidFill>
                  <a:srgbClr val="000000"/>
                </a:solidFill>
                <a:highlight>
                  <a:srgbClr val="FDFDFD"/>
                </a:highlight>
                <a:latin typeface="+mj-ea"/>
                <a:ea typeface="+mj-ea"/>
              </a:rPr>
              <a:t>2. </a:t>
            </a:r>
            <a:r>
              <a:rPr lang="ko-KR" altLang="en-US" sz="2000" dirty="0" err="1">
                <a:solidFill>
                  <a:srgbClr val="000000"/>
                </a:solidFill>
                <a:highlight>
                  <a:srgbClr val="FDFDFD"/>
                </a:highlight>
                <a:latin typeface="+mj-ea"/>
                <a:ea typeface="+mj-ea"/>
              </a:rPr>
              <a:t>드론</a:t>
            </a:r>
            <a:r>
              <a:rPr lang="ko-KR" altLang="en-US" sz="2000" dirty="0">
                <a:solidFill>
                  <a:srgbClr val="000000"/>
                </a:solidFill>
                <a:highlight>
                  <a:srgbClr val="FDFDFD"/>
                </a:highlight>
                <a:latin typeface="+mj-ea"/>
                <a:ea typeface="+mj-ea"/>
              </a:rPr>
              <a:t> 경로 안전 관련 데이터 신뢰성 이슈</a:t>
            </a:r>
            <a:br>
              <a:rPr lang="ko-KR" altLang="en-US" sz="2000" dirty="0">
                <a:latin typeface="+mj-ea"/>
                <a:ea typeface="+mj-ea"/>
              </a:rPr>
            </a:br>
            <a:r>
              <a:rPr lang="ko-KR" altLang="en-US" sz="2000" kern="0" dirty="0">
                <a:solidFill>
                  <a:srgbClr val="000000"/>
                </a:solidFill>
                <a:latin typeface="+mj-ea"/>
                <a:ea typeface="+mj-ea"/>
              </a:rPr>
              <a:t>이처럼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비행에 대한 데이터 관점에서 관리와 사고 기록 등 관련 정보를 통해 안전한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운항을 위한 분석이 가능하며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보다 세밀하고 신뢰 가능한 데이터 구축과 이의 적극적인 활용을 위해 표준화 작업과 데이터 구축에의 반영 등의 노력이 요구됨</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아래 표의 내용은 </a:t>
            </a:r>
            <a:r>
              <a:rPr lang="en-US" altLang="ko-KR" sz="2000" kern="0" dirty="0">
                <a:solidFill>
                  <a:srgbClr val="000000"/>
                </a:solidFill>
                <a:latin typeface="+mj-ea"/>
                <a:ea typeface="+mj-ea"/>
              </a:rPr>
              <a:t>FAA UAS </a:t>
            </a:r>
            <a:r>
              <a:rPr lang="ko-KR" altLang="en-US" sz="2000" kern="0" dirty="0">
                <a:solidFill>
                  <a:srgbClr val="000000"/>
                </a:solidFill>
                <a:latin typeface="+mj-ea"/>
                <a:ea typeface="+mj-ea"/>
              </a:rPr>
              <a:t>사고 및 </a:t>
            </a:r>
            <a:r>
              <a:rPr lang="ko-KR" altLang="en-US" sz="2000" kern="0" dirty="0" err="1">
                <a:solidFill>
                  <a:srgbClr val="000000"/>
                </a:solidFill>
                <a:latin typeface="+mj-ea"/>
                <a:ea typeface="+mj-ea"/>
              </a:rPr>
              <a:t>준사고</a:t>
            </a:r>
            <a:r>
              <a:rPr lang="ko-KR" altLang="en-US" sz="2000" kern="0" dirty="0">
                <a:solidFill>
                  <a:srgbClr val="000000"/>
                </a:solidFill>
                <a:latin typeface="+mj-ea"/>
                <a:ea typeface="+mj-ea"/>
              </a:rPr>
              <a:t> 보고 내용의 예시</a:t>
            </a:r>
            <a:r>
              <a:rPr lang="en-US" altLang="ko-KR" sz="2000" kern="0" dirty="0">
                <a:solidFill>
                  <a:srgbClr val="000000"/>
                </a:solidFill>
                <a:latin typeface="+mj-ea"/>
                <a:ea typeface="+mj-ea"/>
              </a:rPr>
              <a:t>.</a:t>
            </a:r>
            <a:endParaRPr lang="ko-KR" altLang="en-US" sz="2000" kern="0" dirty="0">
              <a:solidFill>
                <a:srgbClr val="000000"/>
              </a:solidFill>
              <a:latin typeface="+mj-ea"/>
              <a:ea typeface="+mj-ea"/>
            </a:endParaRPr>
          </a:p>
          <a:p>
            <a:pPr fontAlgn="base" latinLnBrk="1">
              <a:lnSpc>
                <a:spcPct val="160000"/>
              </a:lnSpc>
            </a:pPr>
            <a:endParaRPr lang="en-US" altLang="ko-KR" sz="2000" kern="0" dirty="0">
              <a:solidFill>
                <a:srgbClr val="000000"/>
              </a:solidFill>
              <a:latin typeface="+mj-ea"/>
              <a:ea typeface="+mj-ea"/>
            </a:endParaRPr>
          </a:p>
          <a:p>
            <a:pPr fontAlgn="base" latinLnBrk="1">
              <a:lnSpc>
                <a:spcPct val="160000"/>
              </a:lnSpc>
            </a:pPr>
            <a:endParaRPr lang="en-US" altLang="ko-KR" sz="2000" kern="0" dirty="0">
              <a:solidFill>
                <a:srgbClr val="000000"/>
              </a:solidFill>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endParaRPr lang="en-US" altLang="ko-KR" sz="2000" dirty="0">
              <a:latin typeface="+mj-ea"/>
              <a:ea typeface="+mj-ea"/>
            </a:endParaRPr>
          </a:p>
          <a:p>
            <a:pPr>
              <a:lnSpc>
                <a:spcPct val="150000"/>
              </a:lnSpc>
            </a:pPr>
            <a:r>
              <a:rPr lang="en-US" altLang="ko-KR" sz="2000" dirty="0">
                <a:solidFill>
                  <a:srgbClr val="000000"/>
                </a:solidFill>
                <a:highlight>
                  <a:srgbClr val="FDFDFD"/>
                </a:highlight>
                <a:latin typeface="+mj-ea"/>
                <a:ea typeface="+mj-ea"/>
              </a:rPr>
              <a:t>3. </a:t>
            </a:r>
            <a:r>
              <a:rPr lang="ko-KR" altLang="en-US" sz="2000" dirty="0" err="1">
                <a:solidFill>
                  <a:srgbClr val="000000"/>
                </a:solidFill>
                <a:highlight>
                  <a:srgbClr val="FDFDFD"/>
                </a:highlight>
                <a:latin typeface="+mj-ea"/>
                <a:ea typeface="+mj-ea"/>
              </a:rPr>
              <a:t>드론</a:t>
            </a:r>
            <a:r>
              <a:rPr lang="ko-KR" altLang="en-US" sz="2000" dirty="0">
                <a:solidFill>
                  <a:srgbClr val="000000"/>
                </a:solidFill>
                <a:highlight>
                  <a:srgbClr val="FDFDFD"/>
                </a:highlight>
                <a:latin typeface="+mj-ea"/>
                <a:ea typeface="+mj-ea"/>
              </a:rPr>
              <a:t> 경로 안전 관련 데이터 품질 개선 이슈</a:t>
            </a:r>
            <a:br>
              <a:rPr lang="ko-KR" altLang="en-US" sz="2000" dirty="0">
                <a:latin typeface="+mj-ea"/>
                <a:ea typeface="+mj-ea"/>
              </a:rPr>
            </a:br>
            <a:r>
              <a:rPr lang="ko-KR" altLang="en-US" sz="2000" kern="0" dirty="0">
                <a:solidFill>
                  <a:srgbClr val="000000"/>
                </a:solidFill>
                <a:latin typeface="+mj-ea"/>
                <a:ea typeface="+mj-ea"/>
              </a:rPr>
              <a:t>이처럼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사과와 위험에 관한 정보의 수집과 데이터 구축을 위한 노력이 진행되고 있으며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이를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설정에 적극 활용함으로써 위험 예측 분석과 운행의 효율성이 향상될 수 있음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무엇보다 다음의 관점에서 데이터 품질 개선과 관리를 통해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및 안전성 개선을 위한 데이터 분석과 관련 연구의 활성화를 기대할 수 있음</a:t>
            </a:r>
            <a:r>
              <a:rPr lang="en-US" altLang="ko-KR" sz="2000" kern="0" dirty="0">
                <a:solidFill>
                  <a:srgbClr val="000000"/>
                </a:solidFill>
                <a:latin typeface="+mj-ea"/>
                <a:ea typeface="+mj-ea"/>
              </a:rPr>
              <a:t>.</a:t>
            </a:r>
            <a:endParaRPr lang="ko-KR" altLang="en-US" sz="2000" kern="0" dirty="0">
              <a:solidFill>
                <a:srgbClr val="000000"/>
              </a:solidFill>
              <a:latin typeface="+mj-ea"/>
              <a:ea typeface="+mj-ea"/>
            </a:endParaRPr>
          </a:p>
          <a:p>
            <a:pPr fontAlgn="base" latinLnBrk="1">
              <a:lnSpc>
                <a:spcPct val="160000"/>
              </a:lnSpc>
            </a:pPr>
            <a:br>
              <a:rPr lang="ko-KR" altLang="en-US" sz="2000" dirty="0">
                <a:latin typeface="+mj-ea"/>
                <a:ea typeface="+mj-ea"/>
              </a:rPr>
            </a:br>
            <a:r>
              <a:rPr lang="ko-KR" altLang="en-US" sz="2000" kern="0" dirty="0">
                <a:solidFill>
                  <a:srgbClr val="000000"/>
                </a:solidFill>
                <a:latin typeface="+mj-ea"/>
                <a:ea typeface="+mj-ea"/>
              </a:rPr>
              <a:t>가</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지리정보 연계</a:t>
            </a:r>
            <a:endParaRPr lang="en-US" altLang="ko-KR" sz="2000" kern="0" dirty="0">
              <a:solidFill>
                <a:srgbClr val="000000"/>
              </a:solidFill>
              <a:latin typeface="+mj-ea"/>
              <a:ea typeface="+mj-ea"/>
            </a:endParaRPr>
          </a:p>
          <a:p>
            <a:pPr fontAlgn="base" latinLnBrk="1">
              <a:lnSpc>
                <a:spcPct val="160000"/>
              </a:lnSpc>
            </a:pPr>
            <a:r>
              <a:rPr lang="ko-KR" altLang="en-US" sz="2000" kern="0" dirty="0">
                <a:solidFill>
                  <a:srgbClr val="000000"/>
                </a:solidFill>
                <a:latin typeface="+mj-ea"/>
                <a:ea typeface="+mj-ea"/>
              </a:rPr>
              <a:t>나</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데이터 </a:t>
            </a:r>
            <a:r>
              <a:rPr lang="ko-KR" altLang="en-US" sz="2000" kern="0" dirty="0" err="1">
                <a:solidFill>
                  <a:srgbClr val="000000"/>
                </a:solidFill>
                <a:latin typeface="+mj-ea"/>
                <a:ea typeface="+mj-ea"/>
              </a:rPr>
              <a:t>균일성</a:t>
            </a:r>
            <a:r>
              <a:rPr lang="ko-KR" altLang="en-US" sz="2000" kern="0" dirty="0">
                <a:solidFill>
                  <a:srgbClr val="000000"/>
                </a:solidFill>
                <a:latin typeface="+mj-ea"/>
                <a:ea typeface="+mj-ea"/>
              </a:rPr>
              <a:t> 및 정밀성</a:t>
            </a:r>
            <a:endParaRPr lang="en-US" altLang="ko-KR" sz="2000" kern="0" dirty="0">
              <a:solidFill>
                <a:srgbClr val="000000"/>
              </a:solidFill>
              <a:latin typeface="+mj-ea"/>
              <a:ea typeface="+mj-ea"/>
            </a:endParaRPr>
          </a:p>
          <a:p>
            <a:pPr fontAlgn="base" latinLnBrk="1">
              <a:lnSpc>
                <a:spcPct val="160000"/>
              </a:lnSpc>
            </a:pPr>
            <a:r>
              <a:rPr lang="ko-KR" altLang="en-US" sz="2000" kern="0" dirty="0">
                <a:solidFill>
                  <a:srgbClr val="000000"/>
                </a:solidFill>
                <a:latin typeface="+mj-ea"/>
                <a:ea typeface="+mj-ea"/>
              </a:rPr>
              <a:t>다</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데이터 보정</a:t>
            </a:r>
            <a:r>
              <a:rPr lang="en-US" altLang="ko-KR" sz="2000" kern="0" dirty="0">
                <a:solidFill>
                  <a:srgbClr val="000000"/>
                </a:solidFill>
                <a:latin typeface="+mj-ea"/>
                <a:ea typeface="+mj-ea"/>
              </a:rPr>
              <a:t>/</a:t>
            </a:r>
            <a:r>
              <a:rPr lang="ko-KR" altLang="en-US" sz="2000" kern="0" dirty="0">
                <a:solidFill>
                  <a:srgbClr val="000000"/>
                </a:solidFill>
                <a:latin typeface="+mj-ea"/>
                <a:ea typeface="+mj-ea"/>
              </a:rPr>
              <a:t>증강</a:t>
            </a:r>
          </a:p>
          <a:p>
            <a:pPr fontAlgn="base" latinLnBrk="1">
              <a:lnSpc>
                <a:spcPct val="160000"/>
              </a:lnSpc>
            </a:pPr>
            <a:r>
              <a:rPr lang="ko-KR" altLang="en-US" sz="2000" kern="0" dirty="0">
                <a:solidFill>
                  <a:srgbClr val="000000"/>
                </a:solidFill>
                <a:latin typeface="+mj-ea"/>
                <a:ea typeface="+mj-ea"/>
              </a:rPr>
              <a:t>라</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윤리적 이슈 절충</a:t>
            </a:r>
          </a:p>
          <a:p>
            <a:endParaRPr lang="en-US" altLang="ko-KR" sz="2000" dirty="0">
              <a:latin typeface="+mj-ea"/>
              <a:ea typeface="+mj-ea"/>
            </a:endParaRPr>
          </a:p>
        </p:txBody>
      </p:sp>
      <p:sp>
        <p:nvSpPr>
          <p:cNvPr id="38" name="순서도: 처리 37"/>
          <p:cNvSpPr/>
          <p:nvPr/>
        </p:nvSpPr>
        <p:spPr>
          <a:xfrm>
            <a:off x="10509091" y="9543945"/>
            <a:ext cx="15988284" cy="12104527"/>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r>
              <a:rPr lang="ko-KR" altLang="en-US" sz="2000" dirty="0" err="1">
                <a:solidFill>
                  <a:srgbClr val="000000"/>
                </a:solidFill>
                <a:highlight>
                  <a:srgbClr val="FDFDFD"/>
                </a:highlight>
                <a:latin typeface="+mj-ea"/>
                <a:ea typeface="+mj-ea"/>
              </a:rPr>
              <a:t>드론</a:t>
            </a:r>
            <a:r>
              <a:rPr lang="ko-KR" altLang="en-US" sz="2000" dirty="0">
                <a:solidFill>
                  <a:srgbClr val="000000"/>
                </a:solidFill>
                <a:highlight>
                  <a:srgbClr val="FDFDFD"/>
                </a:highlight>
                <a:latin typeface="+mj-ea"/>
                <a:ea typeface="+mj-ea"/>
              </a:rPr>
              <a:t> 경로에서의 아전 관련 데이터</a:t>
            </a:r>
            <a:br>
              <a:rPr lang="ko-KR" altLang="en-US" sz="2000" dirty="0">
                <a:latin typeface="+mj-ea"/>
                <a:ea typeface="+mj-ea"/>
              </a:rPr>
            </a:br>
            <a:endParaRPr lang="en-US" altLang="ko-KR" sz="2000" dirty="0">
              <a:latin typeface="+mj-ea"/>
              <a:ea typeface="+mj-ea"/>
            </a:endParaRPr>
          </a:p>
          <a:p>
            <a:br>
              <a:rPr lang="ko-KR" altLang="en-US" sz="2000" dirty="0">
                <a:latin typeface="+mj-ea"/>
                <a:ea typeface="+mj-ea"/>
              </a:rPr>
            </a:br>
            <a:r>
              <a:rPr lang="en-US" altLang="ko-KR" sz="2000" dirty="0">
                <a:solidFill>
                  <a:srgbClr val="000000"/>
                </a:solidFill>
                <a:highlight>
                  <a:srgbClr val="FDFDFD"/>
                </a:highlight>
                <a:latin typeface="+mj-ea"/>
                <a:ea typeface="+mj-ea"/>
              </a:rPr>
              <a:t>1.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안전 관련 데이터 분석 사례</a:t>
            </a:r>
            <a:br>
              <a:rPr lang="ko-KR" altLang="en-US" sz="2000" dirty="0">
                <a:latin typeface="+mj-ea"/>
                <a:ea typeface="+mj-ea"/>
              </a:rPr>
            </a:br>
            <a:br>
              <a:rPr lang="ko-KR" altLang="en-US" sz="2000" dirty="0">
                <a:latin typeface="+mj-ea"/>
                <a:ea typeface="+mj-ea"/>
              </a:rPr>
            </a:b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최적 경로 설정 문제에서 장애지역 등 비행 위험 요소를 반영하기 위해 </a:t>
            </a:r>
            <a:r>
              <a:rPr lang="ko-KR" altLang="en-US" sz="2000" kern="0" dirty="0" err="1">
                <a:solidFill>
                  <a:srgbClr val="000000"/>
                </a:solidFill>
                <a:latin typeface="+mj-ea"/>
                <a:ea typeface="+mj-ea"/>
              </a:rPr>
              <a:t>신뢰성있는</a:t>
            </a:r>
            <a:r>
              <a:rPr lang="ko-KR" altLang="en-US" sz="2000" kern="0" dirty="0">
                <a:solidFill>
                  <a:srgbClr val="000000"/>
                </a:solidFill>
                <a:latin typeface="+mj-ea"/>
                <a:ea typeface="+mj-ea"/>
              </a:rPr>
              <a:t> 데이터의 확보와 활용이 중요하며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법적 금지구역 외에 비행 고도</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인구밀도</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건물</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기상 정보 등이 고려됨</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또한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사고 발생에 대한 데이터를 통해 위험 및 사고 가능성에 대한 부분을 반영할 수 있음</a:t>
            </a:r>
            <a:r>
              <a:rPr lang="en-US" altLang="ko-KR" sz="2000" kern="0" dirty="0">
                <a:solidFill>
                  <a:srgbClr val="000000"/>
                </a:solidFill>
                <a:latin typeface="+mj-ea"/>
                <a:ea typeface="+mj-ea"/>
              </a:rPr>
              <a:t>.  </a:t>
            </a:r>
          </a:p>
          <a:p>
            <a:pPr>
              <a:lnSpc>
                <a:spcPct val="150000"/>
              </a:lnSpc>
            </a:pPr>
            <a:endParaRPr lang="ko-KR" altLang="en-US" sz="2000" kern="0" dirty="0">
              <a:solidFill>
                <a:srgbClr val="000000"/>
              </a:solidFill>
              <a:latin typeface="+mj-ea"/>
              <a:ea typeface="+mj-ea"/>
            </a:endParaRPr>
          </a:p>
          <a:p>
            <a:pPr algn="just" fontAlgn="base" latinLnBrk="1">
              <a:lnSpc>
                <a:spcPct val="150000"/>
              </a:lnSpc>
            </a:pPr>
            <a:r>
              <a:rPr lang="ko-KR" altLang="en-US" sz="2000" kern="0" dirty="0">
                <a:solidFill>
                  <a:srgbClr val="000000"/>
                </a:solidFill>
                <a:latin typeface="+mj-ea"/>
                <a:ea typeface="+mj-ea"/>
              </a:rPr>
              <a:t>이와 같이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운항 안전에 관한 데이터의 확보와 관리의 중요성이 대두됨</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표 </a:t>
            </a:r>
            <a:r>
              <a:rPr lang="en-US" altLang="ko-KR" sz="2000" kern="0" dirty="0">
                <a:solidFill>
                  <a:srgbClr val="000000"/>
                </a:solidFill>
                <a:latin typeface="+mj-ea"/>
                <a:ea typeface="+mj-ea"/>
              </a:rPr>
              <a:t>1 </a:t>
            </a:r>
            <a:r>
              <a:rPr lang="ko-KR" altLang="en-US" sz="2000" kern="0" dirty="0">
                <a:solidFill>
                  <a:srgbClr val="000000"/>
                </a:solidFill>
                <a:latin typeface="+mj-ea"/>
                <a:ea typeface="+mj-ea"/>
              </a:rPr>
              <a:t>은 관계기관에 의해 파악 정리된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관리와 위험에 대한 자료의 일부 내용</a:t>
            </a:r>
            <a:r>
              <a:rPr lang="en-US" altLang="ko-KR" sz="2000" kern="0" dirty="0">
                <a:solidFill>
                  <a:srgbClr val="000000"/>
                </a:solidFill>
                <a:latin typeface="+mj-ea"/>
                <a:ea typeface="+mj-ea"/>
              </a:rPr>
              <a:t>.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법령 위반에 대해서는 비행금지구역내 </a:t>
            </a:r>
            <a:r>
              <a:rPr lang="ko-KR" altLang="en-US" sz="2000" kern="0" dirty="0" err="1">
                <a:solidFill>
                  <a:srgbClr val="000000"/>
                </a:solidFill>
                <a:latin typeface="+mj-ea"/>
                <a:ea typeface="+mj-ea"/>
              </a:rPr>
              <a:t>미승인</a:t>
            </a:r>
            <a:r>
              <a:rPr lang="ko-KR" altLang="en-US" sz="2000" kern="0" dirty="0">
                <a:solidFill>
                  <a:srgbClr val="000000"/>
                </a:solidFill>
                <a:latin typeface="+mj-ea"/>
                <a:ea typeface="+mj-ea"/>
              </a:rPr>
              <a:t> 비행이 조사기간 동안 </a:t>
            </a:r>
            <a:r>
              <a:rPr lang="en-US" altLang="ko-KR" sz="2000" kern="0" dirty="0">
                <a:solidFill>
                  <a:srgbClr val="000000"/>
                </a:solidFill>
                <a:latin typeface="+mj-ea"/>
                <a:ea typeface="+mj-ea"/>
              </a:rPr>
              <a:t>44%</a:t>
            </a:r>
            <a:r>
              <a:rPr lang="ko-KR" altLang="en-US" sz="2000" kern="0" dirty="0">
                <a:solidFill>
                  <a:srgbClr val="000000"/>
                </a:solidFill>
                <a:latin typeface="+mj-ea"/>
                <a:ea typeface="+mj-ea"/>
              </a:rPr>
              <a:t>로 가장 많았고</a:t>
            </a:r>
            <a:r>
              <a:rPr lang="en-US" altLang="ko-KR" sz="2000" kern="0" dirty="0">
                <a:solidFill>
                  <a:srgbClr val="000000"/>
                </a:solidFill>
                <a:latin typeface="+mj-ea"/>
                <a:ea typeface="+mj-ea"/>
              </a:rPr>
              <a:t>, </a:t>
            </a:r>
            <a:r>
              <a:rPr lang="ko-KR" altLang="en-US" sz="2000" kern="0" dirty="0" err="1">
                <a:solidFill>
                  <a:srgbClr val="000000"/>
                </a:solidFill>
                <a:latin typeface="+mj-ea"/>
                <a:ea typeface="+mj-ea"/>
              </a:rPr>
              <a:t>관제권</a:t>
            </a:r>
            <a:r>
              <a:rPr lang="ko-KR" altLang="en-US" sz="2000" kern="0" dirty="0">
                <a:solidFill>
                  <a:srgbClr val="000000"/>
                </a:solidFill>
                <a:latin typeface="+mj-ea"/>
                <a:ea typeface="+mj-ea"/>
              </a:rPr>
              <a:t> </a:t>
            </a:r>
            <a:r>
              <a:rPr lang="ko-KR" altLang="en-US" sz="2000" kern="0" dirty="0" err="1">
                <a:solidFill>
                  <a:srgbClr val="000000"/>
                </a:solidFill>
                <a:latin typeface="+mj-ea"/>
                <a:ea typeface="+mj-ea"/>
              </a:rPr>
              <a:t>미승인</a:t>
            </a:r>
            <a:r>
              <a:rPr lang="ko-KR" altLang="en-US" sz="2000" kern="0" dirty="0">
                <a:solidFill>
                  <a:srgbClr val="000000"/>
                </a:solidFill>
                <a:latin typeface="+mj-ea"/>
                <a:ea typeface="+mj-ea"/>
              </a:rPr>
              <a:t> 비행이 약 </a:t>
            </a:r>
            <a:r>
              <a:rPr lang="en-US" altLang="ko-KR" sz="2000" kern="0" dirty="0">
                <a:solidFill>
                  <a:srgbClr val="000000"/>
                </a:solidFill>
                <a:latin typeface="+mj-ea"/>
                <a:ea typeface="+mj-ea"/>
              </a:rPr>
              <a:t>32%, </a:t>
            </a:r>
            <a:r>
              <a:rPr lang="ko-KR" altLang="en-US" sz="2000" kern="0" dirty="0">
                <a:solidFill>
                  <a:srgbClr val="000000"/>
                </a:solidFill>
                <a:latin typeface="+mj-ea"/>
                <a:ea typeface="+mj-ea"/>
              </a:rPr>
              <a:t>야간 비행이 약 </a:t>
            </a:r>
            <a:r>
              <a:rPr lang="en-US" altLang="ko-KR" sz="2000" kern="0" dirty="0">
                <a:solidFill>
                  <a:srgbClr val="000000"/>
                </a:solidFill>
                <a:latin typeface="+mj-ea"/>
                <a:ea typeface="+mj-ea"/>
              </a:rPr>
              <a:t>20%</a:t>
            </a:r>
            <a:r>
              <a:rPr lang="ko-KR" altLang="en-US" sz="2000" kern="0" dirty="0">
                <a:solidFill>
                  <a:srgbClr val="000000"/>
                </a:solidFill>
                <a:latin typeface="+mj-ea"/>
                <a:ea typeface="+mj-ea"/>
              </a:rPr>
              <a:t>를 차지했음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항공법령 위반 사항으로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사고 </a:t>
            </a:r>
            <a:r>
              <a:rPr lang="ko-KR" altLang="en-US" sz="2000" kern="0" dirty="0" err="1">
                <a:solidFill>
                  <a:srgbClr val="000000"/>
                </a:solidFill>
                <a:latin typeface="+mj-ea"/>
                <a:ea typeface="+mj-ea"/>
              </a:rPr>
              <a:t>미보고</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인구밀집지역 내 위험한 비행</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최저비행고도 </a:t>
            </a:r>
            <a:r>
              <a:rPr lang="ko-KR" altLang="en-US" sz="2000" kern="0" dirty="0" err="1">
                <a:solidFill>
                  <a:srgbClr val="000000"/>
                </a:solidFill>
                <a:latin typeface="+mj-ea"/>
                <a:ea typeface="+mj-ea"/>
              </a:rPr>
              <a:t>미준수</a:t>
            </a:r>
            <a:r>
              <a:rPr lang="ko-KR" altLang="en-US" sz="2000" kern="0" dirty="0">
                <a:solidFill>
                  <a:srgbClr val="000000"/>
                </a:solidFill>
                <a:latin typeface="+mj-ea"/>
                <a:ea typeface="+mj-ea"/>
              </a:rPr>
              <a:t> 등이 있음</a:t>
            </a:r>
            <a:r>
              <a:rPr lang="en-US" altLang="ko-KR" sz="2000" kern="0" dirty="0">
                <a:solidFill>
                  <a:srgbClr val="000000"/>
                </a:solidFill>
                <a:latin typeface="+mj-ea"/>
                <a:ea typeface="+mj-ea"/>
              </a:rPr>
              <a:t>.</a:t>
            </a:r>
          </a:p>
          <a:p>
            <a:pPr algn="just" fontAlgn="base" latinLnBrk="1">
              <a:lnSpc>
                <a:spcPct val="150000"/>
              </a:lnSpc>
            </a:pPr>
            <a:endParaRPr lang="en-US" altLang="ko-KR" sz="2000" kern="0" dirty="0">
              <a:solidFill>
                <a:srgbClr val="000000"/>
              </a:solidFill>
              <a:latin typeface="+mj-ea"/>
              <a:ea typeface="+mj-ea"/>
            </a:endParaRPr>
          </a:p>
          <a:p>
            <a:pPr algn="just" fontAlgn="base" latinLnBrk="1">
              <a:lnSpc>
                <a:spcPct val="150000"/>
              </a:lnSpc>
            </a:pPr>
            <a:r>
              <a:rPr lang="ko-KR" altLang="en-US" sz="2000" kern="0" dirty="0">
                <a:solidFill>
                  <a:srgbClr val="000000"/>
                </a:solidFill>
                <a:latin typeface="+mj-ea"/>
                <a:ea typeface="+mj-ea"/>
              </a:rPr>
              <a:t>비행금지 구역 </a:t>
            </a:r>
            <a:r>
              <a:rPr lang="ko-KR" altLang="en-US" sz="2000" kern="0" dirty="0" err="1">
                <a:solidFill>
                  <a:srgbClr val="000000"/>
                </a:solidFill>
                <a:latin typeface="+mj-ea"/>
                <a:ea typeface="+mj-ea"/>
              </a:rPr>
              <a:t>미승인</a:t>
            </a:r>
            <a:r>
              <a:rPr lang="ko-KR" altLang="en-US" sz="2000" kern="0" dirty="0">
                <a:solidFill>
                  <a:srgbClr val="000000"/>
                </a:solidFill>
                <a:latin typeface="+mj-ea"/>
                <a:ea typeface="+mj-ea"/>
              </a:rPr>
              <a:t> 비행은 휴전선 일대</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서울 강북</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원전 주변 등에서 발생했으며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관제권은 공항 또는 비행장 항공기 이착륙시 발생했음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사고와 관련되어서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사고 보험금 지급액</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지급 건수 등이 조사됨</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피해 종류에는 기타 사유가 가장 많았고</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대물</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자손</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대인 순으로 나타남</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기타를 제외하면 대물이 </a:t>
            </a:r>
            <a:r>
              <a:rPr lang="en-US" altLang="ko-KR" sz="2000" kern="0" dirty="0">
                <a:solidFill>
                  <a:srgbClr val="000000"/>
                </a:solidFill>
                <a:latin typeface="+mj-ea"/>
                <a:ea typeface="+mj-ea"/>
              </a:rPr>
              <a:t>47%</a:t>
            </a:r>
            <a:r>
              <a:rPr lang="ko-KR" altLang="en-US" sz="2000" kern="0" dirty="0">
                <a:solidFill>
                  <a:srgbClr val="000000"/>
                </a:solidFill>
                <a:latin typeface="+mj-ea"/>
                <a:ea typeface="+mj-ea"/>
              </a:rPr>
              <a:t>로 가장 많음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피해액에서는 </a:t>
            </a:r>
            <a:r>
              <a:rPr lang="en-US" altLang="ko-KR" sz="2000" kern="0" dirty="0">
                <a:solidFill>
                  <a:srgbClr val="000000"/>
                </a:solidFill>
                <a:latin typeface="+mj-ea"/>
                <a:ea typeface="+mj-ea"/>
              </a:rPr>
              <a:t>1</a:t>
            </a:r>
            <a:r>
              <a:rPr lang="ko-KR" altLang="en-US" sz="2000" kern="0" dirty="0">
                <a:solidFill>
                  <a:srgbClr val="000000"/>
                </a:solidFill>
                <a:latin typeface="+mj-ea"/>
                <a:ea typeface="+mj-ea"/>
              </a:rPr>
              <a:t>천만원 이상의 사고 발생이 있으나</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대부분 </a:t>
            </a:r>
            <a:r>
              <a:rPr lang="en-US" altLang="ko-KR" sz="2000" kern="0" dirty="0">
                <a:solidFill>
                  <a:srgbClr val="000000"/>
                </a:solidFill>
                <a:latin typeface="+mj-ea"/>
                <a:ea typeface="+mj-ea"/>
              </a:rPr>
              <a:t>50</a:t>
            </a:r>
            <a:r>
              <a:rPr lang="ko-KR" altLang="en-US" sz="2000" kern="0" dirty="0">
                <a:solidFill>
                  <a:srgbClr val="000000"/>
                </a:solidFill>
                <a:latin typeface="+mj-ea"/>
                <a:ea typeface="+mj-ea"/>
              </a:rPr>
              <a:t>만원 이하의 비율이 가장 높음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또한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종합 안전 관리 시스템에 수집된 내용은 다음을 포함하여 이를 기반으로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비행의 위험성과 사고에 대한 다양한 분석이 가능함</a:t>
            </a:r>
            <a:r>
              <a:rPr lang="en-US" altLang="ko-KR" sz="2000" kern="0" dirty="0">
                <a:solidFill>
                  <a:srgbClr val="000000"/>
                </a:solidFill>
                <a:latin typeface="+mj-ea"/>
                <a:ea typeface="+mj-ea"/>
              </a:rPr>
              <a:t>.</a:t>
            </a:r>
            <a:endParaRPr lang="ko-KR" altLang="en-US" sz="2000" kern="0" dirty="0">
              <a:solidFill>
                <a:srgbClr val="000000"/>
              </a:solidFill>
              <a:latin typeface="+mj-ea"/>
              <a:ea typeface="+mj-ea"/>
            </a:endParaRPr>
          </a:p>
          <a:p>
            <a:pPr algn="just" fontAlgn="base" latinLnBrk="1">
              <a:lnSpc>
                <a:spcPct val="160000"/>
              </a:lnSpc>
            </a:pPr>
            <a:endParaRPr lang="ko-KR" altLang="en-US" sz="2000" kern="0" dirty="0">
              <a:solidFill>
                <a:srgbClr val="000000"/>
              </a:solidFill>
              <a:latin typeface="+mj-ea"/>
              <a:ea typeface="+mj-ea"/>
            </a:endParaRPr>
          </a:p>
        </p:txBody>
      </p:sp>
      <p:sp>
        <p:nvSpPr>
          <p:cNvPr id="31" name="순서도: 처리 30"/>
          <p:cNvSpPr/>
          <p:nvPr/>
        </p:nvSpPr>
        <p:spPr>
          <a:xfrm>
            <a:off x="745268" y="17022733"/>
            <a:ext cx="9261213" cy="3246467"/>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fontAlgn="base" latinLnBrk="1">
              <a:lnSpc>
                <a:spcPct val="160000"/>
              </a:lnSpc>
            </a:pPr>
            <a:r>
              <a:rPr lang="ko-KR" altLang="en-US" sz="2000" kern="0" dirty="0" err="1">
                <a:solidFill>
                  <a:srgbClr val="000000"/>
                </a:solidFill>
                <a:latin typeface="+mj-ea"/>
                <a:ea typeface="+mj-ea"/>
              </a:rPr>
              <a:t>드론은</a:t>
            </a:r>
            <a:r>
              <a:rPr lang="ko-KR" altLang="en-US" sz="2000" kern="0" dirty="0">
                <a:solidFill>
                  <a:srgbClr val="000000"/>
                </a:solidFill>
                <a:latin typeface="+mj-ea"/>
                <a:ea typeface="+mj-ea"/>
              </a:rPr>
              <a:t> 농업</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물류 등 다양한 산업 분야에서의 응용 이 진행되고 있으며 활용 범위가 확대될 것으로 전망됨</a:t>
            </a:r>
            <a:r>
              <a:rPr lang="en-US" altLang="ko-KR" sz="2000" kern="0" dirty="0">
                <a:solidFill>
                  <a:srgbClr val="000000"/>
                </a:solidFill>
                <a:latin typeface="+mj-ea"/>
                <a:ea typeface="+mj-ea"/>
              </a:rPr>
              <a:t>. </a:t>
            </a:r>
            <a:r>
              <a:rPr lang="ko-KR" altLang="en-US" sz="2000" kern="0" dirty="0" err="1">
                <a:solidFill>
                  <a:srgbClr val="000000"/>
                </a:solidFill>
                <a:latin typeface="+mj-ea"/>
                <a:ea typeface="+mj-ea"/>
              </a:rPr>
              <a:t>드론의</a:t>
            </a:r>
            <a:r>
              <a:rPr lang="ko-KR" altLang="en-US" sz="2000" kern="0" dirty="0">
                <a:solidFill>
                  <a:srgbClr val="000000"/>
                </a:solidFill>
                <a:latin typeface="+mj-ea"/>
                <a:ea typeface="+mj-ea"/>
              </a:rPr>
              <a:t> 운항에서 중요한 부분 중의 하나가 바로 안전하고 효율적인 경로 설정이며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이에 대한 연구가 진행되어 옴</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특히 사고 위험 정보를 기반으로 경로의 안전성을 개선하는 노력과 관련 연구를 요하며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본 연구에서 안전성을 위협하거나 사고와 관련된 데이터의 신뢰도를 향상시키기 위한 이슈와 향후 연구 방향을 제시</a:t>
            </a:r>
            <a:r>
              <a:rPr lang="en-US" altLang="ko-KR" sz="2000" kern="0" dirty="0">
                <a:solidFill>
                  <a:srgbClr val="000000"/>
                </a:solidFill>
                <a:latin typeface="+mj-ea"/>
                <a:ea typeface="+mj-ea"/>
              </a:rPr>
              <a:t>.</a:t>
            </a:r>
            <a:endParaRPr lang="ko-KR" altLang="en-US" sz="2000" kern="0" dirty="0">
              <a:solidFill>
                <a:srgbClr val="000000"/>
              </a:solidFill>
              <a:latin typeface="+mj-ea"/>
              <a:ea typeface="+mj-ea"/>
            </a:endParaRPr>
          </a:p>
        </p:txBody>
      </p:sp>
      <p:pic>
        <p:nvPicPr>
          <p:cNvPr id="5" name="그림 4" descr="엠블럼, 등록 상표, 로고, 상징이(가) 표시된 사진&#10;&#10;자동 생성된 설명">
            <a:extLst>
              <a:ext uri="{FF2B5EF4-FFF2-40B4-BE49-F238E27FC236}">
                <a16:creationId xmlns:a16="http://schemas.microsoft.com/office/drawing/2014/main" id="{72E3EB1E-C59B-687E-90E2-CC044A6BC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48882" y="1719846"/>
            <a:ext cx="3657490" cy="3657490"/>
          </a:xfrm>
          <a:prstGeom prst="rect">
            <a:avLst/>
          </a:prstGeom>
        </p:spPr>
      </p:pic>
      <p:sp>
        <p:nvSpPr>
          <p:cNvPr id="6" name="양쪽 모서리가 둥근 사각형 19">
            <a:extLst>
              <a:ext uri="{FF2B5EF4-FFF2-40B4-BE49-F238E27FC236}">
                <a16:creationId xmlns:a16="http://schemas.microsoft.com/office/drawing/2014/main" id="{FC2B4701-8F17-BD97-F03D-D61D86AF0B50}"/>
              </a:ext>
            </a:extLst>
          </p:cNvPr>
          <p:cNvSpPr/>
          <p:nvPr/>
        </p:nvSpPr>
        <p:spPr>
          <a:xfrm>
            <a:off x="745268" y="22092537"/>
            <a:ext cx="9277785" cy="1113787"/>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3600" b="1" dirty="0">
                <a:solidFill>
                  <a:schemeClr val="bg1"/>
                </a:solidFill>
                <a:latin typeface="+mn-ea"/>
              </a:rPr>
              <a:t>방 법</a:t>
            </a:r>
          </a:p>
        </p:txBody>
      </p:sp>
      <p:sp>
        <p:nvSpPr>
          <p:cNvPr id="7" name="순서도: 처리 6">
            <a:extLst>
              <a:ext uri="{FF2B5EF4-FFF2-40B4-BE49-F238E27FC236}">
                <a16:creationId xmlns:a16="http://schemas.microsoft.com/office/drawing/2014/main" id="{17567779-89A0-6355-BE88-DB914E014156}"/>
              </a:ext>
            </a:extLst>
          </p:cNvPr>
          <p:cNvSpPr/>
          <p:nvPr/>
        </p:nvSpPr>
        <p:spPr>
          <a:xfrm>
            <a:off x="730266" y="23622000"/>
            <a:ext cx="9276215" cy="19481799"/>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fontAlgn="base" latinLnBrk="1">
              <a:lnSpc>
                <a:spcPct val="160000"/>
              </a:lnSpc>
            </a:pPr>
            <a:r>
              <a:rPr lang="ko-KR" altLang="en-US" sz="2000" kern="0" dirty="0" err="1">
                <a:solidFill>
                  <a:srgbClr val="000000"/>
                </a:solidFill>
                <a:latin typeface="+mj-ea"/>
                <a:ea typeface="+mj-ea"/>
              </a:rPr>
              <a:t>드론의</a:t>
            </a:r>
            <a:r>
              <a:rPr lang="ko-KR" altLang="en-US" sz="2000" kern="0" dirty="0">
                <a:solidFill>
                  <a:srgbClr val="000000"/>
                </a:solidFill>
                <a:latin typeface="+mj-ea"/>
                <a:ea typeface="+mj-ea"/>
              </a:rPr>
              <a:t> 활용 분야와 범위가 확대되고 기기 보급이 확산되면서 효과적인 </a:t>
            </a:r>
            <a:r>
              <a:rPr lang="ko-KR" altLang="en-US" sz="2000" kern="0" dirty="0" err="1">
                <a:solidFill>
                  <a:srgbClr val="000000"/>
                </a:solidFill>
                <a:latin typeface="+mj-ea"/>
                <a:ea typeface="+mj-ea"/>
              </a:rPr>
              <a:t>드론의</a:t>
            </a:r>
            <a:r>
              <a:rPr lang="ko-KR" altLang="en-US" sz="2000" kern="0" dirty="0">
                <a:solidFill>
                  <a:srgbClr val="000000"/>
                </a:solidFill>
                <a:latin typeface="+mj-ea"/>
                <a:ea typeface="+mj-ea"/>
              </a:rPr>
              <a:t> 경로 설정에 관한 요구사항이 대두되고 있음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이러한 요구사항에는 최단 경로</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세일즈맨 문제 등 최적 경로 설정 문제가 있으며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이에 추가적으로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운행에서의 안전성이 중요한 제약 조건이 됨</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최적 경로 설정을 경제성 측면에서 </a:t>
            </a:r>
            <a:r>
              <a:rPr lang="ko-KR" altLang="en-US" sz="2000" kern="0" dirty="0" err="1">
                <a:solidFill>
                  <a:srgbClr val="000000"/>
                </a:solidFill>
                <a:latin typeface="+mj-ea"/>
                <a:ea typeface="+mj-ea"/>
              </a:rPr>
              <a:t>드론에</a:t>
            </a:r>
            <a:r>
              <a:rPr lang="ko-KR" altLang="en-US" sz="2000" kern="0" dirty="0">
                <a:solidFill>
                  <a:srgbClr val="000000"/>
                </a:solidFill>
                <a:latin typeface="+mj-ea"/>
                <a:ea typeface="+mj-ea"/>
              </a:rPr>
              <a:t> 요구되는 기능이나 작업을 완수하면서 비용 효과적인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해로 볼 수 있으며</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안전성 면에서는 각종 사고 위험 및 피해를 최소화하는 것을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설정 문제에 반영을 요함</a:t>
            </a:r>
            <a:r>
              <a:rPr lang="en-US" altLang="ko-KR" sz="2000" kern="0" dirty="0">
                <a:solidFill>
                  <a:srgbClr val="000000"/>
                </a:solidFill>
                <a:latin typeface="+mj-ea"/>
                <a:ea typeface="+mj-ea"/>
              </a:rPr>
              <a:t>.</a:t>
            </a:r>
            <a:endParaRPr lang="ko-KR" altLang="en-US" sz="2000" kern="0" dirty="0">
              <a:solidFill>
                <a:srgbClr val="000000"/>
              </a:solidFill>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marL="406079" indent="-406079">
              <a:lnSpc>
                <a:spcPct val="120000"/>
              </a:lnSpc>
              <a:buAutoNum type="arabicPeriod"/>
            </a:pPr>
            <a:r>
              <a:rPr lang="ko-KR" altLang="en-US" sz="2000" dirty="0" err="1">
                <a:solidFill>
                  <a:srgbClr val="000000"/>
                </a:solidFill>
                <a:highlight>
                  <a:srgbClr val="FDFDFD"/>
                </a:highlight>
                <a:latin typeface="+mj-ea"/>
                <a:ea typeface="+mj-ea"/>
              </a:rPr>
              <a:t>드론</a:t>
            </a:r>
            <a:r>
              <a:rPr lang="ko-KR" altLang="en-US" sz="2000" dirty="0">
                <a:solidFill>
                  <a:srgbClr val="000000"/>
                </a:solidFill>
                <a:highlight>
                  <a:srgbClr val="FDFDFD"/>
                </a:highlight>
                <a:latin typeface="+mj-ea"/>
                <a:ea typeface="+mj-ea"/>
              </a:rPr>
              <a:t> 경로 제약 조건</a:t>
            </a:r>
            <a:endParaRPr lang="en-US" altLang="ko-KR" sz="2000" dirty="0">
              <a:solidFill>
                <a:srgbClr val="000000"/>
              </a:solidFill>
              <a:highlight>
                <a:srgbClr val="FDFDFD"/>
              </a:highlight>
              <a:latin typeface="+mj-ea"/>
              <a:ea typeface="+mj-ea"/>
            </a:endParaRPr>
          </a:p>
          <a:p>
            <a:pPr algn="just" fontAlgn="base" latinLnBrk="1">
              <a:lnSpc>
                <a:spcPct val="160000"/>
              </a:lnSpc>
            </a:pPr>
            <a:br>
              <a:rPr lang="ko-KR" altLang="en-US" sz="2000" dirty="0">
                <a:latin typeface="+mj-ea"/>
                <a:ea typeface="+mj-ea"/>
              </a:rPr>
            </a:b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설정 문제에서 경로의 안전성에 관해 추가적인 제약 조건을 반영하는 방안으로 장애물 위치를 반영하거나 장애 지역을 설정하고 해당 위치나 지역을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비행 가능 경로에 해당 지역을 제외하는 방안이 있음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그림 </a:t>
            </a:r>
            <a:r>
              <a:rPr lang="en-US" altLang="ko-KR" sz="2000" kern="0" dirty="0">
                <a:solidFill>
                  <a:srgbClr val="000000"/>
                </a:solidFill>
                <a:latin typeface="+mj-ea"/>
                <a:ea typeface="+mj-ea"/>
              </a:rPr>
              <a:t>1</a:t>
            </a:r>
            <a:r>
              <a:rPr lang="ko-KR" altLang="en-US" sz="2000" kern="0" dirty="0">
                <a:solidFill>
                  <a:srgbClr val="000000"/>
                </a:solidFill>
                <a:latin typeface="+mj-ea"/>
                <a:ea typeface="+mj-ea"/>
              </a:rPr>
              <a:t>은 </a:t>
            </a:r>
            <a:r>
              <a:rPr lang="ko-KR" altLang="en-US" sz="2000" kern="0" dirty="0" err="1">
                <a:solidFill>
                  <a:srgbClr val="000000"/>
                </a:solidFill>
                <a:latin typeface="+mj-ea"/>
                <a:ea typeface="+mj-ea"/>
              </a:rPr>
              <a:t>드론의</a:t>
            </a:r>
            <a:r>
              <a:rPr lang="ko-KR" altLang="en-US" sz="2000" kern="0" dirty="0">
                <a:solidFill>
                  <a:srgbClr val="000000"/>
                </a:solidFill>
                <a:latin typeface="+mj-ea"/>
                <a:ea typeface="+mj-ea"/>
              </a:rPr>
              <a:t> 비행 가능 평면의 규모를 소</a:t>
            </a:r>
            <a:r>
              <a:rPr lang="en-US" altLang="ko-KR" sz="2000" kern="0" dirty="0">
                <a:solidFill>
                  <a:srgbClr val="000000"/>
                </a:solidFill>
                <a:latin typeface="+mj-ea"/>
                <a:ea typeface="+mj-ea"/>
              </a:rPr>
              <a:t>/</a:t>
            </a:r>
            <a:r>
              <a:rPr lang="ko-KR" altLang="en-US" sz="2000" kern="0" dirty="0">
                <a:solidFill>
                  <a:srgbClr val="000000"/>
                </a:solidFill>
                <a:latin typeface="+mj-ea"/>
                <a:ea typeface="+mj-ea"/>
              </a:rPr>
              <a:t>중</a:t>
            </a:r>
            <a:r>
              <a:rPr lang="en-US" altLang="ko-KR" sz="2000" kern="0" dirty="0">
                <a:solidFill>
                  <a:srgbClr val="000000"/>
                </a:solidFill>
                <a:latin typeface="+mj-ea"/>
                <a:ea typeface="+mj-ea"/>
              </a:rPr>
              <a:t>/</a:t>
            </a:r>
            <a:r>
              <a:rPr lang="ko-KR" altLang="en-US" sz="2000" kern="0" dirty="0">
                <a:solidFill>
                  <a:srgbClr val="000000"/>
                </a:solidFill>
                <a:latin typeface="+mj-ea"/>
                <a:ea typeface="+mj-ea"/>
              </a:rPr>
              <a:t>대 등으로 구분하고 장애물 지역에 대해서는 우회하도록 하는 제약 사항을 포함하여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설정 알고리즘을 적용하고 그 결과를 도시한 것임</a:t>
            </a:r>
            <a:r>
              <a:rPr lang="en-US" altLang="ko-KR" sz="2000" kern="0" dirty="0">
                <a:solidFill>
                  <a:srgbClr val="000000"/>
                </a:solidFill>
                <a:latin typeface="+mj-ea"/>
                <a:ea typeface="+mj-ea"/>
              </a:rPr>
              <a:t>. </a:t>
            </a:r>
            <a:endParaRPr lang="ko-KR" altLang="en-US" sz="2000" kern="0" dirty="0">
              <a:solidFill>
                <a:srgbClr val="000000"/>
              </a:solidFill>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a:lnSpc>
                <a:spcPct val="120000"/>
              </a:lnSpc>
            </a:pPr>
            <a:endParaRPr lang="en-US" altLang="ko-KR" sz="2000" dirty="0">
              <a:solidFill>
                <a:srgbClr val="000000"/>
              </a:solidFill>
              <a:highlight>
                <a:srgbClr val="FFFFFF"/>
              </a:highlight>
              <a:latin typeface="+mj-ea"/>
              <a:ea typeface="+mj-ea"/>
            </a:endParaRPr>
          </a:p>
          <a:p>
            <a:pPr algn="just" fontAlgn="base" latinLnBrk="1">
              <a:lnSpc>
                <a:spcPct val="160000"/>
              </a:lnSpc>
            </a:pPr>
            <a:r>
              <a:rPr lang="ko-KR" altLang="en-US" sz="2000" kern="0" spc="-24" dirty="0">
                <a:solidFill>
                  <a:srgbClr val="000000"/>
                </a:solidFill>
                <a:latin typeface="+mj-ea"/>
                <a:ea typeface="+mj-ea"/>
              </a:rPr>
              <a:t>그림 </a:t>
            </a:r>
            <a:r>
              <a:rPr lang="en-US" altLang="ko-KR" sz="2000" kern="0" spc="-24" dirty="0">
                <a:solidFill>
                  <a:srgbClr val="000000"/>
                </a:solidFill>
                <a:latin typeface="+mj-ea"/>
                <a:ea typeface="+mj-ea"/>
              </a:rPr>
              <a:t>1. </a:t>
            </a:r>
            <a:r>
              <a:rPr lang="ko-KR" altLang="en-US" sz="2000" kern="0" spc="-24" dirty="0" err="1">
                <a:solidFill>
                  <a:srgbClr val="000000"/>
                </a:solidFill>
                <a:latin typeface="+mj-ea"/>
                <a:ea typeface="+mj-ea"/>
              </a:rPr>
              <a:t>드론</a:t>
            </a:r>
            <a:r>
              <a:rPr lang="ko-KR" altLang="en-US" sz="2000" kern="0" spc="-24" dirty="0">
                <a:solidFill>
                  <a:srgbClr val="000000"/>
                </a:solidFill>
                <a:latin typeface="+mj-ea"/>
                <a:ea typeface="+mj-ea"/>
              </a:rPr>
              <a:t> 경로에 관한 규모에 따른 평면도 및 </a:t>
            </a:r>
            <a:r>
              <a:rPr lang="ko-KR" altLang="en-US" sz="2000" kern="0" spc="-24" dirty="0" err="1">
                <a:solidFill>
                  <a:srgbClr val="000000"/>
                </a:solidFill>
                <a:latin typeface="+mj-ea"/>
                <a:ea typeface="+mj-ea"/>
              </a:rPr>
              <a:t>드론</a:t>
            </a:r>
            <a:r>
              <a:rPr lang="ko-KR" altLang="en-US" sz="2000" kern="0" dirty="0">
                <a:solidFill>
                  <a:srgbClr val="000000"/>
                </a:solidFill>
                <a:latin typeface="+mj-ea"/>
                <a:ea typeface="+mj-ea"/>
              </a:rPr>
              <a:t> 경로 설정 </a:t>
            </a:r>
            <a:r>
              <a:rPr lang="en-US" altLang="ko-KR" sz="2000" kern="0" dirty="0">
                <a:solidFill>
                  <a:srgbClr val="000000"/>
                </a:solidFill>
                <a:latin typeface="+mj-ea"/>
                <a:ea typeface="+mj-ea"/>
              </a:rPr>
              <a:t>: (a), (b), (c) </a:t>
            </a:r>
            <a:r>
              <a:rPr lang="ko-KR" altLang="en-US" sz="2000" kern="0" dirty="0">
                <a:solidFill>
                  <a:srgbClr val="000000"/>
                </a:solidFill>
                <a:latin typeface="+mj-ea"/>
                <a:ea typeface="+mj-ea"/>
              </a:rPr>
              <a:t>각각 소</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중</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대규모 환경 예</a:t>
            </a:r>
            <a:endParaRPr lang="en-US" altLang="ko-KR" sz="2000" kern="0" dirty="0">
              <a:solidFill>
                <a:srgbClr val="000000"/>
              </a:solidFill>
              <a:latin typeface="+mj-ea"/>
              <a:ea typeface="+mj-ea"/>
            </a:endParaRPr>
          </a:p>
          <a:p>
            <a:pPr algn="just" fontAlgn="base" latinLnBrk="1">
              <a:lnSpc>
                <a:spcPct val="160000"/>
              </a:lnSpc>
            </a:pPr>
            <a:endParaRPr lang="ko-KR" altLang="en-US" sz="2000" kern="0" dirty="0">
              <a:solidFill>
                <a:srgbClr val="000000"/>
              </a:solidFill>
              <a:latin typeface="+mj-ea"/>
              <a:ea typeface="+mj-ea"/>
            </a:endParaRPr>
          </a:p>
          <a:p>
            <a:pPr algn="just" fontAlgn="base" latinLnBrk="1">
              <a:lnSpc>
                <a:spcPct val="160000"/>
              </a:lnSpc>
            </a:pPr>
            <a:r>
              <a:rPr lang="ko-KR" altLang="en-US" sz="2000" kern="0" dirty="0">
                <a:solidFill>
                  <a:srgbClr val="000000"/>
                </a:solidFill>
                <a:latin typeface="+mj-ea"/>
                <a:ea typeface="+mj-ea"/>
              </a:rPr>
              <a:t>제약 사항을 포함하여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 설정 알고리즘을 적용하고 그 결과를 도시한 것임</a:t>
            </a:r>
            <a:r>
              <a:rPr lang="en-US" altLang="ko-KR" sz="2000" kern="0" dirty="0">
                <a:solidFill>
                  <a:srgbClr val="000000"/>
                </a:solidFill>
                <a:latin typeface="+mj-ea"/>
                <a:ea typeface="+mj-ea"/>
              </a:rPr>
              <a:t>. </a:t>
            </a:r>
            <a:r>
              <a:rPr lang="ko-KR" altLang="en-US" sz="2000" kern="0" dirty="0">
                <a:solidFill>
                  <a:srgbClr val="000000"/>
                </a:solidFill>
                <a:latin typeface="+mj-ea"/>
                <a:ea typeface="+mj-ea"/>
              </a:rPr>
              <a:t>이처럼 임의의 </a:t>
            </a:r>
            <a:r>
              <a:rPr lang="ko-KR" altLang="en-US" sz="2000" kern="0" dirty="0" err="1">
                <a:solidFill>
                  <a:srgbClr val="000000"/>
                </a:solidFill>
                <a:latin typeface="+mj-ea"/>
                <a:ea typeface="+mj-ea"/>
              </a:rPr>
              <a:t>드론</a:t>
            </a:r>
            <a:r>
              <a:rPr lang="ko-KR" altLang="en-US" sz="2000" kern="0" dirty="0">
                <a:solidFill>
                  <a:srgbClr val="000000"/>
                </a:solidFill>
                <a:latin typeface="+mj-ea"/>
                <a:ea typeface="+mj-ea"/>
              </a:rPr>
              <a:t> 경로에서 장애물의 위치를 파악하고 이를 우회하는 등 비행의 위험성에 대한 제약 조건을 포함하여 </a:t>
            </a:r>
            <a:r>
              <a:rPr lang="ko-KR" altLang="en-US" sz="2000" kern="0" dirty="0" err="1">
                <a:solidFill>
                  <a:srgbClr val="000000"/>
                </a:solidFill>
                <a:latin typeface="+mj-ea"/>
                <a:ea typeface="+mj-ea"/>
              </a:rPr>
              <a:t>드론의</a:t>
            </a:r>
            <a:r>
              <a:rPr lang="ko-KR" altLang="en-US" sz="2000" kern="0" dirty="0">
                <a:solidFill>
                  <a:srgbClr val="000000"/>
                </a:solidFill>
                <a:latin typeface="+mj-ea"/>
                <a:ea typeface="+mj-ea"/>
              </a:rPr>
              <a:t> 최적 경로를 도출하는 연구가 진행 된 바 있음</a:t>
            </a:r>
            <a:r>
              <a:rPr lang="en-US" altLang="ko-KR" sz="2000" kern="0" dirty="0">
                <a:solidFill>
                  <a:srgbClr val="000000"/>
                </a:solidFill>
                <a:latin typeface="+mj-ea"/>
                <a:ea typeface="+mj-ea"/>
              </a:rPr>
              <a:t>.</a:t>
            </a:r>
            <a:endParaRPr lang="ko-KR" altLang="en-US" sz="2000" kern="0" dirty="0">
              <a:solidFill>
                <a:srgbClr val="000000"/>
              </a:solidFill>
              <a:latin typeface="+mj-ea"/>
              <a:ea typeface="+mj-ea"/>
            </a:endParaRPr>
          </a:p>
        </p:txBody>
      </p:sp>
      <p:sp>
        <p:nvSpPr>
          <p:cNvPr id="8" name="양쪽 모서리가 둥근 사각형 18">
            <a:extLst>
              <a:ext uri="{FF2B5EF4-FFF2-40B4-BE49-F238E27FC236}">
                <a16:creationId xmlns:a16="http://schemas.microsoft.com/office/drawing/2014/main" id="{3E1DAE3E-5F39-FA86-3F6F-165F7725F18E}"/>
              </a:ext>
            </a:extLst>
          </p:cNvPr>
          <p:cNvSpPr/>
          <p:nvPr/>
        </p:nvSpPr>
        <p:spPr>
          <a:xfrm>
            <a:off x="10332144" y="39437283"/>
            <a:ext cx="15833552" cy="1145719"/>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00" b="1" dirty="0">
                <a:solidFill>
                  <a:schemeClr val="bg1"/>
                </a:solidFill>
                <a:latin typeface="+mn-ea"/>
              </a:rPr>
              <a:t>Reference</a:t>
            </a:r>
            <a:endParaRPr lang="ko-KR" altLang="en-US" sz="3600" b="1" dirty="0">
              <a:solidFill>
                <a:schemeClr val="bg1"/>
              </a:solidFill>
              <a:latin typeface="+mn-ea"/>
            </a:endParaRPr>
          </a:p>
        </p:txBody>
      </p:sp>
      <p:sp>
        <p:nvSpPr>
          <p:cNvPr id="10" name="순서도: 처리 9">
            <a:extLst>
              <a:ext uri="{FF2B5EF4-FFF2-40B4-BE49-F238E27FC236}">
                <a16:creationId xmlns:a16="http://schemas.microsoft.com/office/drawing/2014/main" id="{75265B1E-D274-9C30-E5B3-C0E8E27109EB}"/>
              </a:ext>
            </a:extLst>
          </p:cNvPr>
          <p:cNvSpPr/>
          <p:nvPr/>
        </p:nvSpPr>
        <p:spPr>
          <a:xfrm>
            <a:off x="10371693" y="40884044"/>
            <a:ext cx="15818551" cy="3032555"/>
          </a:xfrm>
          <a:prstGeom prst="flowChartProcess">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a:lnSpc>
                <a:spcPct val="130000"/>
              </a:lnSpc>
              <a:spcBef>
                <a:spcPts val="835"/>
              </a:spcBef>
            </a:pPr>
            <a:r>
              <a:rPr lang="en-US" altLang="ko-KR" sz="2000" dirty="0">
                <a:solidFill>
                  <a:srgbClr val="000000"/>
                </a:solidFill>
                <a:highlight>
                  <a:srgbClr val="FDFDFD"/>
                </a:highlight>
                <a:latin typeface="+mj-ea"/>
                <a:ea typeface="+mj-ea"/>
              </a:rPr>
              <a:t>[1] </a:t>
            </a:r>
            <a:r>
              <a:rPr lang="en-US" altLang="ko-KR" sz="2000" dirty="0" err="1">
                <a:solidFill>
                  <a:srgbClr val="000000"/>
                </a:solidFill>
                <a:highlight>
                  <a:srgbClr val="FDFDFD"/>
                </a:highlight>
                <a:latin typeface="+mj-ea"/>
                <a:ea typeface="+mj-ea"/>
              </a:rPr>
              <a:t>Dienstknecht</a:t>
            </a:r>
            <a:r>
              <a:rPr lang="en-US" altLang="ko-KR" sz="2000" dirty="0">
                <a:solidFill>
                  <a:srgbClr val="000000"/>
                </a:solidFill>
                <a:highlight>
                  <a:srgbClr val="FDFDFD"/>
                </a:highlight>
                <a:latin typeface="+mj-ea"/>
                <a:ea typeface="+mj-ea"/>
              </a:rPr>
              <a:t>, M., Boysen, N. &amp; </a:t>
            </a:r>
            <a:r>
              <a:rPr lang="en-US" altLang="ko-KR" sz="2000" dirty="0" err="1">
                <a:solidFill>
                  <a:srgbClr val="000000"/>
                </a:solidFill>
                <a:highlight>
                  <a:srgbClr val="FDFDFD"/>
                </a:highlight>
                <a:latin typeface="+mj-ea"/>
                <a:ea typeface="+mj-ea"/>
              </a:rPr>
              <a:t>Brickshorn</a:t>
            </a:r>
            <a:r>
              <a:rPr lang="en-US" altLang="ko-KR" sz="2000" dirty="0">
                <a:solidFill>
                  <a:srgbClr val="000000"/>
                </a:solidFill>
                <a:highlight>
                  <a:srgbClr val="FDFDFD"/>
                </a:highlight>
                <a:latin typeface="+mj-ea"/>
                <a:ea typeface="+mj-ea"/>
              </a:rPr>
              <a:t>, D. "Round Salesperson Issues Following Drone Resupply," OR Spectrum 44, 1045–1086, 2022</a:t>
            </a:r>
          </a:p>
          <a:p>
            <a:pPr algn="just">
              <a:lnSpc>
                <a:spcPct val="130000"/>
              </a:lnSpc>
              <a:spcBef>
                <a:spcPts val="835"/>
              </a:spcBef>
            </a:pPr>
            <a:r>
              <a:rPr lang="en-US" altLang="ko-KR" sz="2000" dirty="0">
                <a:solidFill>
                  <a:srgbClr val="000000"/>
                </a:solidFill>
                <a:highlight>
                  <a:srgbClr val="FDFDFD"/>
                </a:highlight>
                <a:latin typeface="+mj-ea"/>
                <a:ea typeface="+mj-ea"/>
              </a:rPr>
              <a:t>[2] </a:t>
            </a:r>
            <a:r>
              <a:rPr lang="en-US" altLang="ko-KR" sz="2000" dirty="0" err="1">
                <a:solidFill>
                  <a:srgbClr val="000000"/>
                </a:solidFill>
                <a:highlight>
                  <a:srgbClr val="FDFDFD"/>
                </a:highlight>
                <a:latin typeface="+mj-ea"/>
                <a:ea typeface="+mj-ea"/>
              </a:rPr>
              <a:t>Delamico</a:t>
            </a:r>
            <a:r>
              <a:rPr lang="en-US" altLang="ko-KR" sz="2000" dirty="0">
                <a:solidFill>
                  <a:srgbClr val="000000"/>
                </a:solidFill>
                <a:highlight>
                  <a:srgbClr val="FDFDFD"/>
                </a:highlight>
                <a:latin typeface="+mj-ea"/>
                <a:ea typeface="+mj-ea"/>
              </a:rPr>
              <a:t>, Mauro &amp; </a:t>
            </a:r>
            <a:r>
              <a:rPr lang="en-US" altLang="ko-KR" sz="2000" dirty="0" err="1">
                <a:solidFill>
                  <a:srgbClr val="000000"/>
                </a:solidFill>
                <a:highlight>
                  <a:srgbClr val="FDFDFD"/>
                </a:highlight>
                <a:latin typeface="+mj-ea"/>
                <a:ea typeface="+mj-ea"/>
              </a:rPr>
              <a:t>Montemani</a:t>
            </a:r>
            <a:r>
              <a:rPr lang="en-US" altLang="ko-KR" sz="2000" dirty="0">
                <a:solidFill>
                  <a:srgbClr val="000000"/>
                </a:solidFill>
                <a:highlight>
                  <a:srgbClr val="FDFDFD"/>
                </a:highlight>
                <a:latin typeface="+mj-ea"/>
                <a:ea typeface="+mj-ea"/>
              </a:rPr>
              <a:t>, Roberto &amp; </a:t>
            </a:r>
            <a:r>
              <a:rPr lang="en-US" altLang="ko-KR" sz="2000" dirty="0" err="1">
                <a:solidFill>
                  <a:srgbClr val="000000"/>
                </a:solidFill>
                <a:highlight>
                  <a:srgbClr val="FDFDFD"/>
                </a:highlight>
                <a:latin typeface="+mj-ea"/>
                <a:ea typeface="+mj-ea"/>
              </a:rPr>
              <a:t>Novellani</a:t>
            </a:r>
            <a:r>
              <a:rPr lang="en-US" altLang="ko-KR" sz="2000" dirty="0">
                <a:solidFill>
                  <a:srgbClr val="000000"/>
                </a:solidFill>
                <a:highlight>
                  <a:srgbClr val="FDFDFD"/>
                </a:highlight>
                <a:latin typeface="+mj-ea"/>
                <a:ea typeface="+mj-ea"/>
              </a:rPr>
              <a:t>, Stefano, 2021. " Algorithms based on branches on the issue of flying side kick travel salesman," Omega, </a:t>
            </a:r>
            <a:r>
              <a:rPr lang="en-US" altLang="ko-KR" sz="2000" dirty="0" err="1">
                <a:solidFill>
                  <a:srgbClr val="000000"/>
                </a:solidFill>
                <a:highlight>
                  <a:srgbClr val="FDFDFD"/>
                </a:highlight>
                <a:latin typeface="+mj-ea"/>
                <a:ea typeface="+mj-ea"/>
              </a:rPr>
              <a:t>Elsvier</a:t>
            </a:r>
            <a:r>
              <a:rPr lang="en-US" altLang="ko-KR" sz="2000" dirty="0">
                <a:solidFill>
                  <a:srgbClr val="000000"/>
                </a:solidFill>
                <a:highlight>
                  <a:srgbClr val="FDFDFD"/>
                </a:highlight>
                <a:latin typeface="+mj-ea"/>
                <a:ea typeface="+mj-ea"/>
              </a:rPr>
              <a:t>, vol. 104 (C)</a:t>
            </a:r>
          </a:p>
          <a:p>
            <a:pPr algn="just">
              <a:lnSpc>
                <a:spcPct val="130000"/>
              </a:lnSpc>
              <a:spcBef>
                <a:spcPts val="835"/>
              </a:spcBef>
            </a:pPr>
            <a:r>
              <a:rPr lang="en-US" altLang="ko-KR" sz="2000" dirty="0">
                <a:solidFill>
                  <a:srgbClr val="000000"/>
                </a:solidFill>
                <a:highlight>
                  <a:srgbClr val="FDFDFD"/>
                </a:highlight>
                <a:latin typeface="+mj-ea"/>
                <a:ea typeface="+mj-ea"/>
              </a:rPr>
              <a:t>[3] </a:t>
            </a:r>
            <a:r>
              <a:rPr lang="en-US" altLang="ko-KR" sz="2000" dirty="0" err="1">
                <a:solidFill>
                  <a:srgbClr val="000000"/>
                </a:solidFill>
                <a:highlight>
                  <a:srgbClr val="FDFDFD"/>
                </a:highlight>
                <a:latin typeface="+mj-ea"/>
                <a:ea typeface="+mj-ea"/>
              </a:rPr>
              <a:t>Yunhong</a:t>
            </a:r>
            <a:r>
              <a:rPr lang="en-US" altLang="ko-KR" sz="2000" dirty="0">
                <a:solidFill>
                  <a:srgbClr val="000000"/>
                </a:solidFill>
                <a:highlight>
                  <a:srgbClr val="FDFDFD"/>
                </a:highlight>
                <a:latin typeface="+mj-ea"/>
                <a:ea typeface="+mj-ea"/>
              </a:rPr>
              <a:t> Yang 1, </a:t>
            </a:r>
            <a:r>
              <a:rPr lang="en-US" altLang="ko-KR" sz="2000" dirty="0" err="1">
                <a:solidFill>
                  <a:srgbClr val="000000"/>
                </a:solidFill>
                <a:highlight>
                  <a:srgbClr val="FDFDFD"/>
                </a:highlight>
                <a:latin typeface="+mj-ea"/>
                <a:ea typeface="+mj-ea"/>
              </a:rPr>
              <a:t>Singzhou</a:t>
            </a:r>
            <a:r>
              <a:rPr lang="en-US" altLang="ko-KR" sz="2000" dirty="0">
                <a:solidFill>
                  <a:srgbClr val="000000"/>
                </a:solidFill>
                <a:highlight>
                  <a:srgbClr val="FDFDFD"/>
                </a:highlight>
                <a:latin typeface="+mj-ea"/>
                <a:ea typeface="+mj-ea"/>
              </a:rPr>
              <a:t> Xiong and </a:t>
            </a:r>
            <a:r>
              <a:rPr lang="en-US" altLang="ko-KR" sz="2000" dirty="0" err="1">
                <a:solidFill>
                  <a:srgbClr val="000000"/>
                </a:solidFill>
                <a:highlight>
                  <a:srgbClr val="FDFDFD"/>
                </a:highlight>
                <a:latin typeface="+mj-ea"/>
                <a:ea typeface="+mj-ea"/>
              </a:rPr>
              <a:t>Yuehao</a:t>
            </a:r>
            <a:r>
              <a:rPr lang="en-US" altLang="ko-KR" sz="2000" dirty="0">
                <a:solidFill>
                  <a:srgbClr val="000000"/>
                </a:solidFill>
                <a:highlight>
                  <a:srgbClr val="FDFDFD"/>
                </a:highlight>
                <a:latin typeface="+mj-ea"/>
                <a:ea typeface="+mj-ea"/>
              </a:rPr>
              <a:t> Yan, "UAV Formation Trajectory Planning Algorithm: A Review", Drones 2023, 7(1), 62</a:t>
            </a:r>
            <a:endParaRPr lang="en-US" altLang="ko-KR" sz="2000" dirty="0">
              <a:solidFill>
                <a:schemeClr val="tx1">
                  <a:lumMod val="85000"/>
                  <a:lumOff val="15000"/>
                </a:schemeClr>
              </a:solidFill>
              <a:latin typeface="+mj-ea"/>
              <a:ea typeface="+mj-ea"/>
            </a:endParaRPr>
          </a:p>
        </p:txBody>
      </p:sp>
      <p:pic>
        <p:nvPicPr>
          <p:cNvPr id="3" name="Picture 1">
            <a:extLst>
              <a:ext uri="{FF2B5EF4-FFF2-40B4-BE49-F238E27FC236}">
                <a16:creationId xmlns:a16="http://schemas.microsoft.com/office/drawing/2014/main" id="{1E49614A-B620-9129-CC77-F202BD81210D}"/>
              </a:ext>
            </a:extLst>
          </p:cNvPr>
          <p:cNvPicPr>
            <a:picLocks noChangeAspect="1"/>
          </p:cNvPicPr>
          <p:nvPr/>
        </p:nvPicPr>
        <p:blipFill>
          <a:blip r:embed="rId4"/>
          <a:stretch>
            <a:fillRect/>
          </a:stretch>
        </p:blipFill>
        <p:spPr>
          <a:xfrm>
            <a:off x="2400429" y="32635858"/>
            <a:ext cx="6147937" cy="5864774"/>
          </a:xfrm>
          <a:prstGeom prst="rect">
            <a:avLst/>
          </a:prstGeom>
          <a:noFill/>
          <a:ln>
            <a:noFill/>
          </a:ln>
          <a:effectLst/>
        </p:spPr>
      </p:pic>
      <p:pic>
        <p:nvPicPr>
          <p:cNvPr id="9" name="그림 8">
            <a:extLst>
              <a:ext uri="{FF2B5EF4-FFF2-40B4-BE49-F238E27FC236}">
                <a16:creationId xmlns:a16="http://schemas.microsoft.com/office/drawing/2014/main" id="{FB18D99E-2EED-4618-CA64-D00246C58173}"/>
              </a:ext>
            </a:extLst>
          </p:cNvPr>
          <p:cNvPicPr>
            <a:picLocks noChangeAspect="1"/>
          </p:cNvPicPr>
          <p:nvPr/>
        </p:nvPicPr>
        <p:blipFill>
          <a:blip r:embed="rId5"/>
          <a:stretch>
            <a:fillRect/>
          </a:stretch>
        </p:blipFill>
        <p:spPr>
          <a:xfrm>
            <a:off x="10820910" y="17971772"/>
            <a:ext cx="6925400" cy="2555002"/>
          </a:xfrm>
          <a:prstGeom prst="rect">
            <a:avLst/>
          </a:prstGeom>
        </p:spPr>
      </p:pic>
      <p:pic>
        <p:nvPicPr>
          <p:cNvPr id="12" name="그림 11">
            <a:extLst>
              <a:ext uri="{FF2B5EF4-FFF2-40B4-BE49-F238E27FC236}">
                <a16:creationId xmlns:a16="http://schemas.microsoft.com/office/drawing/2014/main" id="{2D7A40E0-85CF-ED34-940A-BE281C4DB47D}"/>
              </a:ext>
            </a:extLst>
          </p:cNvPr>
          <p:cNvPicPr>
            <a:picLocks noChangeAspect="1"/>
          </p:cNvPicPr>
          <p:nvPr/>
        </p:nvPicPr>
        <p:blipFill>
          <a:blip r:embed="rId6"/>
          <a:stretch>
            <a:fillRect/>
          </a:stretch>
        </p:blipFill>
        <p:spPr>
          <a:xfrm>
            <a:off x="18414987" y="17713085"/>
            <a:ext cx="6944550" cy="3478991"/>
          </a:xfrm>
          <a:prstGeom prst="rect">
            <a:avLst/>
          </a:prstGeom>
        </p:spPr>
      </p:pic>
      <p:pic>
        <p:nvPicPr>
          <p:cNvPr id="14" name="그림 13">
            <a:extLst>
              <a:ext uri="{FF2B5EF4-FFF2-40B4-BE49-F238E27FC236}">
                <a16:creationId xmlns:a16="http://schemas.microsoft.com/office/drawing/2014/main" id="{4117CE1B-A88E-CC4E-393C-B3DD95AD8CCB}"/>
              </a:ext>
            </a:extLst>
          </p:cNvPr>
          <p:cNvPicPr>
            <a:picLocks noChangeAspect="1"/>
          </p:cNvPicPr>
          <p:nvPr/>
        </p:nvPicPr>
        <p:blipFill>
          <a:blip r:embed="rId7"/>
          <a:stretch>
            <a:fillRect/>
          </a:stretch>
        </p:blipFill>
        <p:spPr>
          <a:xfrm>
            <a:off x="14446077" y="25978415"/>
            <a:ext cx="7387261" cy="3437224"/>
          </a:xfrm>
          <a:prstGeom prst="rect">
            <a:avLst/>
          </a:prstGeom>
        </p:spPr>
      </p:pic>
      <p:sp>
        <p:nvSpPr>
          <p:cNvPr id="11" name="양쪽 모서리가 둥근 사각형 20">
            <a:extLst>
              <a:ext uri="{FF2B5EF4-FFF2-40B4-BE49-F238E27FC236}">
                <a16:creationId xmlns:a16="http://schemas.microsoft.com/office/drawing/2014/main" id="{1944DCC5-8AE5-F633-4428-3516DD3810E3}"/>
              </a:ext>
            </a:extLst>
          </p:cNvPr>
          <p:cNvSpPr/>
          <p:nvPr/>
        </p:nvSpPr>
        <p:spPr>
          <a:xfrm>
            <a:off x="10509091" y="7823792"/>
            <a:ext cx="16018286" cy="1217855"/>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3600" b="1" kern="0" dirty="0" err="1">
                <a:solidFill>
                  <a:schemeClr val="bg1"/>
                </a:solidFill>
                <a:latin typeface="+mj-ea"/>
                <a:ea typeface="+mj-ea"/>
              </a:rPr>
              <a:t>드론</a:t>
            </a:r>
            <a:r>
              <a:rPr lang="ko-KR" altLang="en-US" sz="3600" b="1" kern="0" dirty="0">
                <a:solidFill>
                  <a:schemeClr val="bg1"/>
                </a:solidFill>
                <a:latin typeface="+mj-ea"/>
                <a:ea typeface="+mj-ea"/>
              </a:rPr>
              <a:t> 경로 안전 관련 데이터 분석 사례</a:t>
            </a:r>
            <a:endParaRPr lang="ko-KR" altLang="en-US" sz="3600" b="1" dirty="0">
              <a:solidFill>
                <a:schemeClr val="bg1"/>
              </a:solidFill>
              <a:latin typeface="+mn-ea"/>
            </a:endParaRPr>
          </a:p>
        </p:txBody>
      </p:sp>
    </p:spTree>
    <p:extLst>
      <p:ext uri="{BB962C8B-B14F-4D97-AF65-F5344CB8AC3E}">
        <p14:creationId xmlns:p14="http://schemas.microsoft.com/office/powerpoint/2010/main" val="1130573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213F"/>
        </a:solidFill>
        <a:effectLst/>
      </p:bgPr>
    </p:bg>
    <p:spTree>
      <p:nvGrpSpPr>
        <p:cNvPr id="1" name=""/>
        <p:cNvGrpSpPr/>
        <p:nvPr/>
      </p:nvGrpSpPr>
      <p:grpSpPr>
        <a:xfrm>
          <a:off x="0" y="0"/>
          <a:ext cx="0" cy="0"/>
          <a:chOff x="0" y="0"/>
          <a:chExt cx="0" cy="0"/>
        </a:xfrm>
      </p:grpSpPr>
      <p:sp>
        <p:nvSpPr>
          <p:cNvPr id="234" name="모서리가 둥근 직사각형 233"/>
          <p:cNvSpPr/>
          <p:nvPr/>
        </p:nvSpPr>
        <p:spPr>
          <a:xfrm>
            <a:off x="404603" y="6885748"/>
            <a:ext cx="26190994" cy="39725206"/>
          </a:xfrm>
          <a:prstGeom prst="roundRect">
            <a:avLst>
              <a:gd name="adj" fmla="val 71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38102" rIns="76200" bIns="38102" numCol="1" spcCol="0" rtlCol="0" fromWordArt="0" anchor="ctr" anchorCtr="0" forceAA="0" compatLnSpc="1">
            <a:prstTxWarp prst="textNoShape">
              <a:avLst/>
            </a:prstTxWarp>
            <a:noAutofit/>
          </a:bodyPr>
          <a:lstStyle/>
          <a:p>
            <a:pPr algn="ctr"/>
            <a:endParaRPr lang="ko-KR" altLang="en-US" sz="2335" b="1" dirty="0">
              <a:solidFill>
                <a:schemeClr val="bg1"/>
              </a:solidFill>
              <a:latin typeface="+mn-ea"/>
            </a:endParaRPr>
          </a:p>
        </p:txBody>
      </p:sp>
      <p:sp>
        <p:nvSpPr>
          <p:cNvPr id="18" name="TextBox 17"/>
          <p:cNvSpPr txBox="1"/>
          <p:nvPr/>
        </p:nvSpPr>
        <p:spPr>
          <a:xfrm>
            <a:off x="1202681" y="20695011"/>
            <a:ext cx="153904" cy="335126"/>
          </a:xfrm>
          <a:prstGeom prst="rect">
            <a:avLst/>
          </a:prstGeom>
          <a:noFill/>
        </p:spPr>
        <p:txBody>
          <a:bodyPr wrap="none" lIns="76176" tIns="38085" rIns="76176" bIns="38085" rtlCol="0">
            <a:spAutoFit/>
          </a:bodyPr>
          <a:lstStyle/>
          <a:p>
            <a:endParaRPr lang="ko-KR" altLang="en-US" sz="1678" dirty="0">
              <a:latin typeface="+mn-ea"/>
            </a:endParaRPr>
          </a:p>
        </p:txBody>
      </p:sp>
      <p:sp>
        <p:nvSpPr>
          <p:cNvPr id="19" name="양쪽 모서리가 둥근 사각형 18"/>
          <p:cNvSpPr/>
          <p:nvPr/>
        </p:nvSpPr>
        <p:spPr>
          <a:xfrm>
            <a:off x="13807439" y="35535656"/>
            <a:ext cx="12397803" cy="1080000"/>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3671" b="1" dirty="0">
                <a:solidFill>
                  <a:schemeClr val="bg1"/>
                </a:solidFill>
                <a:latin typeface="+mn-ea"/>
              </a:rPr>
              <a:t>결  론</a:t>
            </a:r>
            <a:endParaRPr lang="ko-KR" altLang="en-US" sz="4000" b="1" dirty="0">
              <a:solidFill>
                <a:schemeClr val="bg1"/>
              </a:solidFill>
              <a:latin typeface="+mn-ea"/>
            </a:endParaRPr>
          </a:p>
        </p:txBody>
      </p:sp>
      <p:sp>
        <p:nvSpPr>
          <p:cNvPr id="20" name="양쪽 모서리가 둥근 사각형 19"/>
          <p:cNvSpPr/>
          <p:nvPr/>
        </p:nvSpPr>
        <p:spPr>
          <a:xfrm>
            <a:off x="745267" y="7635008"/>
            <a:ext cx="12364477" cy="1080000"/>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71" b="1" dirty="0">
                <a:solidFill>
                  <a:schemeClr val="bg1"/>
                </a:solidFill>
                <a:latin typeface="+mn-ea"/>
              </a:rPr>
              <a:t>ABSTRACT</a:t>
            </a:r>
            <a:endParaRPr lang="ko-KR" altLang="en-US" sz="3671" b="1" dirty="0">
              <a:solidFill>
                <a:schemeClr val="bg1"/>
              </a:solidFill>
              <a:latin typeface="+mn-ea"/>
            </a:endParaRPr>
          </a:p>
        </p:txBody>
      </p:sp>
      <p:sp>
        <p:nvSpPr>
          <p:cNvPr id="21" name="양쪽 모서리가 둥근 사각형 20"/>
          <p:cNvSpPr/>
          <p:nvPr/>
        </p:nvSpPr>
        <p:spPr>
          <a:xfrm>
            <a:off x="13807440" y="7604528"/>
            <a:ext cx="12397803" cy="1080000"/>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71" b="1" dirty="0">
                <a:solidFill>
                  <a:schemeClr val="bg1"/>
                </a:solidFill>
                <a:latin typeface="+mn-ea"/>
              </a:rPr>
              <a:t>RESULTS</a:t>
            </a:r>
            <a:endParaRPr lang="ko-KR" altLang="en-US" sz="4000" b="1" dirty="0">
              <a:solidFill>
                <a:schemeClr val="bg1"/>
              </a:solidFill>
              <a:latin typeface="+mn-ea"/>
            </a:endParaRPr>
          </a:p>
        </p:txBody>
      </p:sp>
      <p:sp>
        <p:nvSpPr>
          <p:cNvPr id="22" name="양쪽 모서리가 둥근 사각형 21"/>
          <p:cNvSpPr/>
          <p:nvPr/>
        </p:nvSpPr>
        <p:spPr>
          <a:xfrm>
            <a:off x="730265" y="14348029"/>
            <a:ext cx="12364476" cy="1080000"/>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71" b="1" dirty="0">
                <a:solidFill>
                  <a:schemeClr val="bg1"/>
                </a:solidFill>
                <a:latin typeface="+mn-ea"/>
              </a:rPr>
              <a:t>INTRODUCTION</a:t>
            </a:r>
            <a:endParaRPr lang="ko-KR" altLang="en-US" sz="3671" b="1" dirty="0">
              <a:solidFill>
                <a:schemeClr val="bg1"/>
              </a:solidFill>
              <a:latin typeface="+mn-ea"/>
            </a:endParaRPr>
          </a:p>
        </p:txBody>
      </p:sp>
      <p:sp>
        <p:nvSpPr>
          <p:cNvPr id="23" name="TextBox 22"/>
          <p:cNvSpPr txBox="1"/>
          <p:nvPr/>
        </p:nvSpPr>
        <p:spPr>
          <a:xfrm>
            <a:off x="1038857" y="20569877"/>
            <a:ext cx="153904" cy="335126"/>
          </a:xfrm>
          <a:prstGeom prst="rect">
            <a:avLst/>
          </a:prstGeom>
          <a:noFill/>
        </p:spPr>
        <p:txBody>
          <a:bodyPr wrap="none" lIns="76176" tIns="38085" rIns="76176" bIns="38085" rtlCol="0">
            <a:spAutoFit/>
          </a:bodyPr>
          <a:lstStyle/>
          <a:p>
            <a:endParaRPr lang="ko-KR" altLang="en-US" sz="1678" dirty="0">
              <a:latin typeface="+mn-ea"/>
            </a:endParaRPr>
          </a:p>
        </p:txBody>
      </p:sp>
      <p:sp>
        <p:nvSpPr>
          <p:cNvPr id="24" name="순서도: 처리 23"/>
          <p:cNvSpPr/>
          <p:nvPr/>
        </p:nvSpPr>
        <p:spPr>
          <a:xfrm>
            <a:off x="745267" y="9237469"/>
            <a:ext cx="12364476" cy="4570623"/>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fontAlgn="base" latinLnBrk="1">
              <a:lnSpc>
                <a:spcPct val="160000"/>
              </a:lnSpc>
              <a:tabLst>
                <a:tab pos="401066" algn="l"/>
                <a:tab pos="802132" algn="l"/>
                <a:tab pos="895380" algn="l"/>
                <a:tab pos="1203198" algn="l"/>
                <a:tab pos="1604264" algn="l"/>
                <a:tab pos="2005330" algn="l"/>
                <a:tab pos="2406396" algn="l"/>
                <a:tab pos="2807462" algn="l"/>
                <a:tab pos="3208528" algn="l"/>
                <a:tab pos="3609594" algn="l"/>
                <a:tab pos="4010660" algn="l"/>
                <a:tab pos="4411726" algn="l"/>
                <a:tab pos="4812792" algn="l"/>
                <a:tab pos="5213858" algn="l"/>
                <a:tab pos="5614924" algn="l"/>
                <a:tab pos="6015990" algn="l"/>
                <a:tab pos="6417056" algn="l"/>
                <a:tab pos="6818122" algn="l"/>
                <a:tab pos="7219188" algn="l"/>
                <a:tab pos="7620254" algn="l"/>
                <a:tab pos="8021320" algn="l"/>
                <a:tab pos="8422386" algn="l"/>
                <a:tab pos="8823452" algn="l"/>
                <a:tab pos="9224518" algn="l"/>
                <a:tab pos="9625584" algn="l"/>
                <a:tab pos="10026650" algn="l"/>
                <a:tab pos="10427716" algn="l"/>
                <a:tab pos="10828782" algn="l"/>
                <a:tab pos="11229848" algn="l"/>
                <a:tab pos="11630914" algn="l"/>
                <a:tab pos="12031980" algn="l"/>
                <a:tab pos="12433046" algn="l"/>
              </a:tabLst>
            </a:pPr>
            <a:r>
              <a:rPr lang="en-US" altLang="ko-KR" sz="2100" kern="0" dirty="0">
                <a:solidFill>
                  <a:srgbClr val="000000"/>
                </a:solidFill>
                <a:latin typeface="+mj-ea"/>
                <a:ea typeface="+mj-ea"/>
              </a:rPr>
              <a:t>Setting a flight path that avoids obstacles or no-fly zones is crucial for ensuring safe and efficient drone operations in complex environments. This study introduces cases of existing obstacle avoidance path planning methods and proposes an improved approach. The proposed method incorporates a safety distance from obstacle areas into the path planning, taking into account the positioning errors of drones. This approach reduces the likelihood of encroaching on obstacle areas due to positioning errors, thereby enhancing compliance with regulations and overall safety. The proposed method demonstrates examples of path planning that maintain a margin from obstacle areas, showcasing its effectiveness in ensuring safe distances.</a:t>
            </a:r>
          </a:p>
        </p:txBody>
      </p:sp>
      <p:sp>
        <p:nvSpPr>
          <p:cNvPr id="25" name="순서도: 처리 24"/>
          <p:cNvSpPr/>
          <p:nvPr/>
        </p:nvSpPr>
        <p:spPr>
          <a:xfrm>
            <a:off x="13768992" y="36897024"/>
            <a:ext cx="12397804" cy="2571555"/>
          </a:xfrm>
          <a:prstGeom prst="flowChartProcess">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latinLnBrk="1">
              <a:lnSpc>
                <a:spcPct val="150000"/>
              </a:lnSpc>
            </a:pPr>
            <a:r>
              <a:rPr lang="ko-KR" altLang="ko-KR" sz="2100" kern="100" dirty="0">
                <a:solidFill>
                  <a:srgbClr val="000000"/>
                </a:solidFill>
                <a:effectLst/>
                <a:latin typeface="+mn-ea"/>
                <a:cs typeface="바탕" panose="02030600000101010101" pitchFamily="18" charset="-127"/>
              </a:rPr>
              <a:t> 이상의 내용을 통해 </a:t>
            </a:r>
            <a:r>
              <a:rPr lang="ko-KR" altLang="ko-KR" sz="2100" kern="100" dirty="0" err="1">
                <a:solidFill>
                  <a:srgbClr val="000000"/>
                </a:solidFill>
                <a:effectLst/>
                <a:latin typeface="+mn-ea"/>
                <a:cs typeface="바탕" panose="02030600000101010101" pitchFamily="18" charset="-127"/>
              </a:rPr>
              <a:t>드론</a:t>
            </a:r>
            <a:r>
              <a:rPr lang="ko-KR" altLang="ko-KR" sz="2100" kern="100" dirty="0">
                <a:solidFill>
                  <a:srgbClr val="000000"/>
                </a:solidFill>
                <a:effectLst/>
                <a:latin typeface="+mn-ea"/>
                <a:cs typeface="바탕" panose="02030600000101010101" pitchFamily="18" charset="-127"/>
              </a:rPr>
              <a:t> 비행 제한 구역을 감안한 </a:t>
            </a:r>
            <a:r>
              <a:rPr lang="ko-KR" altLang="ko-KR" sz="2100" kern="100" dirty="0" err="1">
                <a:solidFill>
                  <a:srgbClr val="000000"/>
                </a:solidFill>
                <a:effectLst/>
                <a:latin typeface="+mn-ea"/>
                <a:cs typeface="바탕" panose="02030600000101010101" pitchFamily="18" charset="-127"/>
              </a:rPr>
              <a:t>드론</a:t>
            </a:r>
            <a:r>
              <a:rPr lang="ko-KR" altLang="ko-KR" sz="2100" kern="100" dirty="0">
                <a:solidFill>
                  <a:srgbClr val="000000"/>
                </a:solidFill>
                <a:effectLst/>
                <a:latin typeface="+mn-ea"/>
                <a:cs typeface="바탕" panose="02030600000101010101" pitchFamily="18" charset="-127"/>
              </a:rPr>
              <a:t> 경로 설정에서 </a:t>
            </a:r>
            <a:r>
              <a:rPr lang="ko-KR" altLang="ko-KR" sz="2100" kern="100" dirty="0" err="1">
                <a:solidFill>
                  <a:srgbClr val="000000"/>
                </a:solidFill>
                <a:effectLst/>
                <a:latin typeface="+mn-ea"/>
                <a:cs typeface="HY신명조" panose="02030600000101010101" pitchFamily="18" charset="-127"/>
              </a:rPr>
              <a:t>드론의</a:t>
            </a:r>
            <a:r>
              <a:rPr lang="ko-KR" altLang="ko-KR" sz="2100" kern="100" dirty="0">
                <a:solidFill>
                  <a:srgbClr val="000000"/>
                </a:solidFill>
                <a:effectLst/>
                <a:latin typeface="+mn-ea"/>
                <a:cs typeface="HY신명조" panose="02030600000101010101" pitchFamily="18" charset="-127"/>
              </a:rPr>
              <a:t> </a:t>
            </a:r>
            <a:r>
              <a:rPr lang="ko-KR" altLang="ko-KR" sz="2100" kern="100" dirty="0" err="1">
                <a:solidFill>
                  <a:srgbClr val="000000"/>
                </a:solidFill>
                <a:effectLst/>
                <a:latin typeface="+mn-ea"/>
                <a:cs typeface="HY신명조" panose="02030600000101010101" pitchFamily="18" charset="-127"/>
              </a:rPr>
              <a:t>측위</a:t>
            </a:r>
            <a:r>
              <a:rPr lang="ko-KR" altLang="ko-KR" sz="2100" kern="100" dirty="0">
                <a:solidFill>
                  <a:srgbClr val="000000"/>
                </a:solidFill>
                <a:effectLst/>
                <a:latin typeface="+mn-ea"/>
                <a:cs typeface="HY신명조" panose="02030600000101010101" pitchFamily="18" charset="-127"/>
              </a:rPr>
              <a:t> 오차 등을 감안</a:t>
            </a:r>
            <a:r>
              <a:rPr lang="en-US" altLang="ko-KR" sz="2100" kern="100" dirty="0">
                <a:solidFill>
                  <a:srgbClr val="000000"/>
                </a:solidFill>
                <a:effectLst/>
                <a:latin typeface="+mn-ea"/>
                <a:cs typeface="HY신명조" panose="02030600000101010101" pitchFamily="18" charset="-127"/>
              </a:rPr>
              <a:t>.</a:t>
            </a:r>
            <a:r>
              <a:rPr lang="ko-KR" altLang="ko-KR" sz="2100" kern="100" dirty="0">
                <a:solidFill>
                  <a:srgbClr val="000000"/>
                </a:solidFill>
                <a:effectLst/>
                <a:latin typeface="+mn-ea"/>
                <a:cs typeface="HY신명조" panose="02030600000101010101" pitchFamily="18" charset="-127"/>
              </a:rPr>
              <a:t> 장애지역으로부터의 안전 거리를 두어 경로 설정에 반영될 수 있도록 하는 방안을 고찰하고 안전성이 향상되는 대신에 총 거리가 다소 증가함을 살펴 </a:t>
            </a:r>
            <a:r>
              <a:rPr lang="ko-KR" altLang="en-US" sz="2100" kern="100" dirty="0">
                <a:solidFill>
                  <a:srgbClr val="000000"/>
                </a:solidFill>
                <a:latin typeface="+mn-ea"/>
                <a:cs typeface="HY신명조" panose="02030600000101010101" pitchFamily="18" charset="-127"/>
              </a:rPr>
              <a:t>봄</a:t>
            </a:r>
            <a:r>
              <a:rPr lang="en-US" altLang="ko-KR" sz="2100" kern="100" dirty="0">
                <a:solidFill>
                  <a:srgbClr val="000000"/>
                </a:solidFill>
                <a:effectLst/>
                <a:latin typeface="+mn-ea"/>
                <a:cs typeface="HY신명조" panose="02030600000101010101" pitchFamily="18" charset="-127"/>
              </a:rPr>
              <a:t>. </a:t>
            </a:r>
            <a:r>
              <a:rPr lang="ko-KR" altLang="ko-KR" sz="2100" kern="100" dirty="0">
                <a:solidFill>
                  <a:srgbClr val="000000"/>
                </a:solidFill>
                <a:effectLst/>
                <a:latin typeface="+mn-ea"/>
                <a:cs typeface="HY신명조" panose="02030600000101010101" pitchFamily="18" charset="-127"/>
              </a:rPr>
              <a:t>이를 통해 보다 안전한 </a:t>
            </a:r>
            <a:r>
              <a:rPr lang="ko-KR" altLang="ko-KR" sz="2100" kern="100" dirty="0" err="1">
                <a:solidFill>
                  <a:srgbClr val="000000"/>
                </a:solidFill>
                <a:effectLst/>
                <a:latin typeface="+mn-ea"/>
                <a:cs typeface="HY신명조" panose="02030600000101010101" pitchFamily="18" charset="-127"/>
              </a:rPr>
              <a:t>드론</a:t>
            </a:r>
            <a:r>
              <a:rPr lang="ko-KR" altLang="ko-KR" sz="2100" kern="100" dirty="0">
                <a:solidFill>
                  <a:srgbClr val="000000"/>
                </a:solidFill>
                <a:effectLst/>
                <a:latin typeface="+mn-ea"/>
                <a:cs typeface="HY신명조" panose="02030600000101010101" pitchFamily="18" charset="-127"/>
              </a:rPr>
              <a:t> 운항이 가능하며</a:t>
            </a:r>
            <a:r>
              <a:rPr lang="en-US" altLang="ko-KR" sz="2100" kern="100" dirty="0">
                <a:solidFill>
                  <a:srgbClr val="000000"/>
                </a:solidFill>
                <a:effectLst/>
                <a:latin typeface="+mn-ea"/>
                <a:cs typeface="HY신명조" panose="02030600000101010101" pitchFamily="18" charset="-127"/>
              </a:rPr>
              <a:t>, </a:t>
            </a:r>
            <a:r>
              <a:rPr lang="ko-KR" altLang="ko-KR" sz="2100" kern="100" dirty="0">
                <a:solidFill>
                  <a:srgbClr val="000000"/>
                </a:solidFill>
                <a:effectLst/>
                <a:latin typeface="+mn-ea"/>
                <a:cs typeface="HY신명조" panose="02030600000101010101" pitchFamily="18" charset="-127"/>
              </a:rPr>
              <a:t>향후 추가적인 이론적 고찰과 분석을 통해 </a:t>
            </a:r>
            <a:r>
              <a:rPr lang="ko-KR" altLang="ko-KR" sz="2100" kern="100" dirty="0" err="1">
                <a:solidFill>
                  <a:srgbClr val="000000"/>
                </a:solidFill>
                <a:effectLst/>
                <a:latin typeface="+mn-ea"/>
                <a:cs typeface="HY신명조" panose="02030600000101010101" pitchFamily="18" charset="-127"/>
              </a:rPr>
              <a:t>드론</a:t>
            </a:r>
            <a:r>
              <a:rPr lang="ko-KR" altLang="ko-KR" sz="2100" kern="100" dirty="0">
                <a:solidFill>
                  <a:srgbClr val="000000"/>
                </a:solidFill>
                <a:effectLst/>
                <a:latin typeface="+mn-ea"/>
                <a:cs typeface="HY신명조" panose="02030600000101010101" pitchFamily="18" charset="-127"/>
              </a:rPr>
              <a:t> </a:t>
            </a:r>
            <a:r>
              <a:rPr lang="ko-KR" altLang="ko-KR" sz="2100" kern="100" dirty="0" err="1">
                <a:solidFill>
                  <a:srgbClr val="000000"/>
                </a:solidFill>
                <a:effectLst/>
                <a:latin typeface="+mn-ea"/>
                <a:cs typeface="HY신명조" panose="02030600000101010101" pitchFamily="18" charset="-127"/>
              </a:rPr>
              <a:t>측위</a:t>
            </a:r>
            <a:r>
              <a:rPr lang="ko-KR" altLang="ko-KR" sz="2100" kern="100" dirty="0">
                <a:solidFill>
                  <a:srgbClr val="000000"/>
                </a:solidFill>
                <a:effectLst/>
                <a:latin typeface="+mn-ea"/>
                <a:cs typeface="HY신명조" panose="02030600000101010101" pitchFamily="18" charset="-127"/>
              </a:rPr>
              <a:t> 오차의 수준에 따른 경로 설정의 해와 경로 거리 등 성능의 변화에 대한 심화 연구가 </a:t>
            </a:r>
            <a:r>
              <a:rPr lang="ko-KR" altLang="ko-KR" sz="2100" kern="100" dirty="0">
                <a:solidFill>
                  <a:srgbClr val="000000"/>
                </a:solidFill>
                <a:effectLst/>
                <a:latin typeface="+mn-ea"/>
                <a:cs typeface="바탕" panose="02030600000101010101" pitchFamily="18" charset="-127"/>
              </a:rPr>
              <a:t>기대</a:t>
            </a:r>
            <a:r>
              <a:rPr lang="ko-KR" altLang="en-US" sz="2100" kern="100" dirty="0">
                <a:solidFill>
                  <a:srgbClr val="000000"/>
                </a:solidFill>
                <a:effectLst/>
                <a:latin typeface="+mn-ea"/>
                <a:cs typeface="바탕" panose="02030600000101010101" pitchFamily="18" charset="-127"/>
              </a:rPr>
              <a:t>됨</a:t>
            </a:r>
            <a:r>
              <a:rPr lang="en-US" altLang="ko-KR" sz="2100" kern="100" dirty="0">
                <a:solidFill>
                  <a:srgbClr val="000000"/>
                </a:solidFill>
                <a:effectLst/>
                <a:latin typeface="+mn-ea"/>
                <a:cs typeface="바탕" panose="02030600000101010101" pitchFamily="18" charset="-127"/>
              </a:rPr>
              <a:t>. </a:t>
            </a:r>
            <a:endParaRPr lang="ko-KR" altLang="ko-KR" sz="2100" kern="100" dirty="0">
              <a:solidFill>
                <a:srgbClr val="000000"/>
              </a:solidFill>
              <a:effectLst/>
              <a:latin typeface="+mn-ea"/>
              <a:cs typeface="HY신명조" panose="02030600000101010101" pitchFamily="18" charset="-127"/>
            </a:endParaRPr>
          </a:p>
        </p:txBody>
      </p:sp>
      <p:sp>
        <p:nvSpPr>
          <p:cNvPr id="27" name="타원 26">
            <a:extLst>
              <a:ext uri="{FF2B5EF4-FFF2-40B4-BE49-F238E27FC236}">
                <a16:creationId xmlns:a16="http://schemas.microsoft.com/office/drawing/2014/main" id="{594DB4FC-C7DA-4495-8151-FEE2282E5C31}"/>
              </a:ext>
            </a:extLst>
          </p:cNvPr>
          <p:cNvSpPr/>
          <p:nvPr/>
        </p:nvSpPr>
        <p:spPr>
          <a:xfrm>
            <a:off x="20918294" y="19867144"/>
            <a:ext cx="180008" cy="180008"/>
          </a:xfrm>
          <a:prstGeom prst="ellipse">
            <a:avLst/>
          </a:prstGeom>
          <a:solidFill>
            <a:srgbClr val="DBE5E5"/>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76200" tIns="38102" rIns="76200" bIns="38102" numCol="1" spcCol="0" rtlCol="0" fromWordArt="0" anchor="ctr" anchorCtr="0" forceAA="0" compatLnSpc="1">
            <a:prstTxWarp prst="textNoShape">
              <a:avLst/>
            </a:prstTxWarp>
            <a:noAutofit/>
          </a:bodyPr>
          <a:lstStyle/>
          <a:p>
            <a:pPr algn="ctr"/>
            <a:endParaRPr lang="ko-KR" altLang="en-US" sz="2335" dirty="0">
              <a:latin typeface="+mn-ea"/>
            </a:endParaRPr>
          </a:p>
        </p:txBody>
      </p:sp>
      <p:sp>
        <p:nvSpPr>
          <p:cNvPr id="28" name="타원 27">
            <a:extLst>
              <a:ext uri="{FF2B5EF4-FFF2-40B4-BE49-F238E27FC236}">
                <a16:creationId xmlns:a16="http://schemas.microsoft.com/office/drawing/2014/main" id="{3D75F29A-1B4E-42D6-9CBC-05CAEE6D819C}"/>
              </a:ext>
            </a:extLst>
          </p:cNvPr>
          <p:cNvSpPr/>
          <p:nvPr/>
        </p:nvSpPr>
        <p:spPr>
          <a:xfrm>
            <a:off x="22718399" y="26764956"/>
            <a:ext cx="180008" cy="180008"/>
          </a:xfrm>
          <a:prstGeom prst="ellipse">
            <a:avLst/>
          </a:prstGeom>
          <a:solidFill>
            <a:srgbClr val="DBE5E5"/>
          </a:solid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76200" tIns="38102" rIns="76200" bIns="38102" numCol="1" spcCol="0" rtlCol="0" fromWordArt="0" anchor="ctr" anchorCtr="0" forceAA="0" compatLnSpc="1">
            <a:prstTxWarp prst="textNoShape">
              <a:avLst/>
            </a:prstTxWarp>
            <a:noAutofit/>
          </a:bodyPr>
          <a:lstStyle/>
          <a:p>
            <a:pPr algn="ctr"/>
            <a:endParaRPr lang="ko-KR" altLang="en-US" sz="2335" dirty="0">
              <a:latin typeface="+mn-ea"/>
            </a:endParaRPr>
          </a:p>
        </p:txBody>
      </p:sp>
      <p:sp>
        <p:nvSpPr>
          <p:cNvPr id="38" name="순서도: 처리 37"/>
          <p:cNvSpPr/>
          <p:nvPr/>
        </p:nvSpPr>
        <p:spPr>
          <a:xfrm>
            <a:off x="14993634" y="14021453"/>
            <a:ext cx="4496870" cy="1395494"/>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ctr"/>
            <a:r>
              <a:rPr lang="en-US" altLang="ko-KR" sz="2211" dirty="0">
                <a:solidFill>
                  <a:srgbClr val="000000"/>
                </a:solidFill>
                <a:highlight>
                  <a:srgbClr val="FDFDFD"/>
                </a:highlight>
                <a:latin typeface="+mj-ea"/>
                <a:ea typeface="+mj-ea"/>
              </a:rPr>
              <a:t>(a) </a:t>
            </a:r>
            <a:r>
              <a:rPr lang="ko-KR" altLang="en-US" sz="2211" dirty="0">
                <a:solidFill>
                  <a:srgbClr val="000000"/>
                </a:solidFill>
                <a:highlight>
                  <a:srgbClr val="FDFDFD"/>
                </a:highlight>
                <a:latin typeface="+mj-ea"/>
                <a:ea typeface="+mj-ea"/>
              </a:rPr>
              <a:t>모든 가능 경로</a:t>
            </a:r>
            <a:br>
              <a:rPr lang="ko-KR" altLang="en-US" sz="2211" dirty="0">
                <a:latin typeface="+mj-ea"/>
                <a:ea typeface="+mj-ea"/>
              </a:rPr>
            </a:br>
            <a:r>
              <a:rPr lang="en-US" altLang="ko-KR" sz="2211" dirty="0">
                <a:latin typeface="+mj-ea"/>
                <a:ea typeface="+mj-ea"/>
              </a:rPr>
              <a:t>(</a:t>
            </a:r>
            <a:r>
              <a:rPr lang="en-US" altLang="ko-KR" sz="2211" dirty="0">
                <a:solidFill>
                  <a:srgbClr val="000000"/>
                </a:solidFill>
                <a:highlight>
                  <a:srgbClr val="FDFDFD"/>
                </a:highlight>
                <a:latin typeface="+mj-ea"/>
                <a:ea typeface="+mj-ea"/>
              </a:rPr>
              <a:t>4x4</a:t>
            </a:r>
            <a:r>
              <a:rPr lang="ko-KR" altLang="en-US" sz="2211" dirty="0">
                <a:solidFill>
                  <a:srgbClr val="000000"/>
                </a:solidFill>
                <a:highlight>
                  <a:srgbClr val="FDFDFD"/>
                </a:highlight>
                <a:latin typeface="+mj-ea"/>
                <a:ea typeface="+mj-ea"/>
              </a:rPr>
              <a:t> </a:t>
            </a:r>
            <a:r>
              <a:rPr lang="ko-KR" altLang="en-US" sz="2100" dirty="0">
                <a:solidFill>
                  <a:srgbClr val="000000"/>
                </a:solidFill>
                <a:highlight>
                  <a:srgbClr val="FDFDFD"/>
                </a:highlight>
                <a:latin typeface="+mj-ea"/>
                <a:ea typeface="+mj-ea"/>
              </a:rPr>
              <a:t>격자에서의</a:t>
            </a:r>
            <a:r>
              <a:rPr lang="ko-KR" altLang="en-US" sz="2211" dirty="0">
                <a:solidFill>
                  <a:srgbClr val="000000"/>
                </a:solidFill>
                <a:highlight>
                  <a:srgbClr val="FDFDFD"/>
                </a:highlight>
                <a:latin typeface="+mj-ea"/>
                <a:ea typeface="+mj-ea"/>
              </a:rPr>
              <a:t> 모든 지점에서 다른 지점까지의 가능한 경로</a:t>
            </a:r>
            <a:r>
              <a:rPr lang="en-US" altLang="ko-KR" sz="2211" dirty="0">
                <a:solidFill>
                  <a:srgbClr val="000000"/>
                </a:solidFill>
                <a:highlight>
                  <a:srgbClr val="FDFDFD"/>
                </a:highlight>
                <a:latin typeface="+mj-ea"/>
                <a:ea typeface="+mj-ea"/>
              </a:rPr>
              <a:t>)</a:t>
            </a:r>
            <a:endParaRPr lang="en-US" altLang="ko-KR" sz="2211" dirty="0">
              <a:latin typeface="+mj-ea"/>
              <a:ea typeface="+mj-ea"/>
            </a:endParaRPr>
          </a:p>
        </p:txBody>
      </p:sp>
      <p:sp>
        <p:nvSpPr>
          <p:cNvPr id="31" name="순서도: 처리 30"/>
          <p:cNvSpPr/>
          <p:nvPr/>
        </p:nvSpPr>
        <p:spPr>
          <a:xfrm>
            <a:off x="745266" y="15950861"/>
            <a:ext cx="12349475" cy="7187043"/>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just" fontAlgn="base" latinLnBrk="1">
              <a:lnSpc>
                <a:spcPct val="200000"/>
              </a:lnSpc>
            </a:pPr>
            <a:r>
              <a:rPr lang="ko-KR" altLang="en-US" sz="2100" kern="0" dirty="0" err="1">
                <a:solidFill>
                  <a:srgbClr val="000000"/>
                </a:solidFill>
                <a:latin typeface="+mj-ea"/>
                <a:ea typeface="+mj-ea"/>
              </a:rPr>
              <a:t>드론</a:t>
            </a:r>
            <a:r>
              <a:rPr lang="ko-KR" altLang="en-US" sz="2100" kern="0" dirty="0">
                <a:solidFill>
                  <a:srgbClr val="000000"/>
                </a:solidFill>
                <a:latin typeface="+mj-ea"/>
                <a:ea typeface="+mj-ea"/>
              </a:rPr>
              <a:t> 운항에서의 장애 또는 비행 제한 지역을 회피하여 경로를 설정하는 것은 </a:t>
            </a:r>
            <a:r>
              <a:rPr lang="ko-KR" altLang="en-US" sz="2100" kern="0" dirty="0" err="1">
                <a:solidFill>
                  <a:srgbClr val="000000"/>
                </a:solidFill>
                <a:latin typeface="+mj-ea"/>
                <a:ea typeface="+mj-ea"/>
              </a:rPr>
              <a:t>드론이</a:t>
            </a:r>
            <a:r>
              <a:rPr lang="ko-KR" altLang="en-US" sz="2100" kern="0" dirty="0">
                <a:solidFill>
                  <a:srgbClr val="000000"/>
                </a:solidFill>
                <a:latin typeface="+mj-ea"/>
                <a:ea typeface="+mj-ea"/>
              </a:rPr>
              <a:t> 복잡한 환경에서 안전하고 효율적으로 비행할 수 있도록 하는 데 중요한 요소임</a:t>
            </a:r>
            <a:r>
              <a:rPr lang="en-US" altLang="ko-KR" sz="2100" kern="0" dirty="0">
                <a:solidFill>
                  <a:srgbClr val="000000"/>
                </a:solidFill>
                <a:latin typeface="+mj-ea"/>
                <a:ea typeface="+mj-ea"/>
              </a:rPr>
              <a:t>. </a:t>
            </a:r>
            <a:r>
              <a:rPr lang="ko-KR" altLang="en-US" sz="2100" kern="0" dirty="0" err="1">
                <a:solidFill>
                  <a:srgbClr val="000000"/>
                </a:solidFill>
                <a:latin typeface="+mj-ea"/>
                <a:ea typeface="+mj-ea"/>
              </a:rPr>
              <a:t>드론</a:t>
            </a:r>
            <a:r>
              <a:rPr lang="ko-KR" altLang="en-US" sz="2100" kern="0" dirty="0">
                <a:solidFill>
                  <a:srgbClr val="000000"/>
                </a:solidFill>
                <a:latin typeface="+mj-ea"/>
                <a:ea typeface="+mj-ea"/>
              </a:rPr>
              <a:t> 경로 설정 문제에서 경로의 안전성에 관해 추가적인 제약 조건을 반영하는 방안으로 장애물 위치를 반영하거나 장애 지역을 설정하고 해당 위치나 지역을 </a:t>
            </a:r>
            <a:r>
              <a:rPr lang="ko-KR" altLang="en-US" sz="2100" kern="0" dirty="0" err="1">
                <a:solidFill>
                  <a:srgbClr val="000000"/>
                </a:solidFill>
                <a:latin typeface="+mj-ea"/>
                <a:ea typeface="+mj-ea"/>
              </a:rPr>
              <a:t>드론</a:t>
            </a:r>
            <a:r>
              <a:rPr lang="ko-KR" altLang="en-US" sz="2100" kern="0" dirty="0">
                <a:solidFill>
                  <a:srgbClr val="000000"/>
                </a:solidFill>
                <a:latin typeface="+mj-ea"/>
                <a:ea typeface="+mj-ea"/>
              </a:rPr>
              <a:t> 비행 가능 경로에 해당 지역을 제외하는 방안에 대한 연구가 진행됨</a:t>
            </a:r>
            <a:r>
              <a:rPr lang="en-US" altLang="ko-KR" sz="2100" kern="0" dirty="0">
                <a:solidFill>
                  <a:srgbClr val="000000"/>
                </a:solidFill>
                <a:latin typeface="+mj-ea"/>
                <a:ea typeface="+mj-ea"/>
              </a:rPr>
              <a:t>. </a:t>
            </a:r>
            <a:r>
              <a:rPr lang="ko-KR" altLang="en-US" sz="2100" kern="0" dirty="0">
                <a:solidFill>
                  <a:srgbClr val="000000"/>
                </a:solidFill>
                <a:latin typeface="+mj-ea"/>
                <a:ea typeface="+mj-ea"/>
              </a:rPr>
              <a:t>본 연구에서는 </a:t>
            </a:r>
            <a:r>
              <a:rPr lang="ko-KR" altLang="en-US" sz="2100" kern="0" dirty="0" err="1">
                <a:solidFill>
                  <a:srgbClr val="000000"/>
                </a:solidFill>
                <a:latin typeface="+mj-ea"/>
                <a:ea typeface="+mj-ea"/>
              </a:rPr>
              <a:t>드론</a:t>
            </a:r>
            <a:r>
              <a:rPr lang="ko-KR" altLang="en-US" sz="2100" kern="0" dirty="0">
                <a:solidFill>
                  <a:srgbClr val="000000"/>
                </a:solidFill>
                <a:latin typeface="+mj-ea"/>
                <a:ea typeface="+mj-ea"/>
              </a:rPr>
              <a:t> 비행 제한 구역을 감안한 </a:t>
            </a:r>
            <a:r>
              <a:rPr lang="ko-KR" altLang="en-US" sz="2100" kern="0" dirty="0" err="1">
                <a:solidFill>
                  <a:srgbClr val="000000"/>
                </a:solidFill>
                <a:latin typeface="+mj-ea"/>
                <a:ea typeface="+mj-ea"/>
              </a:rPr>
              <a:t>드론</a:t>
            </a:r>
            <a:r>
              <a:rPr lang="ko-KR" altLang="en-US" sz="2100" kern="0" dirty="0">
                <a:solidFill>
                  <a:srgbClr val="000000"/>
                </a:solidFill>
                <a:latin typeface="+mj-ea"/>
                <a:ea typeface="+mj-ea"/>
              </a:rPr>
              <a:t> 경로 설정에서 </a:t>
            </a:r>
            <a:r>
              <a:rPr lang="ko-KR" altLang="en-US" sz="2100" kern="0" dirty="0" err="1">
                <a:solidFill>
                  <a:srgbClr val="000000"/>
                </a:solidFill>
                <a:latin typeface="+mj-ea"/>
                <a:ea typeface="+mj-ea"/>
              </a:rPr>
              <a:t>드론의</a:t>
            </a:r>
            <a:r>
              <a:rPr lang="ko-KR" altLang="en-US" sz="2100" kern="0" dirty="0">
                <a:solidFill>
                  <a:srgbClr val="000000"/>
                </a:solidFill>
                <a:latin typeface="+mj-ea"/>
                <a:ea typeface="+mj-ea"/>
              </a:rPr>
              <a:t> </a:t>
            </a:r>
            <a:r>
              <a:rPr lang="ko-KR" altLang="en-US" sz="2100" kern="0" dirty="0" err="1">
                <a:solidFill>
                  <a:srgbClr val="000000"/>
                </a:solidFill>
                <a:latin typeface="+mj-ea"/>
                <a:ea typeface="+mj-ea"/>
              </a:rPr>
              <a:t>측위</a:t>
            </a:r>
            <a:r>
              <a:rPr lang="ko-KR" altLang="en-US" sz="2100" kern="0" dirty="0">
                <a:solidFill>
                  <a:srgbClr val="000000"/>
                </a:solidFill>
                <a:latin typeface="+mj-ea"/>
                <a:ea typeface="+mj-ea"/>
              </a:rPr>
              <a:t> 오차 등을 감안하고</a:t>
            </a:r>
            <a:r>
              <a:rPr lang="en-US" altLang="ko-KR" sz="2100" kern="0" dirty="0">
                <a:solidFill>
                  <a:srgbClr val="000000"/>
                </a:solidFill>
                <a:latin typeface="+mj-ea"/>
                <a:ea typeface="+mj-ea"/>
              </a:rPr>
              <a:t>,</a:t>
            </a:r>
            <a:r>
              <a:rPr lang="ko-KR" altLang="en-US" sz="2100" kern="0" dirty="0">
                <a:solidFill>
                  <a:srgbClr val="000000"/>
                </a:solidFill>
                <a:latin typeface="+mj-ea"/>
                <a:ea typeface="+mj-ea"/>
              </a:rPr>
              <a:t> 장애지역으로부터의 안전 거리를 두어 경로 설정에 반영될 수 있도록 하는 방안을 제안</a:t>
            </a:r>
            <a:r>
              <a:rPr lang="en-US" altLang="ko-KR" sz="2100" kern="0" dirty="0">
                <a:solidFill>
                  <a:srgbClr val="000000"/>
                </a:solidFill>
                <a:latin typeface="+mj-ea"/>
                <a:ea typeface="+mj-ea"/>
              </a:rPr>
              <a:t>. </a:t>
            </a:r>
            <a:r>
              <a:rPr lang="ko-KR" altLang="en-US" sz="2100" kern="0" dirty="0">
                <a:solidFill>
                  <a:srgbClr val="000000"/>
                </a:solidFill>
                <a:latin typeface="+mj-ea"/>
                <a:ea typeface="+mj-ea"/>
              </a:rPr>
              <a:t>이를 통해 위치 측정 오차 등으로 인한 장애지역 침범의 가능성을 낮추고 장애 지역에 대한 법령 준수와 안전성을 한층 강화할 수 있음</a:t>
            </a:r>
            <a:r>
              <a:rPr lang="en-US" altLang="ko-KR" sz="2100" kern="0" dirty="0">
                <a:solidFill>
                  <a:srgbClr val="000000"/>
                </a:solidFill>
                <a:latin typeface="+mj-ea"/>
                <a:ea typeface="+mj-ea"/>
              </a:rPr>
              <a:t>. </a:t>
            </a:r>
            <a:r>
              <a:rPr lang="ko-KR" altLang="en-US" sz="2100" kern="0" dirty="0">
                <a:solidFill>
                  <a:srgbClr val="000000"/>
                </a:solidFill>
                <a:latin typeface="+mj-ea"/>
                <a:ea typeface="+mj-ea"/>
              </a:rPr>
              <a:t>제안된 방식을 통해 장애 지역으로부터 마진을 가지는 경로 설정에 대한 예시를 보임</a:t>
            </a:r>
            <a:r>
              <a:rPr lang="en-US" altLang="ko-KR" sz="2100" kern="0" dirty="0">
                <a:solidFill>
                  <a:srgbClr val="000000"/>
                </a:solidFill>
                <a:latin typeface="+mj-ea"/>
                <a:ea typeface="+mj-ea"/>
              </a:rPr>
              <a:t>.</a:t>
            </a:r>
            <a:endParaRPr lang="ko-KR" altLang="en-US" sz="2100" kern="0" dirty="0">
              <a:solidFill>
                <a:srgbClr val="000000"/>
              </a:solidFill>
              <a:latin typeface="+mj-ea"/>
              <a:ea typeface="+mj-ea"/>
            </a:endParaRPr>
          </a:p>
        </p:txBody>
      </p:sp>
      <p:sp>
        <p:nvSpPr>
          <p:cNvPr id="6" name="양쪽 모서리가 둥근 사각형 19">
            <a:extLst>
              <a:ext uri="{FF2B5EF4-FFF2-40B4-BE49-F238E27FC236}">
                <a16:creationId xmlns:a16="http://schemas.microsoft.com/office/drawing/2014/main" id="{FC2B4701-8F17-BD97-F03D-D61D86AF0B50}"/>
              </a:ext>
            </a:extLst>
          </p:cNvPr>
          <p:cNvSpPr/>
          <p:nvPr/>
        </p:nvSpPr>
        <p:spPr>
          <a:xfrm>
            <a:off x="800517" y="22741896"/>
            <a:ext cx="12294224" cy="964971"/>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71" b="1" dirty="0">
                <a:solidFill>
                  <a:schemeClr val="bg1"/>
                </a:solidFill>
                <a:latin typeface="+mn-ea"/>
              </a:rPr>
              <a:t>METHODS</a:t>
            </a:r>
            <a:endParaRPr lang="ko-KR" altLang="en-US" sz="3671" b="1" dirty="0">
              <a:solidFill>
                <a:schemeClr val="bg1"/>
              </a:solidFill>
              <a:latin typeface="+mn-ea"/>
            </a:endParaRPr>
          </a:p>
        </p:txBody>
      </p:sp>
      <p:sp>
        <p:nvSpPr>
          <p:cNvPr id="7" name="순서도: 처리 6">
            <a:extLst>
              <a:ext uri="{FF2B5EF4-FFF2-40B4-BE49-F238E27FC236}">
                <a16:creationId xmlns:a16="http://schemas.microsoft.com/office/drawing/2014/main" id="{17567779-89A0-6355-BE88-DB914E014156}"/>
              </a:ext>
            </a:extLst>
          </p:cNvPr>
          <p:cNvSpPr/>
          <p:nvPr/>
        </p:nvSpPr>
        <p:spPr>
          <a:xfrm>
            <a:off x="730265" y="24271565"/>
            <a:ext cx="12379478" cy="21401543"/>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nSpc>
                <a:spcPct val="200000"/>
              </a:lnSpc>
            </a:pPr>
            <a:r>
              <a:rPr lang="en-US" altLang="ko-KR" sz="2100" dirty="0">
                <a:latin typeface="+mj-ea"/>
                <a:ea typeface="+mj-ea"/>
              </a:rPr>
              <a:t> </a:t>
            </a:r>
            <a:r>
              <a:rPr lang="ko-KR" altLang="en-US" sz="2100" dirty="0" err="1">
                <a:solidFill>
                  <a:srgbClr val="000000"/>
                </a:solidFill>
                <a:highlight>
                  <a:srgbClr val="FDFDFD"/>
                </a:highlight>
                <a:latin typeface="+mj-ea"/>
                <a:ea typeface="+mj-ea"/>
              </a:rPr>
              <a:t>드론의</a:t>
            </a:r>
            <a:r>
              <a:rPr lang="ko-KR" altLang="en-US" sz="2100" dirty="0">
                <a:solidFill>
                  <a:srgbClr val="000000"/>
                </a:solidFill>
                <a:highlight>
                  <a:srgbClr val="FDFDFD"/>
                </a:highlight>
                <a:latin typeface="+mj-ea"/>
                <a:ea typeface="+mj-ea"/>
              </a:rPr>
              <a:t> 안전한 경로설정을 위해 장애물과 비행 제한구역을 반영한 기존의 방법을 고려하고 </a:t>
            </a:r>
            <a:r>
              <a:rPr lang="ko-KR" altLang="en-US" sz="2100" dirty="0" err="1">
                <a:solidFill>
                  <a:srgbClr val="000000"/>
                </a:solidFill>
                <a:highlight>
                  <a:srgbClr val="FDFDFD"/>
                </a:highlight>
                <a:latin typeface="+mj-ea"/>
                <a:ea typeface="+mj-ea"/>
              </a:rPr>
              <a:t>드론의</a:t>
            </a:r>
            <a:r>
              <a:rPr lang="ko-KR" altLang="en-US" sz="2100" dirty="0">
                <a:solidFill>
                  <a:srgbClr val="000000"/>
                </a:solidFill>
                <a:highlight>
                  <a:srgbClr val="FDFDFD"/>
                </a:highlight>
                <a:latin typeface="+mj-ea"/>
                <a:ea typeface="+mj-ea"/>
              </a:rPr>
              <a:t> </a:t>
            </a:r>
            <a:r>
              <a:rPr lang="ko-KR" altLang="en-US" sz="2100" dirty="0" err="1">
                <a:solidFill>
                  <a:srgbClr val="000000"/>
                </a:solidFill>
                <a:highlight>
                  <a:srgbClr val="FDFDFD"/>
                </a:highlight>
                <a:latin typeface="+mj-ea"/>
                <a:ea typeface="+mj-ea"/>
              </a:rPr>
              <a:t>측위</a:t>
            </a:r>
            <a:r>
              <a:rPr lang="ko-KR" altLang="en-US" sz="2100" dirty="0">
                <a:solidFill>
                  <a:srgbClr val="000000"/>
                </a:solidFill>
                <a:highlight>
                  <a:srgbClr val="FDFDFD"/>
                </a:highlight>
                <a:latin typeface="+mj-ea"/>
                <a:ea typeface="+mj-ea"/>
              </a:rPr>
              <a:t> 오차를 고려한 </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안전거리를 포함한</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 개선된 경로설정 방안을 제안</a:t>
            </a:r>
            <a:r>
              <a:rPr lang="en-US" altLang="ko-KR" sz="2100" dirty="0">
                <a:solidFill>
                  <a:srgbClr val="000000"/>
                </a:solidFill>
                <a:highlight>
                  <a:srgbClr val="FDFDFD"/>
                </a:highlight>
                <a:latin typeface="+mj-ea"/>
                <a:ea typeface="+mj-ea"/>
              </a:rPr>
              <a:t>.</a:t>
            </a:r>
          </a:p>
          <a:p>
            <a:pPr>
              <a:lnSpc>
                <a:spcPct val="200000"/>
              </a:lnSpc>
            </a:pPr>
            <a:endParaRPr lang="en-US" altLang="ko-KR" sz="2100" dirty="0">
              <a:highlight>
                <a:srgbClr val="FDFDFD"/>
              </a:highlight>
              <a:latin typeface="+mj-ea"/>
              <a:ea typeface="+mj-ea"/>
            </a:endParaRPr>
          </a:p>
          <a:p>
            <a:pPr marL="457200" indent="-457200" fontAlgn="base" latinLnBrk="1">
              <a:lnSpc>
                <a:spcPct val="200000"/>
              </a:lnSpc>
              <a:buAutoNum type="arabicPeriod"/>
            </a:pPr>
            <a:r>
              <a:rPr lang="ko-KR" altLang="en-US" sz="2100" dirty="0" err="1">
                <a:solidFill>
                  <a:srgbClr val="000000"/>
                </a:solidFill>
                <a:highlight>
                  <a:srgbClr val="FDFDFD"/>
                </a:highlight>
                <a:latin typeface="+mj-ea"/>
                <a:ea typeface="+mj-ea"/>
              </a:rPr>
              <a:t>드론</a:t>
            </a:r>
            <a:r>
              <a:rPr lang="ko-KR" altLang="en-US" sz="2100" dirty="0">
                <a:solidFill>
                  <a:srgbClr val="000000"/>
                </a:solidFill>
                <a:highlight>
                  <a:srgbClr val="FDFDFD"/>
                </a:highlight>
                <a:latin typeface="+mj-ea"/>
                <a:ea typeface="+mj-ea"/>
              </a:rPr>
              <a:t> 경로에 제한구역 반영</a:t>
            </a:r>
            <a:endParaRPr lang="en-US" altLang="ko-KR" sz="2100" dirty="0">
              <a:solidFill>
                <a:srgbClr val="000000"/>
              </a:solidFill>
              <a:highlight>
                <a:srgbClr val="FDFDFD"/>
              </a:highlight>
              <a:latin typeface="+mj-ea"/>
              <a:ea typeface="+mj-ea"/>
            </a:endParaRPr>
          </a:p>
          <a:p>
            <a:pPr fontAlgn="base" latinLnBrk="1">
              <a:lnSpc>
                <a:spcPct val="200000"/>
              </a:lnSpc>
            </a:pPr>
            <a:r>
              <a:rPr lang="ko-KR" altLang="ko-KR" sz="2100" dirty="0" err="1">
                <a:solidFill>
                  <a:srgbClr val="000000"/>
                </a:solidFill>
                <a:effectLst/>
                <a:latin typeface="+mj-ea"/>
                <a:ea typeface="+mj-ea"/>
                <a:cs typeface="바탕" panose="02030600000101010101" pitchFamily="18" charset="-127"/>
              </a:rPr>
              <a:t>드론의</a:t>
            </a:r>
            <a:r>
              <a:rPr lang="ko-KR" altLang="ko-KR" sz="2100" dirty="0">
                <a:solidFill>
                  <a:srgbClr val="000000"/>
                </a:solidFill>
                <a:effectLst/>
                <a:latin typeface="+mj-ea"/>
                <a:ea typeface="+mj-ea"/>
                <a:cs typeface="바탕" panose="02030600000101010101" pitchFamily="18" charset="-127"/>
              </a:rPr>
              <a:t> 운항 경로에서 안전성 면에서 각종 사고 위험 및 피해를 최소화하도록 하는 것이 중요하며</a:t>
            </a:r>
            <a:r>
              <a:rPr lang="en-US" altLang="ko-KR" sz="2100" dirty="0">
                <a:solidFill>
                  <a:srgbClr val="000000"/>
                </a:solidFill>
                <a:effectLst/>
                <a:latin typeface="+mj-ea"/>
                <a:ea typeface="+mj-ea"/>
                <a:cs typeface="바탕" panose="02030600000101010101" pitchFamily="18" charset="-127"/>
              </a:rPr>
              <a:t>, </a:t>
            </a:r>
            <a:r>
              <a:rPr lang="ko-KR" altLang="ko-KR" sz="2100" dirty="0">
                <a:solidFill>
                  <a:srgbClr val="000000"/>
                </a:solidFill>
                <a:effectLst/>
                <a:latin typeface="+mj-ea"/>
                <a:ea typeface="+mj-ea"/>
                <a:cs typeface="바탕" panose="02030600000101010101" pitchFamily="18" charset="-127"/>
              </a:rPr>
              <a:t>장애물의 위치를 파악하고 이를 우회하는 등 비행의 위험성에 대한 제약 조건을 포함하여 </a:t>
            </a:r>
            <a:r>
              <a:rPr lang="ko-KR" altLang="ko-KR" sz="2100" dirty="0" err="1">
                <a:solidFill>
                  <a:srgbClr val="000000"/>
                </a:solidFill>
                <a:effectLst/>
                <a:latin typeface="+mj-ea"/>
                <a:ea typeface="+mj-ea"/>
                <a:cs typeface="바탕" panose="02030600000101010101" pitchFamily="18" charset="-127"/>
              </a:rPr>
              <a:t>드론의</a:t>
            </a:r>
            <a:r>
              <a:rPr lang="ko-KR" altLang="ko-KR" sz="2100" dirty="0">
                <a:solidFill>
                  <a:srgbClr val="000000"/>
                </a:solidFill>
                <a:effectLst/>
                <a:latin typeface="+mj-ea"/>
                <a:ea typeface="+mj-ea"/>
                <a:cs typeface="바탕" panose="02030600000101010101" pitchFamily="18" charset="-127"/>
              </a:rPr>
              <a:t> 최적 경로를 도출하는 연구가 진행 된 바 있</a:t>
            </a:r>
            <a:r>
              <a:rPr lang="ko-KR" altLang="en-US" sz="2100" dirty="0">
                <a:solidFill>
                  <a:srgbClr val="000000"/>
                </a:solidFill>
                <a:effectLst/>
                <a:latin typeface="+mj-ea"/>
                <a:ea typeface="+mj-ea"/>
                <a:cs typeface="바탕" panose="02030600000101010101" pitchFamily="18" charset="-127"/>
              </a:rPr>
              <a:t>음</a:t>
            </a:r>
            <a:r>
              <a:rPr lang="en-US" altLang="ko-KR" sz="2100" dirty="0">
                <a:solidFill>
                  <a:srgbClr val="000000"/>
                </a:solidFill>
                <a:effectLst/>
                <a:latin typeface="+mj-ea"/>
                <a:ea typeface="+mj-ea"/>
                <a:cs typeface="바탕" panose="02030600000101010101" pitchFamily="18" charset="-127"/>
              </a:rPr>
              <a:t>. </a:t>
            </a:r>
            <a:r>
              <a:rPr lang="ko-KR" altLang="ko-KR" sz="2100" dirty="0" err="1">
                <a:solidFill>
                  <a:srgbClr val="000000"/>
                </a:solidFill>
                <a:effectLst/>
                <a:latin typeface="+mj-ea"/>
                <a:ea typeface="+mj-ea"/>
                <a:cs typeface="바탕" panose="02030600000101010101" pitchFamily="18" charset="-127"/>
              </a:rPr>
              <a:t>드론</a:t>
            </a:r>
            <a:r>
              <a:rPr lang="ko-KR" altLang="ko-KR" sz="2100" dirty="0">
                <a:solidFill>
                  <a:srgbClr val="000000"/>
                </a:solidFill>
                <a:effectLst/>
                <a:latin typeface="+mj-ea"/>
                <a:ea typeface="+mj-ea"/>
                <a:cs typeface="바탕" panose="02030600000101010101" pitchFamily="18" charset="-127"/>
              </a:rPr>
              <a:t> 경로 설정 문제에서 경로의 안전성에 관해 추가적인 제약 조건을 반영하는 방안으로 장애물 위치를 반영하거나 장애 지역을 설정하고 해당 위치나 지역을 </a:t>
            </a:r>
            <a:r>
              <a:rPr lang="ko-KR" altLang="ko-KR" sz="2100" dirty="0" err="1">
                <a:solidFill>
                  <a:srgbClr val="000000"/>
                </a:solidFill>
                <a:effectLst/>
                <a:latin typeface="+mj-ea"/>
                <a:ea typeface="+mj-ea"/>
                <a:cs typeface="바탕" panose="02030600000101010101" pitchFamily="18" charset="-127"/>
              </a:rPr>
              <a:t>드론</a:t>
            </a:r>
            <a:r>
              <a:rPr lang="ko-KR" altLang="ko-KR" sz="2100" dirty="0">
                <a:solidFill>
                  <a:srgbClr val="000000"/>
                </a:solidFill>
                <a:effectLst/>
                <a:latin typeface="+mj-ea"/>
                <a:ea typeface="+mj-ea"/>
                <a:cs typeface="바탕" panose="02030600000101010101" pitchFamily="18" charset="-127"/>
              </a:rPr>
              <a:t> 비행 가능 경로에 해당 지역을 제외하는 방안이 있</a:t>
            </a:r>
            <a:r>
              <a:rPr lang="ko-KR" altLang="en-US" sz="2100" dirty="0">
                <a:solidFill>
                  <a:srgbClr val="000000"/>
                </a:solidFill>
                <a:effectLst/>
                <a:latin typeface="+mj-ea"/>
                <a:ea typeface="+mj-ea"/>
                <a:cs typeface="바탕" panose="02030600000101010101" pitchFamily="18" charset="-127"/>
              </a:rPr>
              <a:t>음</a:t>
            </a:r>
            <a:r>
              <a:rPr lang="en-US" altLang="ko-KR" sz="2100" dirty="0">
                <a:solidFill>
                  <a:srgbClr val="000000"/>
                </a:solidFill>
                <a:effectLst/>
                <a:latin typeface="+mj-ea"/>
                <a:ea typeface="+mj-ea"/>
                <a:cs typeface="바탕" panose="02030600000101010101" pitchFamily="18" charset="-127"/>
              </a:rPr>
              <a:t>.</a:t>
            </a:r>
          </a:p>
          <a:p>
            <a:pPr fontAlgn="base" latinLnBrk="1">
              <a:lnSpc>
                <a:spcPct val="200000"/>
              </a:lnSpc>
            </a:pPr>
            <a:endParaRPr lang="en-US" altLang="ko-KR" sz="2100" dirty="0">
              <a:solidFill>
                <a:srgbClr val="000000"/>
              </a:solidFill>
              <a:effectLst/>
              <a:latin typeface="+mj-ea"/>
              <a:ea typeface="+mj-ea"/>
              <a:cs typeface="바탕" panose="02030600000101010101" pitchFamily="18" charset="-127"/>
            </a:endParaRPr>
          </a:p>
          <a:p>
            <a:pPr fontAlgn="base" latinLnBrk="1">
              <a:lnSpc>
                <a:spcPct val="200000"/>
              </a:lnSpc>
            </a:pPr>
            <a:endParaRPr lang="en-US" altLang="ko-KR" sz="2100" dirty="0">
              <a:solidFill>
                <a:srgbClr val="000000"/>
              </a:solidFill>
              <a:latin typeface="+mj-ea"/>
              <a:ea typeface="+mj-ea"/>
              <a:cs typeface="바탕" panose="02030600000101010101" pitchFamily="18" charset="-127"/>
            </a:endParaRPr>
          </a:p>
          <a:p>
            <a:pPr fontAlgn="base" latinLnBrk="1">
              <a:lnSpc>
                <a:spcPct val="200000"/>
              </a:lnSpc>
            </a:pPr>
            <a:endParaRPr lang="en-US" altLang="ko-KR" sz="2100" dirty="0">
              <a:solidFill>
                <a:srgbClr val="000000"/>
              </a:solidFill>
              <a:effectLst/>
              <a:latin typeface="+mj-ea"/>
              <a:ea typeface="+mj-ea"/>
              <a:cs typeface="바탕" panose="02030600000101010101" pitchFamily="18" charset="-127"/>
            </a:endParaRPr>
          </a:p>
          <a:p>
            <a:pPr algn="ctr" fontAlgn="base" latinLnBrk="1">
              <a:lnSpc>
                <a:spcPct val="200000"/>
              </a:lnSpc>
            </a:pPr>
            <a:endParaRPr lang="en-US" altLang="ko-KR" sz="2100" dirty="0">
              <a:solidFill>
                <a:srgbClr val="000000"/>
              </a:solidFill>
              <a:latin typeface="+mj-ea"/>
              <a:ea typeface="+mj-ea"/>
              <a:cs typeface="바탕" panose="02030600000101010101" pitchFamily="18" charset="-127"/>
            </a:endParaRPr>
          </a:p>
          <a:p>
            <a:pPr algn="ctr" fontAlgn="base" latinLnBrk="1">
              <a:lnSpc>
                <a:spcPct val="200000"/>
              </a:lnSpc>
            </a:pPr>
            <a:endParaRPr lang="en-US" altLang="ko-KR" sz="2100" spc="-10" dirty="0">
              <a:solidFill>
                <a:srgbClr val="000000"/>
              </a:solidFill>
              <a:latin typeface="+mj-ea"/>
              <a:ea typeface="+mj-ea"/>
              <a:cs typeface="바탕" panose="02030600000101010101" pitchFamily="18" charset="-127"/>
            </a:endParaRPr>
          </a:p>
          <a:p>
            <a:pPr algn="ctr" fontAlgn="base" latinLnBrk="1">
              <a:lnSpc>
                <a:spcPct val="200000"/>
              </a:lnSpc>
            </a:pPr>
            <a:endParaRPr lang="en-US" altLang="ko-KR" sz="2100" spc="-10" dirty="0">
              <a:solidFill>
                <a:srgbClr val="000000"/>
              </a:solidFill>
              <a:latin typeface="+mj-ea"/>
              <a:ea typeface="+mj-ea"/>
              <a:cs typeface="바탕" panose="02030600000101010101" pitchFamily="18" charset="-127"/>
            </a:endParaRPr>
          </a:p>
          <a:p>
            <a:pPr algn="ctr" fontAlgn="base" latinLnBrk="1">
              <a:lnSpc>
                <a:spcPct val="200000"/>
              </a:lnSpc>
            </a:pPr>
            <a:endParaRPr lang="en-US" altLang="ko-KR" sz="2100" spc="-10" dirty="0">
              <a:solidFill>
                <a:srgbClr val="000000"/>
              </a:solidFill>
              <a:latin typeface="+mj-ea"/>
              <a:ea typeface="+mj-ea"/>
              <a:cs typeface="바탕" panose="02030600000101010101" pitchFamily="18" charset="-127"/>
            </a:endParaRPr>
          </a:p>
          <a:p>
            <a:pPr algn="ctr" fontAlgn="base" latinLnBrk="1">
              <a:lnSpc>
                <a:spcPct val="200000"/>
              </a:lnSpc>
            </a:pPr>
            <a:r>
              <a:rPr lang="en-US" altLang="ko-KR" sz="2000" spc="-10" dirty="0">
                <a:solidFill>
                  <a:srgbClr val="000000"/>
                </a:solidFill>
                <a:latin typeface="+mj-ea"/>
                <a:ea typeface="+mj-ea"/>
                <a:cs typeface="바탕" panose="02030600000101010101" pitchFamily="18" charset="-127"/>
              </a:rPr>
              <a:t>  </a:t>
            </a:r>
            <a:r>
              <a:rPr lang="ko-KR" altLang="ko-KR" sz="2000" spc="-10" dirty="0">
                <a:solidFill>
                  <a:srgbClr val="000000"/>
                </a:solidFill>
                <a:effectLst/>
                <a:latin typeface="+mj-ea"/>
                <a:ea typeface="+mj-ea"/>
                <a:cs typeface="바탕" panose="02030600000101010101" pitchFamily="18" charset="-127"/>
              </a:rPr>
              <a:t>그림</a:t>
            </a:r>
            <a:r>
              <a:rPr lang="en-US" altLang="ko-KR" sz="2000" spc="-10" dirty="0">
                <a:solidFill>
                  <a:srgbClr val="000000"/>
                </a:solidFill>
                <a:effectLst/>
                <a:latin typeface="+mj-ea"/>
                <a:ea typeface="+mj-ea"/>
                <a:cs typeface="바탕" panose="02030600000101010101" pitchFamily="18" charset="-127"/>
              </a:rPr>
              <a:t> 1. </a:t>
            </a:r>
            <a:r>
              <a:rPr lang="ko-KR" altLang="ko-KR" sz="2000" spc="-10" dirty="0" err="1">
                <a:solidFill>
                  <a:srgbClr val="000000"/>
                </a:solidFill>
                <a:effectLst/>
                <a:latin typeface="+mj-ea"/>
                <a:ea typeface="+mj-ea"/>
                <a:cs typeface="바탕" panose="02030600000101010101" pitchFamily="18" charset="-127"/>
              </a:rPr>
              <a:t>드론</a:t>
            </a:r>
            <a:r>
              <a:rPr lang="ko-KR" altLang="ko-KR" sz="2000" spc="-10" dirty="0">
                <a:solidFill>
                  <a:srgbClr val="000000"/>
                </a:solidFill>
                <a:effectLst/>
                <a:latin typeface="+mj-ea"/>
                <a:ea typeface="+mj-ea"/>
                <a:cs typeface="바탕" panose="02030600000101010101" pitchFamily="18" charset="-127"/>
              </a:rPr>
              <a:t> 경로에서의 장애 지역 설정 및 최적 경로 도출 해 예시</a:t>
            </a:r>
            <a:endParaRPr lang="en-US" altLang="ko-KR" sz="2000" spc="-10" dirty="0">
              <a:solidFill>
                <a:srgbClr val="000000"/>
              </a:solidFill>
              <a:effectLst/>
              <a:latin typeface="+mj-ea"/>
              <a:ea typeface="+mj-ea"/>
              <a:cs typeface="바탕" panose="02030600000101010101" pitchFamily="18" charset="-127"/>
            </a:endParaRPr>
          </a:p>
          <a:p>
            <a:pPr algn="ctr" fontAlgn="base" latinLnBrk="1">
              <a:lnSpc>
                <a:spcPct val="200000"/>
              </a:lnSpc>
            </a:pPr>
            <a:endParaRPr lang="en-US" altLang="ko-KR" sz="2100" dirty="0">
              <a:latin typeface="+mj-ea"/>
              <a:ea typeface="+mj-ea"/>
            </a:endParaRPr>
          </a:p>
          <a:p>
            <a:pPr algn="ctr" fontAlgn="base" latinLnBrk="1">
              <a:lnSpc>
                <a:spcPct val="200000"/>
              </a:lnSpc>
            </a:pPr>
            <a:endParaRPr lang="en-US" altLang="ko-KR" sz="2100" dirty="0">
              <a:latin typeface="+mj-ea"/>
              <a:ea typeface="+mj-ea"/>
            </a:endParaRPr>
          </a:p>
          <a:p>
            <a:pPr>
              <a:lnSpc>
                <a:spcPct val="200000"/>
              </a:lnSpc>
            </a:pPr>
            <a:r>
              <a:rPr lang="en-US" altLang="ko-KR" sz="2100" dirty="0">
                <a:solidFill>
                  <a:srgbClr val="000000"/>
                </a:solidFill>
                <a:highlight>
                  <a:srgbClr val="FDFDFD"/>
                </a:highlight>
                <a:latin typeface="+mj-ea"/>
                <a:ea typeface="+mj-ea"/>
              </a:rPr>
              <a:t>2. </a:t>
            </a:r>
            <a:r>
              <a:rPr lang="ko-KR" altLang="en-US" sz="2100" dirty="0" err="1">
                <a:solidFill>
                  <a:srgbClr val="000000"/>
                </a:solidFill>
                <a:highlight>
                  <a:srgbClr val="FDFDFD"/>
                </a:highlight>
                <a:latin typeface="+mj-ea"/>
                <a:ea typeface="+mj-ea"/>
              </a:rPr>
              <a:t>드론</a:t>
            </a:r>
            <a:r>
              <a:rPr lang="ko-KR" altLang="en-US" sz="2100" dirty="0">
                <a:solidFill>
                  <a:srgbClr val="000000"/>
                </a:solidFill>
                <a:highlight>
                  <a:srgbClr val="FDFDFD"/>
                </a:highlight>
                <a:latin typeface="+mj-ea"/>
                <a:ea typeface="+mj-ea"/>
              </a:rPr>
              <a:t> </a:t>
            </a:r>
            <a:r>
              <a:rPr lang="ko-KR" altLang="en-US" sz="2100" dirty="0" err="1">
                <a:solidFill>
                  <a:srgbClr val="000000"/>
                </a:solidFill>
                <a:highlight>
                  <a:srgbClr val="FDFDFD"/>
                </a:highlight>
                <a:latin typeface="+mj-ea"/>
                <a:ea typeface="+mj-ea"/>
              </a:rPr>
              <a:t>측위</a:t>
            </a:r>
            <a:r>
              <a:rPr lang="ko-KR" altLang="en-US" sz="2100" dirty="0">
                <a:solidFill>
                  <a:srgbClr val="000000"/>
                </a:solidFill>
                <a:highlight>
                  <a:srgbClr val="FDFDFD"/>
                </a:highlight>
                <a:latin typeface="+mj-ea"/>
                <a:ea typeface="+mj-ea"/>
              </a:rPr>
              <a:t> 오차 고려</a:t>
            </a:r>
            <a:br>
              <a:rPr lang="ko-KR" altLang="en-US" sz="2100" dirty="0">
                <a:latin typeface="+mj-ea"/>
                <a:ea typeface="+mj-ea"/>
              </a:rPr>
            </a:br>
            <a:r>
              <a:rPr lang="ko-KR" altLang="en-US" sz="2100" dirty="0">
                <a:solidFill>
                  <a:srgbClr val="000000"/>
                </a:solidFill>
                <a:highlight>
                  <a:srgbClr val="FDFDFD"/>
                </a:highlight>
                <a:latin typeface="+mj-ea"/>
                <a:ea typeface="+mj-ea"/>
              </a:rPr>
              <a:t>우리는 </a:t>
            </a:r>
            <a:r>
              <a:rPr lang="ko-KR" altLang="en-US" sz="2100" dirty="0" err="1">
                <a:solidFill>
                  <a:srgbClr val="000000"/>
                </a:solidFill>
                <a:highlight>
                  <a:srgbClr val="FDFDFD"/>
                </a:highlight>
                <a:latin typeface="+mj-ea"/>
                <a:ea typeface="+mj-ea"/>
              </a:rPr>
              <a:t>드론의</a:t>
            </a:r>
            <a:r>
              <a:rPr lang="ko-KR" altLang="en-US" sz="2100" dirty="0">
                <a:solidFill>
                  <a:srgbClr val="000000"/>
                </a:solidFill>
                <a:highlight>
                  <a:srgbClr val="FDFDFD"/>
                </a:highlight>
                <a:latin typeface="+mj-ea"/>
                <a:ea typeface="+mj-ea"/>
              </a:rPr>
              <a:t> </a:t>
            </a:r>
            <a:r>
              <a:rPr lang="en-US" altLang="ko-KR" sz="2100" dirty="0">
                <a:solidFill>
                  <a:srgbClr val="000000"/>
                </a:solidFill>
                <a:highlight>
                  <a:srgbClr val="FDFDFD"/>
                </a:highlight>
                <a:latin typeface="+mj-ea"/>
                <a:ea typeface="+mj-ea"/>
              </a:rPr>
              <a:t>GPS, </a:t>
            </a:r>
            <a:r>
              <a:rPr lang="ko-KR" altLang="en-US" sz="2100" dirty="0">
                <a:solidFill>
                  <a:srgbClr val="000000"/>
                </a:solidFill>
                <a:highlight>
                  <a:srgbClr val="FDFDFD"/>
                </a:highlight>
                <a:latin typeface="+mj-ea"/>
                <a:ea typeface="+mj-ea"/>
              </a:rPr>
              <a:t>센서와 같은 위치 결정 기술에서 발생할 수 있는 오류를 고려</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 기술적</a:t>
            </a:r>
            <a:r>
              <a:rPr lang="en-US" altLang="ko-KR" sz="2100" dirty="0">
                <a:solidFill>
                  <a:srgbClr val="000000"/>
                </a:solidFill>
                <a:highlight>
                  <a:srgbClr val="FDFDFD"/>
                </a:highlight>
                <a:latin typeface="+mj-ea"/>
                <a:ea typeface="+mj-ea"/>
              </a:rPr>
              <a:t>, </a:t>
            </a:r>
            <a:r>
              <a:rPr lang="ko-KR" altLang="en-US" sz="2100" dirty="0">
                <a:solidFill>
                  <a:srgbClr val="000000"/>
                </a:solidFill>
                <a:highlight>
                  <a:srgbClr val="FDFDFD"/>
                </a:highlight>
                <a:latin typeface="+mj-ea"/>
                <a:ea typeface="+mj-ea"/>
              </a:rPr>
              <a:t>환경적 요인</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위성 위치 변화</a:t>
            </a:r>
            <a:r>
              <a:rPr lang="en-US" altLang="ko-KR" sz="2100" dirty="0">
                <a:solidFill>
                  <a:srgbClr val="000000"/>
                </a:solidFill>
                <a:highlight>
                  <a:srgbClr val="FDFDFD"/>
                </a:highlight>
                <a:latin typeface="+mj-ea"/>
                <a:ea typeface="+mj-ea"/>
              </a:rPr>
              <a:t>, </a:t>
            </a:r>
            <a:r>
              <a:rPr lang="ko-KR" altLang="en-US" sz="2100" dirty="0">
                <a:solidFill>
                  <a:srgbClr val="000000"/>
                </a:solidFill>
                <a:highlight>
                  <a:srgbClr val="FDFDFD"/>
                </a:highlight>
                <a:latin typeface="+mj-ea"/>
                <a:ea typeface="+mj-ea"/>
              </a:rPr>
              <a:t>대기 간섭</a:t>
            </a:r>
            <a:r>
              <a:rPr lang="en-US" altLang="ko-KR" sz="2100" dirty="0">
                <a:solidFill>
                  <a:srgbClr val="000000"/>
                </a:solidFill>
                <a:highlight>
                  <a:srgbClr val="FDFDFD"/>
                </a:highlight>
                <a:latin typeface="+mj-ea"/>
                <a:ea typeface="+mj-ea"/>
              </a:rPr>
              <a:t>, </a:t>
            </a:r>
            <a:r>
              <a:rPr lang="ko-KR" altLang="en-US" sz="2100" dirty="0">
                <a:solidFill>
                  <a:srgbClr val="000000"/>
                </a:solidFill>
                <a:highlight>
                  <a:srgbClr val="FDFDFD"/>
                </a:highlight>
                <a:latin typeface="+mj-ea"/>
                <a:ea typeface="+mj-ea"/>
              </a:rPr>
              <a:t>기상 변화 등</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에 의한 위치 측정 오차를 반영하여 안전거리를 설정</a:t>
            </a:r>
            <a:r>
              <a:rPr lang="en-US" altLang="ko-KR" sz="2100" dirty="0">
                <a:solidFill>
                  <a:srgbClr val="000000"/>
                </a:solidFill>
                <a:highlight>
                  <a:srgbClr val="FDFDFD"/>
                </a:highlight>
                <a:latin typeface="+mj-ea"/>
                <a:ea typeface="+mj-ea"/>
              </a:rPr>
              <a:t>.</a:t>
            </a:r>
          </a:p>
          <a:p>
            <a:pPr>
              <a:lnSpc>
                <a:spcPct val="200000"/>
              </a:lnSpc>
            </a:pPr>
            <a:endParaRPr lang="en-US" altLang="ko-KR" sz="2100" dirty="0">
              <a:latin typeface="+mj-ea"/>
              <a:ea typeface="+mj-ea"/>
            </a:endParaRPr>
          </a:p>
          <a:p>
            <a:pPr>
              <a:lnSpc>
                <a:spcPct val="200000"/>
              </a:lnSpc>
            </a:pPr>
            <a:r>
              <a:rPr lang="en-US" altLang="ko-KR" sz="2100" dirty="0">
                <a:solidFill>
                  <a:srgbClr val="000000"/>
                </a:solidFill>
                <a:highlight>
                  <a:srgbClr val="FDFDFD"/>
                </a:highlight>
                <a:latin typeface="+mj-ea"/>
                <a:ea typeface="+mj-ea"/>
              </a:rPr>
              <a:t>3. </a:t>
            </a:r>
            <a:r>
              <a:rPr lang="ko-KR" altLang="en-US" sz="2100" dirty="0">
                <a:solidFill>
                  <a:srgbClr val="000000"/>
                </a:solidFill>
                <a:highlight>
                  <a:srgbClr val="FDFDFD"/>
                </a:highlight>
                <a:latin typeface="+mj-ea"/>
                <a:ea typeface="+mj-ea"/>
              </a:rPr>
              <a:t>제한 사항에 따른 경로 변경 분석</a:t>
            </a:r>
            <a:br>
              <a:rPr lang="ko-KR" altLang="en-US" sz="2100" dirty="0">
                <a:latin typeface="+mj-ea"/>
                <a:ea typeface="+mj-ea"/>
              </a:rPr>
            </a:br>
            <a:r>
              <a:rPr lang="ko-KR" altLang="en-US" sz="2100" dirty="0" err="1">
                <a:solidFill>
                  <a:srgbClr val="000000"/>
                </a:solidFill>
                <a:highlight>
                  <a:srgbClr val="FDFDFD"/>
                </a:highlight>
                <a:latin typeface="+mj-ea"/>
                <a:ea typeface="+mj-ea"/>
              </a:rPr>
              <a:t>드론의</a:t>
            </a:r>
            <a:r>
              <a:rPr lang="ko-KR" altLang="en-US" sz="2100" dirty="0">
                <a:solidFill>
                  <a:srgbClr val="000000"/>
                </a:solidFill>
                <a:highlight>
                  <a:srgbClr val="FDFDFD"/>
                </a:highlight>
                <a:latin typeface="+mj-ea"/>
                <a:ea typeface="+mj-ea"/>
              </a:rPr>
              <a:t> </a:t>
            </a:r>
            <a:r>
              <a:rPr lang="ko-KR" altLang="en-US" sz="2100" dirty="0" err="1">
                <a:solidFill>
                  <a:srgbClr val="000000"/>
                </a:solidFill>
                <a:highlight>
                  <a:srgbClr val="FDFDFD"/>
                </a:highlight>
                <a:latin typeface="+mj-ea"/>
                <a:ea typeface="+mj-ea"/>
              </a:rPr>
              <a:t>측위</a:t>
            </a:r>
            <a:r>
              <a:rPr lang="ko-KR" altLang="en-US" sz="2100" dirty="0">
                <a:solidFill>
                  <a:srgbClr val="000000"/>
                </a:solidFill>
                <a:highlight>
                  <a:srgbClr val="FDFDFD"/>
                </a:highlight>
                <a:latin typeface="+mj-ea"/>
                <a:ea typeface="+mj-ea"/>
              </a:rPr>
              <a:t> 오차를 고려한 경로 설정 방법의 한 예로 볼 수 있음</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 그림</a:t>
            </a:r>
            <a:r>
              <a:rPr lang="en-US" altLang="ko-KR" sz="2100" dirty="0">
                <a:solidFill>
                  <a:srgbClr val="000000"/>
                </a:solidFill>
                <a:highlight>
                  <a:srgbClr val="FDFDFD"/>
                </a:highlight>
                <a:latin typeface="+mj-ea"/>
                <a:ea typeface="+mj-ea"/>
              </a:rPr>
              <a:t>(a), (b)</a:t>
            </a:r>
            <a:r>
              <a:rPr lang="ko-KR" altLang="en-US" sz="2100" dirty="0">
                <a:solidFill>
                  <a:srgbClr val="000000"/>
                </a:solidFill>
                <a:highlight>
                  <a:srgbClr val="FDFDFD"/>
                </a:highlight>
                <a:latin typeface="+mj-ea"/>
                <a:ea typeface="+mj-ea"/>
              </a:rPr>
              <a:t>는 </a:t>
            </a:r>
            <a:r>
              <a:rPr lang="en-US" altLang="ko-KR" sz="2100" dirty="0">
                <a:solidFill>
                  <a:srgbClr val="000000"/>
                </a:solidFill>
                <a:highlight>
                  <a:srgbClr val="FDFDFD"/>
                </a:highlight>
                <a:latin typeface="+mj-ea"/>
                <a:ea typeface="+mj-ea"/>
              </a:rPr>
              <a:t>4x4 </a:t>
            </a:r>
            <a:r>
              <a:rPr lang="ko-KR" altLang="en-US" sz="2100" dirty="0">
                <a:solidFill>
                  <a:srgbClr val="000000"/>
                </a:solidFill>
                <a:highlight>
                  <a:srgbClr val="FDFDFD"/>
                </a:highlight>
                <a:latin typeface="+mj-ea"/>
                <a:ea typeface="+mj-ea"/>
              </a:rPr>
              <a:t>그리드의 모든 지점 사이의 가능한 경로와 제한된 영역을 고려한 경로를 보여줌</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  그림 </a:t>
            </a:r>
            <a:r>
              <a:rPr lang="en-US" altLang="ko-KR" sz="2100" dirty="0">
                <a:solidFill>
                  <a:srgbClr val="000000"/>
                </a:solidFill>
                <a:highlight>
                  <a:srgbClr val="FDFDFD"/>
                </a:highlight>
                <a:latin typeface="+mj-ea"/>
                <a:ea typeface="+mj-ea"/>
              </a:rPr>
              <a:t>(c)</a:t>
            </a:r>
            <a:r>
              <a:rPr lang="ko-KR" altLang="en-US" sz="2100" dirty="0">
                <a:solidFill>
                  <a:srgbClr val="000000"/>
                </a:solidFill>
                <a:highlight>
                  <a:srgbClr val="FDFDFD"/>
                </a:highlight>
                <a:latin typeface="+mj-ea"/>
                <a:ea typeface="+mj-ea"/>
              </a:rPr>
              <a:t>은 제한된 영역을 제외한 경로를 분석하는 단순 직선 경로 대신 </a:t>
            </a:r>
            <a:r>
              <a:rPr lang="ko-KR" altLang="en-US" sz="2100" dirty="0" err="1">
                <a:solidFill>
                  <a:srgbClr val="000000"/>
                </a:solidFill>
                <a:highlight>
                  <a:srgbClr val="FDFDFD"/>
                </a:highlight>
                <a:latin typeface="+mj-ea"/>
                <a:ea typeface="+mj-ea"/>
              </a:rPr>
              <a:t>측위</a:t>
            </a:r>
            <a:r>
              <a:rPr lang="ko-KR" altLang="en-US" sz="2100" dirty="0">
                <a:solidFill>
                  <a:srgbClr val="000000"/>
                </a:solidFill>
                <a:highlight>
                  <a:srgbClr val="FDFDFD"/>
                </a:highlight>
                <a:latin typeface="+mj-ea"/>
                <a:ea typeface="+mj-ea"/>
              </a:rPr>
              <a:t> 오차를 고려한 경로의 폭을 설정한 경로를 보여줌</a:t>
            </a:r>
            <a:r>
              <a:rPr lang="en-US" altLang="ko-KR" sz="2100" dirty="0">
                <a:solidFill>
                  <a:srgbClr val="000000"/>
                </a:solidFill>
                <a:highlight>
                  <a:srgbClr val="FDFDFD"/>
                </a:highlight>
                <a:latin typeface="+mj-ea"/>
                <a:ea typeface="+mj-ea"/>
              </a:rPr>
              <a:t>.</a:t>
            </a:r>
          </a:p>
          <a:p>
            <a:pPr>
              <a:lnSpc>
                <a:spcPct val="200000"/>
              </a:lnSpc>
            </a:pPr>
            <a:endParaRPr lang="en-US" altLang="ko-KR" sz="2100" dirty="0">
              <a:latin typeface="+mj-ea"/>
              <a:ea typeface="+mj-ea"/>
            </a:endParaRPr>
          </a:p>
          <a:p>
            <a:pPr>
              <a:lnSpc>
                <a:spcPct val="200000"/>
              </a:lnSpc>
            </a:pPr>
            <a:r>
              <a:rPr lang="en-US" altLang="ko-KR" sz="2100" dirty="0">
                <a:solidFill>
                  <a:srgbClr val="000000"/>
                </a:solidFill>
                <a:highlight>
                  <a:srgbClr val="FDFDFD"/>
                </a:highlight>
                <a:latin typeface="+mj-ea"/>
                <a:ea typeface="+mj-ea"/>
              </a:rPr>
              <a:t>4. </a:t>
            </a:r>
            <a:r>
              <a:rPr lang="ko-KR" altLang="en-US" sz="2100" dirty="0">
                <a:solidFill>
                  <a:srgbClr val="000000"/>
                </a:solidFill>
                <a:highlight>
                  <a:srgbClr val="FDFDFD"/>
                </a:highlight>
                <a:latin typeface="+mj-ea"/>
                <a:ea typeface="+mj-ea"/>
              </a:rPr>
              <a:t>경로 최적화 및 안전성 향상</a:t>
            </a:r>
            <a:br>
              <a:rPr lang="ko-KR" altLang="en-US" sz="2100" dirty="0">
                <a:latin typeface="+mj-ea"/>
                <a:ea typeface="+mj-ea"/>
              </a:rPr>
            </a:br>
            <a:r>
              <a:rPr lang="ko-KR" altLang="en-US" sz="2100" dirty="0" err="1">
                <a:solidFill>
                  <a:srgbClr val="000000"/>
                </a:solidFill>
                <a:highlight>
                  <a:srgbClr val="FDFDFD"/>
                </a:highlight>
                <a:latin typeface="+mj-ea"/>
                <a:ea typeface="+mj-ea"/>
              </a:rPr>
              <a:t>드론이</a:t>
            </a:r>
            <a:r>
              <a:rPr lang="ko-KR" altLang="en-US" sz="2100" dirty="0">
                <a:solidFill>
                  <a:srgbClr val="000000"/>
                </a:solidFill>
                <a:highlight>
                  <a:srgbClr val="FDFDFD"/>
                </a:highlight>
                <a:latin typeface="+mj-ea"/>
                <a:ea typeface="+mj-ea"/>
              </a:rPr>
              <a:t> </a:t>
            </a:r>
            <a:r>
              <a:rPr lang="en-US" altLang="ko-KR" sz="2100" dirty="0">
                <a:solidFill>
                  <a:srgbClr val="000000"/>
                </a:solidFill>
                <a:highlight>
                  <a:srgbClr val="FDFDFD"/>
                </a:highlight>
                <a:latin typeface="+mj-ea"/>
                <a:ea typeface="+mj-ea"/>
              </a:rPr>
              <a:t>1</a:t>
            </a:r>
            <a:r>
              <a:rPr lang="ko-KR" altLang="en-US" sz="2100" dirty="0">
                <a:solidFill>
                  <a:srgbClr val="000000"/>
                </a:solidFill>
                <a:highlight>
                  <a:srgbClr val="FDFDFD"/>
                </a:highlight>
                <a:latin typeface="+mj-ea"/>
                <a:ea typeface="+mj-ea"/>
              </a:rPr>
              <a:t>번 노드에서 출발하여 </a:t>
            </a:r>
            <a:r>
              <a:rPr lang="en-US" altLang="ko-KR" sz="2100" dirty="0">
                <a:solidFill>
                  <a:srgbClr val="000000"/>
                </a:solidFill>
                <a:highlight>
                  <a:srgbClr val="FDFDFD"/>
                </a:highlight>
                <a:latin typeface="+mj-ea"/>
                <a:ea typeface="+mj-ea"/>
              </a:rPr>
              <a:t>8</a:t>
            </a:r>
            <a:r>
              <a:rPr lang="ko-KR" altLang="en-US" sz="2100" dirty="0">
                <a:solidFill>
                  <a:srgbClr val="000000"/>
                </a:solidFill>
                <a:highlight>
                  <a:srgbClr val="FDFDFD"/>
                </a:highlight>
                <a:latin typeface="+mj-ea"/>
                <a:ea typeface="+mj-ea"/>
              </a:rPr>
              <a:t>번 노드와 </a:t>
            </a:r>
            <a:r>
              <a:rPr lang="en-US" altLang="ko-KR" sz="2100" dirty="0">
                <a:solidFill>
                  <a:srgbClr val="000000"/>
                </a:solidFill>
                <a:highlight>
                  <a:srgbClr val="FDFDFD"/>
                </a:highlight>
                <a:latin typeface="+mj-ea"/>
                <a:ea typeface="+mj-ea"/>
              </a:rPr>
              <a:t>12</a:t>
            </a:r>
            <a:r>
              <a:rPr lang="ko-KR" altLang="en-US" sz="2100" dirty="0">
                <a:solidFill>
                  <a:srgbClr val="000000"/>
                </a:solidFill>
                <a:highlight>
                  <a:srgbClr val="FDFDFD"/>
                </a:highlight>
                <a:latin typeface="+mj-ea"/>
                <a:ea typeface="+mj-ea"/>
              </a:rPr>
              <a:t>번 노드를 지나 </a:t>
            </a:r>
            <a:r>
              <a:rPr lang="en-US" altLang="ko-KR" sz="2100" dirty="0">
                <a:solidFill>
                  <a:srgbClr val="000000"/>
                </a:solidFill>
                <a:highlight>
                  <a:srgbClr val="FDFDFD"/>
                </a:highlight>
                <a:latin typeface="+mj-ea"/>
                <a:ea typeface="+mj-ea"/>
              </a:rPr>
              <a:t>1</a:t>
            </a:r>
            <a:r>
              <a:rPr lang="ko-KR" altLang="en-US" sz="2100" dirty="0">
                <a:solidFill>
                  <a:srgbClr val="000000"/>
                </a:solidFill>
                <a:highlight>
                  <a:srgbClr val="FDFDFD"/>
                </a:highlight>
                <a:latin typeface="+mj-ea"/>
                <a:ea typeface="+mj-ea"/>
              </a:rPr>
              <a:t>번 노드로 돌아올 수 있도록 경로를 설정</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 </a:t>
            </a:r>
            <a:r>
              <a:rPr lang="en-US" altLang="ko-KR" sz="2100" dirty="0">
                <a:solidFill>
                  <a:srgbClr val="000000"/>
                </a:solidFill>
                <a:highlight>
                  <a:srgbClr val="FDFDFD"/>
                </a:highlight>
                <a:latin typeface="+mj-ea"/>
                <a:ea typeface="+mj-ea"/>
              </a:rPr>
              <a:t>(a)</a:t>
            </a:r>
            <a:r>
              <a:rPr lang="ko-KR" altLang="en-US" sz="2100" dirty="0">
                <a:solidFill>
                  <a:srgbClr val="000000"/>
                </a:solidFill>
                <a:highlight>
                  <a:srgbClr val="FDFDFD"/>
                </a:highlight>
                <a:latin typeface="+mj-ea"/>
                <a:ea typeface="+mj-ea"/>
              </a:rPr>
              <a:t>와 </a:t>
            </a:r>
            <a:r>
              <a:rPr lang="en-US" altLang="ko-KR" sz="2100" dirty="0">
                <a:solidFill>
                  <a:srgbClr val="000000"/>
                </a:solidFill>
                <a:highlight>
                  <a:srgbClr val="FDFDFD"/>
                </a:highlight>
                <a:latin typeface="+mj-ea"/>
                <a:ea typeface="+mj-ea"/>
              </a:rPr>
              <a:t>(d)</a:t>
            </a:r>
            <a:r>
              <a:rPr lang="ko-KR" altLang="en-US" sz="2100" dirty="0">
                <a:solidFill>
                  <a:srgbClr val="000000"/>
                </a:solidFill>
                <a:highlight>
                  <a:srgbClr val="FDFDFD"/>
                </a:highlight>
                <a:latin typeface="+mj-ea"/>
                <a:ea typeface="+mj-ea"/>
              </a:rPr>
              <a:t>는</a:t>
            </a:r>
            <a:r>
              <a:rPr lang="en-US" altLang="ko-KR" sz="2100" dirty="0">
                <a:solidFill>
                  <a:srgbClr val="000000"/>
                </a:solidFill>
                <a:highlight>
                  <a:srgbClr val="FDFDFD"/>
                </a:highlight>
                <a:latin typeface="+mj-ea"/>
                <a:ea typeface="+mj-ea"/>
              </a:rPr>
              <a:t> </a:t>
            </a:r>
            <a:r>
              <a:rPr lang="ko-KR" altLang="en-US" sz="2100" dirty="0">
                <a:solidFill>
                  <a:srgbClr val="000000"/>
                </a:solidFill>
                <a:highlight>
                  <a:srgbClr val="FDFDFD"/>
                </a:highlight>
                <a:latin typeface="+mj-ea"/>
                <a:ea typeface="+mj-ea"/>
              </a:rPr>
              <a:t>가능한 모든 경로</a:t>
            </a:r>
            <a:r>
              <a:rPr lang="en-US" altLang="ko-KR" sz="2100" dirty="0">
                <a:solidFill>
                  <a:srgbClr val="000000"/>
                </a:solidFill>
                <a:highlight>
                  <a:srgbClr val="FDFDFD"/>
                </a:highlight>
                <a:latin typeface="+mj-ea"/>
                <a:ea typeface="+mj-ea"/>
              </a:rPr>
              <a:t>, (b)</a:t>
            </a:r>
            <a:r>
              <a:rPr lang="ko-KR" altLang="en-US" sz="2100" dirty="0">
                <a:solidFill>
                  <a:srgbClr val="000000"/>
                </a:solidFill>
                <a:highlight>
                  <a:srgbClr val="FDFDFD"/>
                </a:highlight>
                <a:latin typeface="+mj-ea"/>
                <a:ea typeface="+mj-ea"/>
              </a:rPr>
              <a:t>와 </a:t>
            </a:r>
            <a:r>
              <a:rPr lang="en-US" altLang="ko-KR" sz="2100" dirty="0">
                <a:solidFill>
                  <a:srgbClr val="000000"/>
                </a:solidFill>
                <a:highlight>
                  <a:srgbClr val="FDFDFD"/>
                </a:highlight>
                <a:latin typeface="+mj-ea"/>
                <a:ea typeface="+mj-ea"/>
              </a:rPr>
              <a:t>(e)</a:t>
            </a:r>
            <a:r>
              <a:rPr lang="ko-KR" altLang="en-US" sz="2100" dirty="0">
                <a:solidFill>
                  <a:srgbClr val="000000"/>
                </a:solidFill>
                <a:highlight>
                  <a:srgbClr val="FDFDFD"/>
                </a:highlight>
                <a:latin typeface="+mj-ea"/>
                <a:ea typeface="+mj-ea"/>
              </a:rPr>
              <a:t>는</a:t>
            </a:r>
            <a:r>
              <a:rPr lang="en-US" altLang="ko-KR" sz="2100" dirty="0">
                <a:solidFill>
                  <a:srgbClr val="000000"/>
                </a:solidFill>
                <a:highlight>
                  <a:srgbClr val="FDFDFD"/>
                </a:highlight>
                <a:latin typeface="+mj-ea"/>
                <a:ea typeface="+mj-ea"/>
              </a:rPr>
              <a:t> </a:t>
            </a:r>
            <a:r>
              <a:rPr lang="ko-KR" altLang="en-US" sz="2100" dirty="0">
                <a:solidFill>
                  <a:srgbClr val="000000"/>
                </a:solidFill>
                <a:highlight>
                  <a:srgbClr val="FDFDFD"/>
                </a:highlight>
                <a:latin typeface="+mj-ea"/>
                <a:ea typeface="+mj-ea"/>
              </a:rPr>
              <a:t>제한 구역 모서리와 측면을 제외한 경로</a:t>
            </a:r>
            <a:r>
              <a:rPr lang="en-US" altLang="ko-KR" sz="2100" dirty="0">
                <a:solidFill>
                  <a:srgbClr val="000000"/>
                </a:solidFill>
                <a:highlight>
                  <a:srgbClr val="FDFDFD"/>
                </a:highlight>
                <a:latin typeface="+mj-ea"/>
                <a:ea typeface="+mj-ea"/>
              </a:rPr>
              <a:t>, (c)</a:t>
            </a:r>
            <a:r>
              <a:rPr lang="ko-KR" altLang="en-US" sz="2100" dirty="0">
                <a:solidFill>
                  <a:srgbClr val="000000"/>
                </a:solidFill>
                <a:highlight>
                  <a:srgbClr val="FDFDFD"/>
                </a:highlight>
                <a:latin typeface="+mj-ea"/>
                <a:ea typeface="+mj-ea"/>
              </a:rPr>
              <a:t>와 </a:t>
            </a:r>
            <a:r>
              <a:rPr lang="en-US" altLang="ko-KR" sz="2100" dirty="0">
                <a:solidFill>
                  <a:srgbClr val="000000"/>
                </a:solidFill>
                <a:highlight>
                  <a:srgbClr val="FDFDFD"/>
                </a:highlight>
                <a:latin typeface="+mj-ea"/>
                <a:ea typeface="+mj-ea"/>
              </a:rPr>
              <a:t>(f)</a:t>
            </a:r>
            <a:r>
              <a:rPr lang="ko-KR" altLang="en-US" sz="2100" dirty="0">
                <a:solidFill>
                  <a:srgbClr val="000000"/>
                </a:solidFill>
                <a:highlight>
                  <a:srgbClr val="FDFDFD"/>
                </a:highlight>
                <a:latin typeface="+mj-ea"/>
                <a:ea typeface="+mj-ea"/>
              </a:rPr>
              <a:t>는</a:t>
            </a:r>
            <a:r>
              <a:rPr lang="en-US" altLang="ko-KR" sz="2100" dirty="0">
                <a:solidFill>
                  <a:srgbClr val="000000"/>
                </a:solidFill>
                <a:highlight>
                  <a:srgbClr val="FDFDFD"/>
                </a:highlight>
                <a:latin typeface="+mj-ea"/>
                <a:ea typeface="+mj-ea"/>
              </a:rPr>
              <a:t> </a:t>
            </a:r>
            <a:r>
              <a:rPr lang="ko-KR" altLang="en-US" sz="2100" dirty="0" err="1">
                <a:solidFill>
                  <a:srgbClr val="000000"/>
                </a:solidFill>
                <a:highlight>
                  <a:srgbClr val="FDFDFD"/>
                </a:highlight>
                <a:latin typeface="+mj-ea"/>
                <a:ea typeface="+mj-ea"/>
              </a:rPr>
              <a:t>측위</a:t>
            </a:r>
            <a:r>
              <a:rPr lang="ko-KR" altLang="en-US" sz="2100" dirty="0">
                <a:solidFill>
                  <a:srgbClr val="000000"/>
                </a:solidFill>
                <a:highlight>
                  <a:srgbClr val="FDFDFD"/>
                </a:highlight>
                <a:latin typeface="+mj-ea"/>
                <a:ea typeface="+mj-ea"/>
              </a:rPr>
              <a:t> 오류를 고려한 경로에 따라 최적 경로를 비교한</a:t>
            </a:r>
            <a:r>
              <a:rPr lang="en-US" altLang="ko-KR" sz="2100" dirty="0">
                <a:solidFill>
                  <a:srgbClr val="000000"/>
                </a:solidFill>
                <a:highlight>
                  <a:srgbClr val="FDFDFD"/>
                </a:highlight>
                <a:latin typeface="+mj-ea"/>
                <a:ea typeface="+mj-ea"/>
              </a:rPr>
              <a:t> </a:t>
            </a:r>
            <a:r>
              <a:rPr lang="ko-KR" altLang="en-US" sz="2100" dirty="0">
                <a:solidFill>
                  <a:srgbClr val="000000"/>
                </a:solidFill>
                <a:highlight>
                  <a:srgbClr val="FDFDFD"/>
                </a:highlight>
                <a:latin typeface="+mj-ea"/>
                <a:ea typeface="+mj-ea"/>
              </a:rPr>
              <a:t>것임</a:t>
            </a:r>
            <a:r>
              <a:rPr lang="en-US" altLang="ko-KR" sz="2100" dirty="0">
                <a:solidFill>
                  <a:srgbClr val="000000"/>
                </a:solidFill>
                <a:highlight>
                  <a:srgbClr val="FDFDFD"/>
                </a:highlight>
                <a:latin typeface="+mj-ea"/>
                <a:ea typeface="+mj-ea"/>
              </a:rPr>
              <a:t>.</a:t>
            </a:r>
            <a:r>
              <a:rPr lang="ko-KR" altLang="en-US" sz="2100" dirty="0">
                <a:solidFill>
                  <a:srgbClr val="000000"/>
                </a:solidFill>
                <a:highlight>
                  <a:srgbClr val="FDFDFD"/>
                </a:highlight>
                <a:latin typeface="+mj-ea"/>
                <a:ea typeface="+mj-ea"/>
              </a:rPr>
              <a:t> </a:t>
            </a:r>
            <a:r>
              <a:rPr lang="ko-KR" altLang="en-US" sz="2100" dirty="0">
                <a:latin typeface="+mj-ea"/>
                <a:ea typeface="+mj-ea"/>
              </a:rPr>
              <a:t>그 후</a:t>
            </a:r>
            <a:r>
              <a:rPr lang="en-US" altLang="ko-KR" sz="2100" dirty="0">
                <a:latin typeface="+mj-ea"/>
                <a:ea typeface="+mj-ea"/>
              </a:rPr>
              <a:t>, </a:t>
            </a:r>
            <a:r>
              <a:rPr lang="ko-KR" altLang="en-US" sz="2100" dirty="0">
                <a:solidFill>
                  <a:srgbClr val="000000"/>
                </a:solidFill>
                <a:highlight>
                  <a:srgbClr val="FDFDFD"/>
                </a:highlight>
                <a:latin typeface="+mj-ea"/>
                <a:ea typeface="+mj-ea"/>
              </a:rPr>
              <a:t>위치 설정 오류를 반영한 경로 설정으로 인한 최적 경로의 총 거리와 안정성을 비교함</a:t>
            </a:r>
            <a:r>
              <a:rPr lang="en-US" altLang="ko-KR" sz="2100" dirty="0">
                <a:solidFill>
                  <a:srgbClr val="000000"/>
                </a:solidFill>
                <a:highlight>
                  <a:srgbClr val="FDFDFD"/>
                </a:highlight>
                <a:latin typeface="+mj-ea"/>
                <a:ea typeface="+mj-ea"/>
              </a:rPr>
              <a:t>.</a:t>
            </a:r>
            <a:endParaRPr lang="en-US" altLang="ko-KR" sz="2100" dirty="0">
              <a:latin typeface="+mj-ea"/>
              <a:ea typeface="+mj-ea"/>
            </a:endParaRPr>
          </a:p>
        </p:txBody>
      </p:sp>
      <p:sp>
        <p:nvSpPr>
          <p:cNvPr id="8" name="양쪽 모서리가 둥근 사각형 18">
            <a:extLst>
              <a:ext uri="{FF2B5EF4-FFF2-40B4-BE49-F238E27FC236}">
                <a16:creationId xmlns:a16="http://schemas.microsoft.com/office/drawing/2014/main" id="{3E1DAE3E-5F39-FA86-3F6F-165F7725F18E}"/>
              </a:ext>
            </a:extLst>
          </p:cNvPr>
          <p:cNvSpPr/>
          <p:nvPr/>
        </p:nvSpPr>
        <p:spPr>
          <a:xfrm>
            <a:off x="13807439" y="40651660"/>
            <a:ext cx="12397804" cy="1080000"/>
          </a:xfrm>
          <a:prstGeom prst="round2SameRect">
            <a:avLst/>
          </a:prstGeom>
          <a:solidFill>
            <a:srgbClr val="1442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671" b="1" dirty="0">
                <a:solidFill>
                  <a:schemeClr val="bg1"/>
                </a:solidFill>
                <a:latin typeface="+mn-ea"/>
              </a:rPr>
              <a:t>Reference</a:t>
            </a:r>
            <a:endParaRPr lang="ko-KR" altLang="en-US" sz="4000" b="1" dirty="0">
              <a:solidFill>
                <a:schemeClr val="bg1"/>
              </a:solidFill>
              <a:latin typeface="+mn-ea"/>
            </a:endParaRPr>
          </a:p>
        </p:txBody>
      </p:sp>
      <p:sp>
        <p:nvSpPr>
          <p:cNvPr id="10" name="순서도: 처리 9">
            <a:extLst>
              <a:ext uri="{FF2B5EF4-FFF2-40B4-BE49-F238E27FC236}">
                <a16:creationId xmlns:a16="http://schemas.microsoft.com/office/drawing/2014/main" id="{75265B1E-D274-9C30-E5B3-C0E8E27109EB}"/>
              </a:ext>
            </a:extLst>
          </p:cNvPr>
          <p:cNvSpPr/>
          <p:nvPr/>
        </p:nvSpPr>
        <p:spPr>
          <a:xfrm>
            <a:off x="13807438" y="42107079"/>
            <a:ext cx="12382803" cy="3225339"/>
          </a:xfrm>
          <a:prstGeom prst="flowChartProcess">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marL="260985" indent="-260985" algn="just" latinLnBrk="1">
              <a:lnSpc>
                <a:spcPct val="150000"/>
              </a:lnSpc>
              <a:tabLst>
                <a:tab pos="10267950" algn="l"/>
                <a:tab pos="10807700" algn="l"/>
                <a:tab pos="11887200" algn="l"/>
                <a:tab pos="12426950" algn="l"/>
                <a:tab pos="12966700" algn="l"/>
                <a:tab pos="13512800" algn="l"/>
                <a:tab pos="14052550" algn="l"/>
                <a:tab pos="14592300" algn="l"/>
                <a:tab pos="15132050" algn="l"/>
                <a:tab pos="15671800" algn="l"/>
                <a:tab pos="16211550" algn="l"/>
              </a:tabLst>
            </a:pPr>
            <a:r>
              <a:rPr lang="en-US" altLang="ko-KR" sz="2100" kern="100" dirty="0">
                <a:solidFill>
                  <a:srgbClr val="000000"/>
                </a:solidFill>
                <a:effectLst/>
                <a:latin typeface="+mn-ea"/>
                <a:cs typeface="바탕" panose="02030600000101010101" pitchFamily="18" charset="-127"/>
              </a:rPr>
              <a:t>[1] </a:t>
            </a:r>
            <a:r>
              <a:rPr lang="ko-KR" altLang="ko-KR" sz="2100" kern="100" dirty="0">
                <a:solidFill>
                  <a:srgbClr val="000000"/>
                </a:solidFill>
                <a:effectLst/>
                <a:latin typeface="+mn-ea"/>
                <a:cs typeface="바탕" panose="02030600000101010101" pitchFamily="18" charset="-127"/>
              </a:rPr>
              <a:t>김태형</a:t>
            </a:r>
            <a:r>
              <a:rPr lang="en-US" altLang="ko-KR" sz="2100" kern="100" dirty="0">
                <a:solidFill>
                  <a:srgbClr val="000000"/>
                </a:solidFill>
                <a:effectLst/>
                <a:latin typeface="+mn-ea"/>
                <a:cs typeface="바탕" panose="02030600000101010101" pitchFamily="18" charset="-127"/>
              </a:rPr>
              <a:t>, “</a:t>
            </a:r>
            <a:r>
              <a:rPr lang="ko-KR" altLang="ko-KR" sz="2100" kern="100" dirty="0">
                <a:solidFill>
                  <a:srgbClr val="000000"/>
                </a:solidFill>
                <a:effectLst/>
                <a:latin typeface="+mn-ea"/>
                <a:cs typeface="바탕" panose="02030600000101010101" pitchFamily="18" charset="-127"/>
              </a:rPr>
              <a:t>다수 </a:t>
            </a:r>
            <a:r>
              <a:rPr lang="ko-KR" altLang="ko-KR" sz="2100" kern="100" dirty="0" err="1">
                <a:solidFill>
                  <a:srgbClr val="000000"/>
                </a:solidFill>
                <a:effectLst/>
                <a:latin typeface="+mn-ea"/>
                <a:cs typeface="바탕" panose="02030600000101010101" pitchFamily="18" charset="-127"/>
              </a:rPr>
              <a:t>드론의</a:t>
            </a:r>
            <a:r>
              <a:rPr lang="ko-KR" altLang="ko-KR" sz="2100" kern="100" dirty="0">
                <a:solidFill>
                  <a:srgbClr val="000000"/>
                </a:solidFill>
                <a:effectLst/>
                <a:latin typeface="+mn-ea"/>
                <a:cs typeface="바탕" panose="02030600000101010101" pitchFamily="18" charset="-127"/>
              </a:rPr>
              <a:t> 충돌 회피를 위한 </a:t>
            </a:r>
            <a:r>
              <a:rPr lang="ko-KR" altLang="ko-KR" sz="2100" kern="100" dirty="0" err="1">
                <a:solidFill>
                  <a:srgbClr val="000000"/>
                </a:solidFill>
                <a:effectLst/>
                <a:latin typeface="+mn-ea"/>
                <a:cs typeface="바탕" panose="02030600000101010101" pitchFamily="18" charset="-127"/>
              </a:rPr>
              <a:t>경로점</a:t>
            </a:r>
            <a:r>
              <a:rPr lang="ko-KR" altLang="ko-KR" sz="2100" kern="100" dirty="0">
                <a:solidFill>
                  <a:srgbClr val="000000"/>
                </a:solidFill>
                <a:effectLst/>
                <a:latin typeface="+mn-ea"/>
                <a:cs typeface="바탕" panose="02030600000101010101" pitchFamily="18" charset="-127"/>
              </a:rPr>
              <a:t> 구간 속도 프로파일 최적화</a:t>
            </a:r>
            <a:r>
              <a:rPr lang="en-US" altLang="ko-KR" sz="2100" kern="100" dirty="0">
                <a:solidFill>
                  <a:srgbClr val="000000"/>
                </a:solidFill>
                <a:effectLst/>
                <a:latin typeface="+mn-ea"/>
                <a:cs typeface="바탕" panose="02030600000101010101" pitchFamily="18" charset="-127"/>
              </a:rPr>
              <a:t>(Multiple Drones Collision Avoidance in Path Segment Using Speed Profile Optimization)", </a:t>
            </a:r>
            <a:r>
              <a:rPr lang="ko-KR" altLang="ko-KR" sz="2100" kern="100" dirty="0" err="1">
                <a:solidFill>
                  <a:srgbClr val="000000"/>
                </a:solidFill>
                <a:effectLst/>
                <a:latin typeface="+mn-ea"/>
                <a:cs typeface="바탕" panose="02030600000101010101" pitchFamily="18" charset="-127"/>
              </a:rPr>
              <a:t>한국항공우주학회지</a:t>
            </a:r>
            <a:r>
              <a:rPr lang="en-US" altLang="ko-KR" sz="2100" kern="100" dirty="0">
                <a:solidFill>
                  <a:srgbClr val="000000"/>
                </a:solidFill>
                <a:effectLst/>
                <a:latin typeface="+mn-ea"/>
                <a:cs typeface="바탕" panose="02030600000101010101" pitchFamily="18" charset="-127"/>
              </a:rPr>
              <a:t>, 2022</a:t>
            </a:r>
            <a:endParaRPr lang="ko-KR" altLang="ko-KR" sz="2100" kern="100" dirty="0">
              <a:solidFill>
                <a:srgbClr val="000000"/>
              </a:solidFill>
              <a:effectLst/>
              <a:latin typeface="+mn-ea"/>
              <a:cs typeface="HY신명조" panose="02030600000101010101" pitchFamily="18" charset="-127"/>
            </a:endParaRPr>
          </a:p>
          <a:p>
            <a:pPr marL="260985" indent="-260985" algn="just" latinLnBrk="1">
              <a:lnSpc>
                <a:spcPct val="150000"/>
              </a:lnSpc>
              <a:tabLst>
                <a:tab pos="10267950" algn="l"/>
                <a:tab pos="10807700" algn="l"/>
                <a:tab pos="11887200" algn="l"/>
                <a:tab pos="12426950" algn="l"/>
                <a:tab pos="12966700" algn="l"/>
                <a:tab pos="13512800" algn="l"/>
                <a:tab pos="14052550" algn="l"/>
                <a:tab pos="14592300" algn="l"/>
                <a:tab pos="15132050" algn="l"/>
                <a:tab pos="15671800" algn="l"/>
                <a:tab pos="16211550" algn="l"/>
              </a:tabLst>
            </a:pPr>
            <a:r>
              <a:rPr lang="en-US" altLang="ko-KR" sz="2100" kern="100" dirty="0">
                <a:solidFill>
                  <a:srgbClr val="000000"/>
                </a:solidFill>
                <a:effectLst/>
                <a:latin typeface="+mn-ea"/>
                <a:cs typeface="바탕" panose="02030600000101010101" pitchFamily="18" charset="-127"/>
              </a:rPr>
              <a:t>[2] </a:t>
            </a:r>
            <a:r>
              <a:rPr lang="ko-KR" altLang="ko-KR" sz="2100" kern="100" dirty="0" err="1">
                <a:solidFill>
                  <a:srgbClr val="000000"/>
                </a:solidFill>
                <a:effectLst/>
                <a:latin typeface="+mn-ea"/>
                <a:cs typeface="바탕" panose="02030600000101010101" pitchFamily="18" charset="-127"/>
              </a:rPr>
              <a:t>김률</a:t>
            </a:r>
            <a:r>
              <a:rPr lang="en-US" altLang="ko-KR" sz="2100" kern="100" dirty="0">
                <a:solidFill>
                  <a:srgbClr val="000000"/>
                </a:solidFill>
                <a:effectLst/>
                <a:latin typeface="+mn-ea"/>
                <a:cs typeface="바탕" panose="02030600000101010101" pitchFamily="18" charset="-127"/>
              </a:rPr>
              <a:t>, </a:t>
            </a:r>
            <a:r>
              <a:rPr lang="ko-KR" altLang="ko-KR" sz="2100" kern="100" dirty="0" err="1">
                <a:solidFill>
                  <a:srgbClr val="000000"/>
                </a:solidFill>
                <a:effectLst/>
                <a:latin typeface="+mn-ea"/>
                <a:cs typeface="바탕" panose="02030600000101010101" pitchFamily="18" charset="-127"/>
              </a:rPr>
              <a:t>주양익</a:t>
            </a:r>
            <a:r>
              <a:rPr lang="en-US" altLang="ko-KR" sz="2100" kern="100" dirty="0">
                <a:solidFill>
                  <a:srgbClr val="000000"/>
                </a:solidFill>
                <a:effectLst/>
                <a:latin typeface="+mn-ea"/>
                <a:cs typeface="바탕" panose="02030600000101010101" pitchFamily="18" charset="-127"/>
              </a:rPr>
              <a:t>, "</a:t>
            </a:r>
            <a:r>
              <a:rPr lang="ko-KR" altLang="ko-KR" sz="2100" kern="100" dirty="0">
                <a:solidFill>
                  <a:srgbClr val="000000"/>
                </a:solidFill>
                <a:effectLst/>
                <a:latin typeface="+mn-ea"/>
                <a:cs typeface="바탕" panose="02030600000101010101" pitchFamily="18" charset="-127"/>
              </a:rPr>
              <a:t>차량 통신 시스템 기반</a:t>
            </a:r>
            <a:r>
              <a:rPr lang="en-US" altLang="ko-KR" sz="2100" kern="100" dirty="0">
                <a:solidFill>
                  <a:srgbClr val="000000"/>
                </a:solidFill>
                <a:effectLst/>
                <a:latin typeface="+mn-ea"/>
                <a:cs typeface="바탕" panose="02030600000101010101" pitchFamily="18" charset="-127"/>
              </a:rPr>
              <a:t> UAV </a:t>
            </a:r>
            <a:r>
              <a:rPr lang="ko-KR" altLang="ko-KR" sz="2100" kern="100" dirty="0">
                <a:solidFill>
                  <a:srgbClr val="000000"/>
                </a:solidFill>
                <a:effectLst/>
                <a:latin typeface="+mn-ea"/>
                <a:cs typeface="바탕" panose="02030600000101010101" pitchFamily="18" charset="-127"/>
              </a:rPr>
              <a:t>라우팅 알고리즘</a:t>
            </a:r>
            <a:r>
              <a:rPr lang="en-US" altLang="ko-KR" sz="2100" kern="100" dirty="0">
                <a:solidFill>
                  <a:srgbClr val="000000"/>
                </a:solidFill>
                <a:effectLst/>
                <a:latin typeface="+mn-ea"/>
                <a:cs typeface="바탕" panose="02030600000101010101" pitchFamily="18" charset="-127"/>
              </a:rPr>
              <a:t>", </a:t>
            </a:r>
            <a:r>
              <a:rPr lang="ko-KR" altLang="ko-KR" sz="2100" kern="100" dirty="0" err="1">
                <a:solidFill>
                  <a:srgbClr val="000000"/>
                </a:solidFill>
                <a:effectLst/>
                <a:latin typeface="+mn-ea"/>
                <a:cs typeface="바탕" panose="02030600000101010101" pitchFamily="18" charset="-127"/>
              </a:rPr>
              <a:t>한국마린엔지니어링학회지</a:t>
            </a:r>
            <a:r>
              <a:rPr lang="en-US" altLang="ko-KR" sz="2100" kern="100" dirty="0">
                <a:solidFill>
                  <a:srgbClr val="000000"/>
                </a:solidFill>
                <a:effectLst/>
                <a:latin typeface="+mn-ea"/>
                <a:cs typeface="바탕" panose="02030600000101010101" pitchFamily="18" charset="-127"/>
              </a:rPr>
              <a:t>, 2016</a:t>
            </a:r>
            <a:endParaRPr lang="ko-KR" altLang="ko-KR" sz="2100" kern="100" dirty="0">
              <a:solidFill>
                <a:srgbClr val="000000"/>
              </a:solidFill>
              <a:effectLst/>
              <a:latin typeface="+mn-ea"/>
              <a:cs typeface="HY신명조" panose="02030600000101010101" pitchFamily="18" charset="-127"/>
            </a:endParaRPr>
          </a:p>
          <a:p>
            <a:pPr marL="240665" indent="-240665" algn="just" latinLnBrk="1">
              <a:lnSpc>
                <a:spcPct val="150000"/>
              </a:lnSpc>
              <a:tabLst>
                <a:tab pos="10267950" algn="l"/>
                <a:tab pos="10807700" algn="l"/>
                <a:tab pos="11887200" algn="l"/>
                <a:tab pos="12426950" algn="l"/>
                <a:tab pos="12966700" algn="l"/>
                <a:tab pos="13512800" algn="l"/>
                <a:tab pos="14052550" algn="l"/>
                <a:tab pos="14592300" algn="l"/>
                <a:tab pos="15132050" algn="l"/>
                <a:tab pos="15671800" algn="l"/>
                <a:tab pos="16211550" algn="l"/>
              </a:tabLst>
            </a:pPr>
            <a:r>
              <a:rPr lang="en-US" altLang="ko-KR" sz="2100" kern="100" dirty="0">
                <a:solidFill>
                  <a:srgbClr val="000000"/>
                </a:solidFill>
                <a:effectLst/>
                <a:latin typeface="+mn-ea"/>
                <a:cs typeface="바탕" panose="02030600000101010101" pitchFamily="18" charset="-127"/>
              </a:rPr>
              <a:t>[3]</a:t>
            </a:r>
            <a:r>
              <a:rPr lang="ko-KR" altLang="en-US" sz="2100" kern="100" dirty="0">
                <a:solidFill>
                  <a:srgbClr val="000000"/>
                </a:solidFill>
                <a:latin typeface="+mn-ea"/>
                <a:cs typeface="바탕" panose="02030600000101010101" pitchFamily="18" charset="-127"/>
              </a:rPr>
              <a:t> </a:t>
            </a:r>
            <a:r>
              <a:rPr lang="en-US" altLang="ko-KR" sz="2100" kern="100" dirty="0">
                <a:solidFill>
                  <a:srgbClr val="000000"/>
                </a:solidFill>
                <a:effectLst/>
                <a:latin typeface="+mn-ea"/>
                <a:cs typeface="바탕" panose="02030600000101010101" pitchFamily="18" charset="-127"/>
              </a:rPr>
              <a:t>Sang-Mok Choo, Ui-</a:t>
            </a:r>
            <a:r>
              <a:rPr lang="en-US" altLang="ko-KR" sz="2100" kern="100" dirty="0" err="1">
                <a:solidFill>
                  <a:srgbClr val="000000"/>
                </a:solidFill>
                <a:effectLst/>
                <a:latin typeface="+mn-ea"/>
                <a:cs typeface="바탕" panose="02030600000101010101" pitchFamily="18" charset="-127"/>
              </a:rPr>
              <a:t>Pil</a:t>
            </a:r>
            <a:r>
              <a:rPr lang="en-US" altLang="ko-KR" sz="2100" kern="100" dirty="0">
                <a:solidFill>
                  <a:srgbClr val="000000"/>
                </a:solidFill>
                <a:effectLst/>
                <a:latin typeface="+mn-ea"/>
                <a:cs typeface="바탕" panose="02030600000101010101" pitchFamily="18" charset="-127"/>
              </a:rPr>
              <a:t> Chong, and Jung-Chul Lee, "</a:t>
            </a:r>
            <a:r>
              <a:rPr lang="ko-KR" altLang="ko-KR" sz="2100" kern="100" dirty="0">
                <a:solidFill>
                  <a:srgbClr val="000000"/>
                </a:solidFill>
                <a:effectLst/>
                <a:latin typeface="+mn-ea"/>
                <a:cs typeface="바탕" panose="02030600000101010101" pitchFamily="18" charset="-127"/>
              </a:rPr>
              <a:t>산업 재해 대응 </a:t>
            </a:r>
            <a:r>
              <a:rPr lang="ko-KR" altLang="ko-KR" sz="2100" kern="100" dirty="0" err="1">
                <a:solidFill>
                  <a:srgbClr val="000000"/>
                </a:solidFill>
                <a:effectLst/>
                <a:latin typeface="+mn-ea"/>
                <a:cs typeface="바탕" panose="02030600000101010101" pitchFamily="18" charset="-127"/>
              </a:rPr>
              <a:t>드론</a:t>
            </a:r>
            <a:r>
              <a:rPr lang="ko-KR" altLang="ko-KR" sz="2100" kern="100" dirty="0">
                <a:solidFill>
                  <a:srgbClr val="000000"/>
                </a:solidFill>
                <a:effectLst/>
                <a:latin typeface="+mn-ea"/>
                <a:cs typeface="바탕" panose="02030600000101010101" pitchFamily="18" charset="-127"/>
              </a:rPr>
              <a:t> 비행경로 설정 방법</a:t>
            </a:r>
            <a:r>
              <a:rPr lang="en-US" altLang="ko-KR" sz="2100" kern="100" dirty="0">
                <a:solidFill>
                  <a:srgbClr val="000000"/>
                </a:solidFill>
                <a:effectLst/>
                <a:latin typeface="+mn-ea"/>
                <a:cs typeface="바탕" panose="02030600000101010101" pitchFamily="18" charset="-127"/>
              </a:rPr>
              <a:t>", </a:t>
            </a:r>
            <a:r>
              <a:rPr lang="ko-KR" altLang="ko-KR" sz="2100" kern="100" dirty="0">
                <a:solidFill>
                  <a:srgbClr val="000000"/>
                </a:solidFill>
                <a:effectLst/>
                <a:latin typeface="+mn-ea"/>
                <a:cs typeface="바탕" panose="02030600000101010101" pitchFamily="18" charset="-127"/>
              </a:rPr>
              <a:t>한국지능시스템학회 </a:t>
            </a:r>
            <a:r>
              <a:rPr lang="ko-KR" altLang="ko-KR" sz="2100" kern="100" dirty="0" err="1">
                <a:solidFill>
                  <a:srgbClr val="000000"/>
                </a:solidFill>
                <a:effectLst/>
                <a:latin typeface="+mn-ea"/>
                <a:cs typeface="바탕" panose="02030600000101010101" pitchFamily="18" charset="-127"/>
              </a:rPr>
              <a:t>논문지</a:t>
            </a:r>
            <a:r>
              <a:rPr lang="en-US" altLang="ko-KR" sz="2100" kern="100" dirty="0">
                <a:solidFill>
                  <a:srgbClr val="000000"/>
                </a:solidFill>
                <a:effectLst/>
                <a:latin typeface="+mn-ea"/>
                <a:cs typeface="바탕" panose="02030600000101010101" pitchFamily="18" charset="-127"/>
              </a:rPr>
              <a:t>, 2017</a:t>
            </a:r>
            <a:endParaRPr lang="ko-KR" altLang="ko-KR" sz="2100" kern="100" dirty="0">
              <a:solidFill>
                <a:srgbClr val="000000"/>
              </a:solidFill>
              <a:effectLst/>
              <a:latin typeface="+mn-ea"/>
              <a:cs typeface="HY신명조" panose="02030600000101010101" pitchFamily="18" charset="-127"/>
            </a:endParaRPr>
          </a:p>
        </p:txBody>
      </p:sp>
      <p:sp>
        <p:nvSpPr>
          <p:cNvPr id="15" name="TextBox 14">
            <a:extLst>
              <a:ext uri="{FF2B5EF4-FFF2-40B4-BE49-F238E27FC236}">
                <a16:creationId xmlns:a16="http://schemas.microsoft.com/office/drawing/2014/main" id="{0A6AEA4B-7558-60F6-C993-969BE23A5CBD}"/>
              </a:ext>
            </a:extLst>
          </p:cNvPr>
          <p:cNvSpPr txBox="1"/>
          <p:nvPr/>
        </p:nvSpPr>
        <p:spPr>
          <a:xfrm>
            <a:off x="403663" y="4074138"/>
            <a:ext cx="21422094" cy="1713354"/>
          </a:xfrm>
          <a:prstGeom prst="rect">
            <a:avLst/>
          </a:prstGeom>
          <a:noFill/>
        </p:spPr>
        <p:txBody>
          <a:bodyPr wrap="square" rtlCol="0">
            <a:spAutoFit/>
          </a:bodyPr>
          <a:lstStyle/>
          <a:p>
            <a:pPr algn="ctr" defTabSz="3601582" latinLnBrk="1">
              <a:lnSpc>
                <a:spcPct val="110000"/>
              </a:lnSpc>
              <a:defRPr/>
            </a:pPr>
            <a:r>
              <a:rPr lang="en-US" altLang="ko-KR" sz="5000" b="1" dirty="0" err="1">
                <a:solidFill>
                  <a:schemeClr val="bg1"/>
                </a:solidFill>
                <a:latin typeface="+mj-ea"/>
                <a:ea typeface="+mj-ea"/>
              </a:rPr>
              <a:t>Minje</a:t>
            </a:r>
            <a:r>
              <a:rPr lang="en-US" altLang="ko-KR" sz="5000" b="1" dirty="0">
                <a:solidFill>
                  <a:schemeClr val="bg1"/>
                </a:solidFill>
                <a:latin typeface="+mj-ea"/>
                <a:ea typeface="+mj-ea"/>
              </a:rPr>
              <a:t> </a:t>
            </a:r>
            <a:r>
              <a:rPr lang="en-US" altLang="ko-KR" sz="5000" b="1" dirty="0" err="1">
                <a:solidFill>
                  <a:schemeClr val="bg1"/>
                </a:solidFill>
                <a:latin typeface="+mj-ea"/>
                <a:ea typeface="+mj-ea"/>
              </a:rPr>
              <a:t>Youn</a:t>
            </a:r>
            <a:r>
              <a:rPr lang="en-US" altLang="ko-KR" sz="5000" b="1" dirty="0">
                <a:solidFill>
                  <a:schemeClr val="bg1"/>
                </a:solidFill>
                <a:latin typeface="+mj-ea"/>
                <a:ea typeface="+mj-ea"/>
              </a:rPr>
              <a:t>, </a:t>
            </a:r>
            <a:r>
              <a:rPr lang="en-US" altLang="ko-KR" sz="5000" b="1" dirty="0" err="1">
                <a:solidFill>
                  <a:schemeClr val="bg1"/>
                </a:solidFill>
                <a:latin typeface="+mj-ea"/>
                <a:ea typeface="+mj-ea"/>
              </a:rPr>
              <a:t>Chaeeun</a:t>
            </a:r>
            <a:r>
              <a:rPr lang="en-US" altLang="ko-KR" sz="5000" b="1" dirty="0">
                <a:solidFill>
                  <a:schemeClr val="bg1"/>
                </a:solidFill>
                <a:latin typeface="+mj-ea"/>
                <a:ea typeface="+mj-ea"/>
              </a:rPr>
              <a:t> Kim, Yebin Choi, Hoon Kim</a:t>
            </a:r>
          </a:p>
          <a:p>
            <a:pPr algn="ctr" defTabSz="3601582" latinLnBrk="1">
              <a:lnSpc>
                <a:spcPct val="110000"/>
              </a:lnSpc>
              <a:defRPr/>
            </a:pPr>
            <a:r>
              <a:rPr lang="en-US" altLang="ko-KR" sz="5000" b="1" dirty="0">
                <a:solidFill>
                  <a:schemeClr val="bg1"/>
                </a:solidFill>
                <a:latin typeface="+mj-ea"/>
                <a:ea typeface="+mj-ea"/>
              </a:rPr>
              <a:t>Department</a:t>
            </a:r>
            <a:r>
              <a:rPr lang="ko-KR" altLang="en-US" sz="5000" b="1" dirty="0">
                <a:solidFill>
                  <a:schemeClr val="bg1"/>
                </a:solidFill>
                <a:latin typeface="+mj-ea"/>
                <a:ea typeface="+mj-ea"/>
              </a:rPr>
              <a:t> </a:t>
            </a:r>
            <a:r>
              <a:rPr lang="en-US" altLang="ko-KR" sz="5000" b="1" dirty="0">
                <a:solidFill>
                  <a:schemeClr val="bg1"/>
                </a:solidFill>
                <a:latin typeface="+mj-ea"/>
                <a:ea typeface="+mj-ea"/>
              </a:rPr>
              <a:t>of</a:t>
            </a:r>
            <a:r>
              <a:rPr lang="ko-KR" altLang="en-US" sz="5000" b="1" dirty="0">
                <a:solidFill>
                  <a:schemeClr val="bg1"/>
                </a:solidFill>
                <a:latin typeface="+mj-ea"/>
                <a:ea typeface="+mj-ea"/>
              </a:rPr>
              <a:t> </a:t>
            </a:r>
            <a:r>
              <a:rPr lang="en-US" altLang="ko-KR" sz="5000" b="1" dirty="0">
                <a:solidFill>
                  <a:schemeClr val="bg1"/>
                </a:solidFill>
                <a:latin typeface="+mj-ea"/>
                <a:ea typeface="+mj-ea"/>
              </a:rPr>
              <a:t>Electronics</a:t>
            </a:r>
            <a:r>
              <a:rPr lang="ko-KR" altLang="en-US" sz="5000" b="1" dirty="0">
                <a:solidFill>
                  <a:schemeClr val="bg1"/>
                </a:solidFill>
                <a:latin typeface="+mj-ea"/>
                <a:ea typeface="+mj-ea"/>
              </a:rPr>
              <a:t> </a:t>
            </a:r>
            <a:r>
              <a:rPr lang="en-US" altLang="ko-KR" sz="5000" b="1" dirty="0">
                <a:solidFill>
                  <a:schemeClr val="bg1"/>
                </a:solidFill>
                <a:latin typeface="+mj-ea"/>
                <a:ea typeface="+mj-ea"/>
              </a:rPr>
              <a:t>Engineering, Incheon National University</a:t>
            </a:r>
            <a:endParaRPr lang="en-US" altLang="ko-KR" sz="5000" dirty="0">
              <a:solidFill>
                <a:schemeClr val="bg1"/>
              </a:solidFill>
              <a:latin typeface="+mj-ea"/>
              <a:ea typeface="+mj-ea"/>
            </a:endParaRPr>
          </a:p>
        </p:txBody>
      </p:sp>
      <p:sp>
        <p:nvSpPr>
          <p:cNvPr id="16" name="Rectangle 1">
            <a:extLst>
              <a:ext uri="{FF2B5EF4-FFF2-40B4-BE49-F238E27FC236}">
                <a16:creationId xmlns:a16="http://schemas.microsoft.com/office/drawing/2014/main" id="{B640F4EE-4078-04F4-923D-A3AA1F5DEC12}"/>
              </a:ext>
            </a:extLst>
          </p:cNvPr>
          <p:cNvSpPr>
            <a:spLocks noChangeArrowheads="1"/>
          </p:cNvSpPr>
          <p:nvPr/>
        </p:nvSpPr>
        <p:spPr bwMode="auto">
          <a:xfrm>
            <a:off x="403663" y="1010529"/>
            <a:ext cx="21422094" cy="3097293"/>
          </a:xfrm>
          <a:prstGeom prst="rect">
            <a:avLst/>
          </a:prstGeom>
          <a:noFill/>
          <a:ln w="9525">
            <a:noFill/>
            <a:miter lim="800000"/>
            <a:headEnd/>
            <a:tailEnd/>
          </a:ln>
          <a:effectLst/>
        </p:spPr>
        <p:txBody>
          <a:bodyPr anchor="ctr">
            <a:normAutofit/>
          </a:bodyPr>
          <a:lstStyle/>
          <a:p>
            <a:pPr algn="ctr" defTabSz="762239" latinLnBrk="1">
              <a:lnSpc>
                <a:spcPct val="110000"/>
              </a:lnSpc>
              <a:defRPr/>
            </a:pPr>
            <a:r>
              <a:rPr kumimoji="1" lang="ko-KR" altLang="en-US" sz="6100" b="1" dirty="0" err="1">
                <a:solidFill>
                  <a:schemeClr val="bg1"/>
                </a:solidFill>
                <a:latin typeface="+mj-ea"/>
                <a:ea typeface="+mj-ea"/>
                <a:cs typeface="굴림" pitchFamily="50" charset="-127"/>
              </a:rPr>
              <a:t>드론</a:t>
            </a:r>
            <a:r>
              <a:rPr kumimoji="1" lang="ko-KR" altLang="en-US" sz="6100" b="1" dirty="0">
                <a:solidFill>
                  <a:schemeClr val="bg1"/>
                </a:solidFill>
                <a:latin typeface="+mj-ea"/>
                <a:ea typeface="+mj-ea"/>
                <a:cs typeface="굴림" pitchFamily="50" charset="-127"/>
              </a:rPr>
              <a:t> 운항에서의 제한 구역을</a:t>
            </a:r>
            <a:r>
              <a:rPr kumimoji="1" lang="en-US" altLang="ko-KR" sz="6100" b="1" dirty="0">
                <a:solidFill>
                  <a:schemeClr val="bg1"/>
                </a:solidFill>
                <a:latin typeface="+mj-ea"/>
                <a:ea typeface="+mj-ea"/>
                <a:cs typeface="굴림" pitchFamily="50" charset="-127"/>
              </a:rPr>
              <a:t> </a:t>
            </a:r>
            <a:r>
              <a:rPr kumimoji="1" lang="ko-KR" altLang="en-US" sz="6100" b="1" dirty="0">
                <a:solidFill>
                  <a:schemeClr val="bg1"/>
                </a:solidFill>
                <a:latin typeface="+mj-ea"/>
                <a:ea typeface="+mj-ea"/>
                <a:cs typeface="굴림" pitchFamily="50" charset="-127"/>
              </a:rPr>
              <a:t>고려한</a:t>
            </a:r>
            <a:r>
              <a:rPr kumimoji="1" lang="en-US" altLang="ko-KR" sz="6100" b="1" dirty="0">
                <a:solidFill>
                  <a:schemeClr val="bg1"/>
                </a:solidFill>
                <a:latin typeface="+mj-ea"/>
                <a:ea typeface="+mj-ea"/>
                <a:cs typeface="굴림" pitchFamily="50" charset="-127"/>
              </a:rPr>
              <a:t> </a:t>
            </a:r>
            <a:r>
              <a:rPr kumimoji="1" lang="ko-KR" altLang="en-US" sz="6100" b="1" dirty="0">
                <a:solidFill>
                  <a:schemeClr val="bg1"/>
                </a:solidFill>
                <a:latin typeface="+mj-ea"/>
                <a:ea typeface="+mj-ea"/>
                <a:cs typeface="굴림" pitchFamily="50" charset="-127"/>
              </a:rPr>
              <a:t>최적 경로 설정</a:t>
            </a:r>
            <a:endParaRPr kumimoji="1" lang="en-US" altLang="ko-KR" sz="6100" b="1" dirty="0">
              <a:solidFill>
                <a:schemeClr val="bg1"/>
              </a:solidFill>
              <a:latin typeface="+mj-ea"/>
              <a:ea typeface="+mj-ea"/>
              <a:cs typeface="굴림" pitchFamily="50" charset="-127"/>
            </a:endParaRPr>
          </a:p>
          <a:p>
            <a:pPr algn="ctr" defTabSz="762239" latinLnBrk="1">
              <a:lnSpc>
                <a:spcPct val="110000"/>
              </a:lnSpc>
              <a:defRPr/>
            </a:pPr>
            <a:r>
              <a:rPr lang="en-US" altLang="ko-KR" sz="4000" b="1" i="0" dirty="0">
                <a:solidFill>
                  <a:schemeClr val="bg1"/>
                </a:solidFill>
                <a:effectLst/>
                <a:latin typeface="+mj-ea"/>
                <a:ea typeface="+mj-ea"/>
              </a:rPr>
              <a:t>considering the restricted area in drone operations Setting the Best Path</a:t>
            </a:r>
            <a:endParaRPr kumimoji="1" lang="en-US" altLang="ko-KR" sz="3600" b="1" dirty="0">
              <a:solidFill>
                <a:schemeClr val="bg1"/>
              </a:solidFill>
              <a:latin typeface="+mj-ea"/>
              <a:ea typeface="+mj-ea"/>
              <a:cs typeface="굴림" pitchFamily="50" charset="-127"/>
            </a:endParaRPr>
          </a:p>
        </p:txBody>
      </p:sp>
      <p:pic>
        <p:nvPicPr>
          <p:cNvPr id="17" name="그림 16" descr="엠블럼, 등록 상표, 로고, 상징이(가) 표시된 사진&#10;&#10;자동 생성된 설명">
            <a:extLst>
              <a:ext uri="{FF2B5EF4-FFF2-40B4-BE49-F238E27FC236}">
                <a16:creationId xmlns:a16="http://schemas.microsoft.com/office/drawing/2014/main" id="{A85C18CB-D184-FE26-BA8D-571F48F36F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36770" y="1643587"/>
            <a:ext cx="4046585" cy="4046585"/>
          </a:xfrm>
          <a:prstGeom prst="rect">
            <a:avLst/>
          </a:prstGeom>
        </p:spPr>
      </p:pic>
      <p:pic>
        <p:nvPicPr>
          <p:cNvPr id="3" name="picture 2">
            <a:extLst>
              <a:ext uri="{FF2B5EF4-FFF2-40B4-BE49-F238E27FC236}">
                <a16:creationId xmlns:a16="http://schemas.microsoft.com/office/drawing/2014/main" id="{A7334B22-FAB7-1561-AC88-4D5101CA2D0C}"/>
              </a:ext>
            </a:extLst>
          </p:cNvPr>
          <p:cNvPicPr/>
          <p:nvPr/>
        </p:nvPicPr>
        <p:blipFill>
          <a:blip r:embed="rId4" cstate="print">
            <a:lum/>
          </a:blip>
          <a:srcRect l="4305" t="7149" r="3343" b="3255"/>
          <a:stretch>
            <a:fillRect/>
          </a:stretch>
        </p:blipFill>
        <p:spPr>
          <a:xfrm>
            <a:off x="14998231" y="9512299"/>
            <a:ext cx="4547467" cy="4547467"/>
          </a:xfrm>
          <a:prstGeom prst="rect">
            <a:avLst/>
          </a:prstGeom>
        </p:spPr>
      </p:pic>
      <p:pic>
        <p:nvPicPr>
          <p:cNvPr id="4" name="picture 3">
            <a:extLst>
              <a:ext uri="{FF2B5EF4-FFF2-40B4-BE49-F238E27FC236}">
                <a16:creationId xmlns:a16="http://schemas.microsoft.com/office/drawing/2014/main" id="{2B053E65-F5D1-E8D5-D0DA-8E8932133C70}"/>
              </a:ext>
            </a:extLst>
          </p:cNvPr>
          <p:cNvPicPr/>
          <p:nvPr/>
        </p:nvPicPr>
        <p:blipFill>
          <a:blip r:embed="rId5" cstate="print">
            <a:lum/>
          </a:blip>
          <a:srcRect l="5301" t="8373" r="4388" b="4459"/>
          <a:stretch>
            <a:fillRect/>
          </a:stretch>
        </p:blipFill>
        <p:spPr>
          <a:xfrm>
            <a:off x="20639328" y="9482836"/>
            <a:ext cx="4547467" cy="4547467"/>
          </a:xfrm>
          <a:prstGeom prst="rect">
            <a:avLst/>
          </a:prstGeom>
        </p:spPr>
      </p:pic>
      <p:pic>
        <p:nvPicPr>
          <p:cNvPr id="5" name="picture 4">
            <a:extLst>
              <a:ext uri="{FF2B5EF4-FFF2-40B4-BE49-F238E27FC236}">
                <a16:creationId xmlns:a16="http://schemas.microsoft.com/office/drawing/2014/main" id="{BD87B6AD-5168-E8D7-0CB7-8D23BEDB0D8B}"/>
              </a:ext>
            </a:extLst>
          </p:cNvPr>
          <p:cNvPicPr/>
          <p:nvPr/>
        </p:nvPicPr>
        <p:blipFill>
          <a:blip r:embed="rId6" cstate="print">
            <a:lum/>
          </a:blip>
          <a:srcRect l="4521" t="7732" r="4828" b="2402"/>
          <a:stretch>
            <a:fillRect/>
          </a:stretch>
        </p:blipFill>
        <p:spPr>
          <a:xfrm>
            <a:off x="14795981" y="16449220"/>
            <a:ext cx="4547467" cy="4547467"/>
          </a:xfrm>
          <a:prstGeom prst="rect">
            <a:avLst/>
          </a:prstGeom>
        </p:spPr>
      </p:pic>
      <p:pic>
        <p:nvPicPr>
          <p:cNvPr id="9" name="picture 5">
            <a:extLst>
              <a:ext uri="{FF2B5EF4-FFF2-40B4-BE49-F238E27FC236}">
                <a16:creationId xmlns:a16="http://schemas.microsoft.com/office/drawing/2014/main" id="{6FF26AE5-9C26-2FC0-2740-308FCFB32AA9}"/>
              </a:ext>
            </a:extLst>
          </p:cNvPr>
          <p:cNvPicPr/>
          <p:nvPr/>
        </p:nvPicPr>
        <p:blipFill>
          <a:blip r:embed="rId7" cstate="print">
            <a:lum/>
          </a:blip>
          <a:srcRect t="4495"/>
          <a:stretch>
            <a:fillRect/>
          </a:stretch>
        </p:blipFill>
        <p:spPr>
          <a:xfrm>
            <a:off x="20691914" y="16419757"/>
            <a:ext cx="4547467" cy="4547467"/>
          </a:xfrm>
          <a:prstGeom prst="rect">
            <a:avLst/>
          </a:prstGeom>
        </p:spPr>
      </p:pic>
      <p:pic>
        <p:nvPicPr>
          <p:cNvPr id="11" name="picture 6">
            <a:extLst>
              <a:ext uri="{FF2B5EF4-FFF2-40B4-BE49-F238E27FC236}">
                <a16:creationId xmlns:a16="http://schemas.microsoft.com/office/drawing/2014/main" id="{1496B636-3AE8-403A-2044-285632446CDF}"/>
              </a:ext>
            </a:extLst>
          </p:cNvPr>
          <p:cNvPicPr/>
          <p:nvPr/>
        </p:nvPicPr>
        <p:blipFill>
          <a:blip r:embed="rId8" cstate="print">
            <a:lum/>
          </a:blip>
          <a:srcRect l="280" t="3982" b="422"/>
          <a:stretch>
            <a:fillRect/>
          </a:stretch>
        </p:blipFill>
        <p:spPr>
          <a:xfrm>
            <a:off x="14939415" y="23347004"/>
            <a:ext cx="4547467" cy="4547467"/>
          </a:xfrm>
          <a:prstGeom prst="rect">
            <a:avLst/>
          </a:prstGeom>
        </p:spPr>
      </p:pic>
      <p:pic>
        <p:nvPicPr>
          <p:cNvPr id="12" name="picture 7">
            <a:extLst>
              <a:ext uri="{FF2B5EF4-FFF2-40B4-BE49-F238E27FC236}">
                <a16:creationId xmlns:a16="http://schemas.microsoft.com/office/drawing/2014/main" id="{D68CD7DF-98AF-4C5A-3DDE-089EFC06284B}"/>
              </a:ext>
            </a:extLst>
          </p:cNvPr>
          <p:cNvPicPr/>
          <p:nvPr/>
        </p:nvPicPr>
        <p:blipFill>
          <a:blip r:embed="rId9" cstate="print">
            <a:lum/>
          </a:blip>
          <a:srcRect t="5149" b="2533"/>
          <a:stretch>
            <a:fillRect/>
          </a:stretch>
        </p:blipFill>
        <p:spPr>
          <a:xfrm>
            <a:off x="20706100" y="23301863"/>
            <a:ext cx="4547467" cy="4547467"/>
          </a:xfrm>
          <a:prstGeom prst="rect">
            <a:avLst/>
          </a:prstGeom>
        </p:spPr>
      </p:pic>
      <p:sp>
        <p:nvSpPr>
          <p:cNvPr id="2" name="순서도: 처리 1">
            <a:extLst>
              <a:ext uri="{FF2B5EF4-FFF2-40B4-BE49-F238E27FC236}">
                <a16:creationId xmlns:a16="http://schemas.microsoft.com/office/drawing/2014/main" id="{3A977B8F-24ED-EFD4-652D-42A25D4337D6}"/>
              </a:ext>
            </a:extLst>
          </p:cNvPr>
          <p:cNvSpPr/>
          <p:nvPr/>
        </p:nvSpPr>
        <p:spPr>
          <a:xfrm>
            <a:off x="20233490" y="14052480"/>
            <a:ext cx="5282788" cy="1395494"/>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ctr"/>
            <a:r>
              <a:rPr lang="en-US" altLang="ko-KR" sz="2100" dirty="0">
                <a:solidFill>
                  <a:srgbClr val="000000"/>
                </a:solidFill>
                <a:highlight>
                  <a:srgbClr val="FDFDFD"/>
                </a:highlight>
                <a:latin typeface="+mj-ea"/>
                <a:ea typeface="+mj-ea"/>
              </a:rPr>
              <a:t>(b) </a:t>
            </a:r>
            <a:r>
              <a:rPr lang="ko-KR" altLang="ko-KR" sz="2100" dirty="0">
                <a:solidFill>
                  <a:srgbClr val="000000"/>
                </a:solidFill>
                <a:effectLst/>
                <a:latin typeface="+mn-ea"/>
                <a:cs typeface="바탕" panose="02030600000101010101" pitchFamily="18" charset="-127"/>
              </a:rPr>
              <a:t>제한 구역 경유 경로를 제외한 가능 경로</a:t>
            </a:r>
            <a:r>
              <a:rPr lang="en-US" altLang="ko-KR" sz="2100" dirty="0">
                <a:solidFill>
                  <a:srgbClr val="000000"/>
                </a:solidFill>
                <a:effectLst/>
                <a:latin typeface="+mn-ea"/>
                <a:cs typeface="바탕" panose="02030600000101010101" pitchFamily="18" charset="-127"/>
              </a:rPr>
              <a:t>(</a:t>
            </a:r>
            <a:r>
              <a:rPr lang="ko-KR" altLang="ko-KR" sz="2100" dirty="0">
                <a:solidFill>
                  <a:srgbClr val="000000"/>
                </a:solidFill>
                <a:effectLst/>
                <a:latin typeface="+mn-ea"/>
                <a:cs typeface="바탕" panose="02030600000101010101" pitchFamily="18" charset="-127"/>
              </a:rPr>
              <a:t>제한 구역 모서리 및 각 변 경유 경로 포함 제외</a:t>
            </a:r>
            <a:r>
              <a:rPr lang="en-US" altLang="ko-KR" sz="2100" dirty="0">
                <a:solidFill>
                  <a:srgbClr val="000000"/>
                </a:solidFill>
                <a:effectLst/>
                <a:latin typeface="+mn-ea"/>
                <a:cs typeface="바탕" panose="02030600000101010101" pitchFamily="18" charset="-127"/>
              </a:rPr>
              <a:t>)</a:t>
            </a:r>
            <a:endParaRPr lang="en-US" altLang="ko-KR" sz="2100" dirty="0">
              <a:latin typeface="+mn-ea"/>
            </a:endParaRPr>
          </a:p>
        </p:txBody>
      </p:sp>
      <p:sp>
        <p:nvSpPr>
          <p:cNvPr id="13" name="순서도: 처리 12">
            <a:extLst>
              <a:ext uri="{FF2B5EF4-FFF2-40B4-BE49-F238E27FC236}">
                <a16:creationId xmlns:a16="http://schemas.microsoft.com/office/drawing/2014/main" id="{3B9FC38A-F0E7-FE7D-1178-D5E02048F8E2}"/>
              </a:ext>
            </a:extLst>
          </p:cNvPr>
          <p:cNvSpPr/>
          <p:nvPr/>
        </p:nvSpPr>
        <p:spPr>
          <a:xfrm>
            <a:off x="14471408" y="20973144"/>
            <a:ext cx="5145547" cy="1395494"/>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ctr" latinLnBrk="0">
              <a:lnSpc>
                <a:spcPct val="103000"/>
              </a:lnSpc>
            </a:pPr>
            <a:r>
              <a:rPr lang="en-US" altLang="ko-KR" sz="2100" kern="100" dirty="0">
                <a:solidFill>
                  <a:srgbClr val="000000"/>
                </a:solidFill>
                <a:effectLst/>
                <a:latin typeface="+mn-ea"/>
                <a:cs typeface="바탕" panose="02030600000101010101" pitchFamily="18" charset="-127"/>
              </a:rPr>
              <a:t>(c) </a:t>
            </a:r>
            <a:r>
              <a:rPr lang="ko-KR" altLang="ko-KR" sz="2100" kern="100" dirty="0" err="1">
                <a:solidFill>
                  <a:srgbClr val="000000"/>
                </a:solidFill>
                <a:effectLst/>
                <a:latin typeface="+mn-ea"/>
                <a:cs typeface="바탕" panose="02030600000101010101" pitchFamily="18" charset="-127"/>
              </a:rPr>
              <a:t>드론</a:t>
            </a:r>
            <a:r>
              <a:rPr lang="ko-KR" altLang="ko-KR" sz="2100" kern="100" dirty="0">
                <a:solidFill>
                  <a:srgbClr val="000000"/>
                </a:solidFill>
                <a:effectLst/>
                <a:latin typeface="+mn-ea"/>
                <a:cs typeface="바탕" panose="02030600000101010101" pitchFamily="18" charset="-127"/>
              </a:rPr>
              <a:t> </a:t>
            </a:r>
            <a:r>
              <a:rPr lang="ko-KR" altLang="ko-KR" sz="2100" kern="100" dirty="0" err="1">
                <a:solidFill>
                  <a:srgbClr val="000000"/>
                </a:solidFill>
                <a:effectLst/>
                <a:latin typeface="+mn-ea"/>
                <a:cs typeface="바탕" panose="02030600000101010101" pitchFamily="18" charset="-127"/>
              </a:rPr>
              <a:t>측위</a:t>
            </a:r>
            <a:r>
              <a:rPr lang="ko-KR" altLang="ko-KR" sz="2100" kern="100" dirty="0">
                <a:solidFill>
                  <a:srgbClr val="000000"/>
                </a:solidFill>
                <a:effectLst/>
                <a:latin typeface="+mn-ea"/>
                <a:cs typeface="바탕" panose="02030600000101010101" pitchFamily="18" charset="-127"/>
              </a:rPr>
              <a:t> 오차를 고려한 가능 경로</a:t>
            </a:r>
            <a:r>
              <a:rPr lang="en-US" altLang="ko-KR" sz="2100" kern="100" dirty="0">
                <a:solidFill>
                  <a:srgbClr val="000000"/>
                </a:solidFill>
                <a:effectLst/>
                <a:latin typeface="+mn-ea"/>
                <a:cs typeface="바탕" panose="02030600000101010101" pitchFamily="18" charset="-127"/>
              </a:rPr>
              <a:t>(</a:t>
            </a:r>
            <a:r>
              <a:rPr lang="ko-KR" altLang="ko-KR" sz="2100" kern="100" dirty="0" err="1">
                <a:solidFill>
                  <a:srgbClr val="000000"/>
                </a:solidFill>
                <a:effectLst/>
                <a:latin typeface="+mn-ea"/>
                <a:cs typeface="바탕" panose="02030600000101010101" pitchFamily="18" charset="-127"/>
              </a:rPr>
              <a:t>측위</a:t>
            </a:r>
            <a:r>
              <a:rPr lang="ko-KR" altLang="ko-KR" sz="2100" kern="100" dirty="0">
                <a:solidFill>
                  <a:srgbClr val="000000"/>
                </a:solidFill>
                <a:effectLst/>
                <a:latin typeface="+mn-ea"/>
                <a:cs typeface="바탕" panose="02030600000101010101" pitchFamily="18" charset="-127"/>
              </a:rPr>
              <a:t> 오차 감안 경로의 두께를 설정하고 제한 구역 경유 경로 제외</a:t>
            </a:r>
            <a:r>
              <a:rPr lang="en-US" altLang="ko-KR" sz="2100" kern="100" dirty="0">
                <a:solidFill>
                  <a:srgbClr val="000000"/>
                </a:solidFill>
                <a:effectLst/>
                <a:latin typeface="+mn-ea"/>
                <a:cs typeface="바탕" panose="02030600000101010101" pitchFamily="18" charset="-127"/>
              </a:rPr>
              <a:t>)</a:t>
            </a:r>
            <a:endParaRPr lang="ko-KR" altLang="ko-KR" sz="2100" kern="100" dirty="0">
              <a:solidFill>
                <a:srgbClr val="000000"/>
              </a:solidFill>
              <a:effectLst/>
              <a:latin typeface="+mn-ea"/>
              <a:cs typeface="HY신명조" panose="02030600000101010101" pitchFamily="18" charset="-127"/>
            </a:endParaRPr>
          </a:p>
        </p:txBody>
      </p:sp>
      <p:sp>
        <p:nvSpPr>
          <p:cNvPr id="14" name="순서도: 처리 13">
            <a:extLst>
              <a:ext uri="{FF2B5EF4-FFF2-40B4-BE49-F238E27FC236}">
                <a16:creationId xmlns:a16="http://schemas.microsoft.com/office/drawing/2014/main" id="{9011E508-F4C1-CBB6-0173-A0672E2A9848}"/>
              </a:ext>
            </a:extLst>
          </p:cNvPr>
          <p:cNvSpPr/>
          <p:nvPr/>
        </p:nvSpPr>
        <p:spPr>
          <a:xfrm>
            <a:off x="20385028" y="21002036"/>
            <a:ext cx="5131250" cy="1217884"/>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ctr"/>
            <a:r>
              <a:rPr lang="en-US" altLang="ko-KR" sz="2100" dirty="0">
                <a:solidFill>
                  <a:srgbClr val="000000"/>
                </a:solidFill>
                <a:highlight>
                  <a:srgbClr val="FDFDFD"/>
                </a:highlight>
                <a:latin typeface="+mn-ea"/>
              </a:rPr>
              <a:t>(d) </a:t>
            </a:r>
            <a:r>
              <a:rPr lang="en-US" altLang="ko-KR" sz="2100" dirty="0">
                <a:solidFill>
                  <a:srgbClr val="000000"/>
                </a:solidFill>
                <a:effectLst/>
                <a:latin typeface="+mn-ea"/>
                <a:cs typeface="바탕" panose="02030600000101010101" pitchFamily="18" charset="-127"/>
              </a:rPr>
              <a:t>(a) </a:t>
            </a:r>
            <a:r>
              <a:rPr lang="ko-KR" altLang="ko-KR" sz="2100" dirty="0">
                <a:solidFill>
                  <a:srgbClr val="000000"/>
                </a:solidFill>
                <a:effectLst/>
                <a:latin typeface="+mn-ea"/>
                <a:cs typeface="바탕" panose="02030600000101010101" pitchFamily="18" charset="-127"/>
              </a:rPr>
              <a:t>조건에서의</a:t>
            </a:r>
            <a:r>
              <a:rPr lang="en-US" altLang="ko-KR" sz="2100" dirty="0">
                <a:solidFill>
                  <a:srgbClr val="000000"/>
                </a:solidFill>
                <a:effectLst/>
                <a:latin typeface="+mn-ea"/>
                <a:cs typeface="바탕" panose="02030600000101010101" pitchFamily="18" charset="-127"/>
              </a:rPr>
              <a:t> 1</a:t>
            </a:r>
            <a:r>
              <a:rPr lang="ko-KR" altLang="ko-KR" sz="2100" dirty="0">
                <a:solidFill>
                  <a:srgbClr val="000000"/>
                </a:solidFill>
                <a:effectLst/>
                <a:latin typeface="+mn-ea"/>
                <a:cs typeface="바탕" panose="02030600000101010101" pitchFamily="18" charset="-127"/>
              </a:rPr>
              <a:t>번 출발</a:t>
            </a:r>
            <a:r>
              <a:rPr lang="en-US" altLang="ko-KR" sz="2100" dirty="0">
                <a:solidFill>
                  <a:srgbClr val="000000"/>
                </a:solidFill>
                <a:effectLst/>
                <a:latin typeface="+mn-ea"/>
                <a:cs typeface="바탕" panose="02030600000101010101" pitchFamily="18" charset="-127"/>
              </a:rPr>
              <a:t>, 8, 12</a:t>
            </a:r>
            <a:r>
              <a:rPr lang="ko-KR" altLang="ko-KR" sz="2100" dirty="0">
                <a:solidFill>
                  <a:srgbClr val="000000"/>
                </a:solidFill>
                <a:effectLst/>
                <a:latin typeface="+mn-ea"/>
                <a:cs typeface="바탕" panose="02030600000101010101" pitchFamily="18" charset="-127"/>
              </a:rPr>
              <a:t>번 경유</a:t>
            </a:r>
            <a:r>
              <a:rPr lang="en-US" altLang="ko-KR" sz="2100" dirty="0">
                <a:solidFill>
                  <a:srgbClr val="000000"/>
                </a:solidFill>
                <a:effectLst/>
                <a:latin typeface="+mn-ea"/>
                <a:cs typeface="바탕" panose="02030600000101010101" pitchFamily="18" charset="-127"/>
              </a:rPr>
              <a:t>, 1</a:t>
            </a:r>
            <a:r>
              <a:rPr lang="ko-KR" altLang="ko-KR" sz="2100" dirty="0">
                <a:solidFill>
                  <a:srgbClr val="000000"/>
                </a:solidFill>
                <a:effectLst/>
                <a:latin typeface="+mn-ea"/>
                <a:cs typeface="바탕" panose="02030600000101010101" pitchFamily="18" charset="-127"/>
              </a:rPr>
              <a:t>번 복귀 </a:t>
            </a:r>
            <a:r>
              <a:rPr lang="ko-KR" altLang="ko-KR" sz="2100" dirty="0" err="1">
                <a:solidFill>
                  <a:srgbClr val="000000"/>
                </a:solidFill>
                <a:effectLst/>
                <a:latin typeface="+mn-ea"/>
                <a:cs typeface="바탕" panose="02030600000101010101" pitchFamily="18" charset="-127"/>
              </a:rPr>
              <a:t>드론</a:t>
            </a:r>
            <a:r>
              <a:rPr lang="ko-KR" altLang="ko-KR" sz="2100" dirty="0">
                <a:solidFill>
                  <a:srgbClr val="000000"/>
                </a:solidFill>
                <a:effectLst/>
                <a:latin typeface="+mn-ea"/>
                <a:cs typeface="바탕" panose="02030600000101010101" pitchFamily="18" charset="-127"/>
              </a:rPr>
              <a:t> </a:t>
            </a:r>
            <a:r>
              <a:rPr lang="ko-KR" altLang="ko-KR" sz="2100" spc="-10" dirty="0">
                <a:solidFill>
                  <a:srgbClr val="000000"/>
                </a:solidFill>
                <a:effectLst/>
                <a:latin typeface="+mn-ea"/>
                <a:cs typeface="바탕" panose="02030600000101010101" pitchFamily="18" charset="-127"/>
              </a:rPr>
              <a:t>최적 경로</a:t>
            </a:r>
            <a:endParaRPr lang="en-US" altLang="ko-KR" sz="2100" spc="-10" dirty="0">
              <a:solidFill>
                <a:srgbClr val="000000"/>
              </a:solidFill>
              <a:effectLst/>
              <a:latin typeface="+mn-ea"/>
              <a:cs typeface="바탕" panose="02030600000101010101" pitchFamily="18" charset="-127"/>
            </a:endParaRPr>
          </a:p>
          <a:p>
            <a:pPr algn="ctr"/>
            <a:r>
              <a:rPr lang="en-US" altLang="ko-KR" sz="2100" spc="-10" dirty="0">
                <a:solidFill>
                  <a:srgbClr val="000000"/>
                </a:solidFill>
                <a:effectLst/>
                <a:latin typeface="+mn-ea"/>
                <a:cs typeface="바탕" panose="02030600000101010101" pitchFamily="18" charset="-127"/>
              </a:rPr>
              <a:t>(1-8-12-1, </a:t>
            </a:r>
            <a:r>
              <a:rPr lang="ko-KR" altLang="ko-KR" sz="2100" spc="-10" dirty="0">
                <a:solidFill>
                  <a:srgbClr val="000000"/>
                </a:solidFill>
                <a:effectLst/>
                <a:latin typeface="+mn-ea"/>
                <a:cs typeface="바탕" panose="02030600000101010101" pitchFamily="18" charset="-127"/>
              </a:rPr>
              <a:t>총 거리</a:t>
            </a:r>
            <a:r>
              <a:rPr lang="en-US" altLang="ko-KR" sz="2100" spc="-10" dirty="0">
                <a:solidFill>
                  <a:srgbClr val="000000"/>
                </a:solidFill>
                <a:effectLst/>
                <a:latin typeface="+mn-ea"/>
                <a:cs typeface="바탕" panose="02030600000101010101" pitchFamily="18" charset="-127"/>
              </a:rPr>
              <a:t>: 7.7)</a:t>
            </a:r>
            <a:endParaRPr lang="en-US" altLang="ko-KR" sz="2100" dirty="0">
              <a:latin typeface="+mn-ea"/>
            </a:endParaRPr>
          </a:p>
        </p:txBody>
      </p:sp>
      <p:sp>
        <p:nvSpPr>
          <p:cNvPr id="26" name="순서도: 처리 25">
            <a:extLst>
              <a:ext uri="{FF2B5EF4-FFF2-40B4-BE49-F238E27FC236}">
                <a16:creationId xmlns:a16="http://schemas.microsoft.com/office/drawing/2014/main" id="{187ED7E2-6D4B-6498-818E-AA4F5057BFC7}"/>
              </a:ext>
            </a:extLst>
          </p:cNvPr>
          <p:cNvSpPr/>
          <p:nvPr/>
        </p:nvSpPr>
        <p:spPr>
          <a:xfrm>
            <a:off x="14592972" y="27928813"/>
            <a:ext cx="5131250" cy="1245075"/>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ctr"/>
            <a:r>
              <a:rPr lang="en-US" altLang="ko-KR" sz="2100" dirty="0">
                <a:solidFill>
                  <a:srgbClr val="000000"/>
                </a:solidFill>
                <a:highlight>
                  <a:srgbClr val="FDFDFD"/>
                </a:highlight>
                <a:latin typeface="+mn-ea"/>
              </a:rPr>
              <a:t>(e) </a:t>
            </a:r>
            <a:r>
              <a:rPr lang="en-US" altLang="ko-KR" sz="2100" kern="100" dirty="0">
                <a:solidFill>
                  <a:srgbClr val="000000"/>
                </a:solidFill>
                <a:effectLst/>
                <a:latin typeface="+mn-ea"/>
                <a:cs typeface="바탕" panose="02030600000101010101" pitchFamily="18" charset="-127"/>
              </a:rPr>
              <a:t>(b)/(c) </a:t>
            </a:r>
            <a:r>
              <a:rPr lang="ko-KR" altLang="ko-KR" sz="2100" kern="100" dirty="0">
                <a:solidFill>
                  <a:srgbClr val="000000"/>
                </a:solidFill>
                <a:effectLst/>
                <a:latin typeface="+mn-ea"/>
                <a:cs typeface="바탕" panose="02030600000101010101" pitchFamily="18" charset="-127"/>
              </a:rPr>
              <a:t>조건에서의</a:t>
            </a:r>
            <a:r>
              <a:rPr lang="en-US" altLang="ko-KR" sz="2100" kern="100" dirty="0">
                <a:solidFill>
                  <a:srgbClr val="000000"/>
                </a:solidFill>
                <a:effectLst/>
                <a:latin typeface="+mn-ea"/>
                <a:cs typeface="바탕" panose="02030600000101010101" pitchFamily="18" charset="-127"/>
              </a:rPr>
              <a:t> 1</a:t>
            </a:r>
            <a:r>
              <a:rPr lang="ko-KR" altLang="ko-KR" sz="2100" kern="100" dirty="0">
                <a:solidFill>
                  <a:srgbClr val="000000"/>
                </a:solidFill>
                <a:effectLst/>
                <a:latin typeface="+mn-ea"/>
                <a:cs typeface="바탕" panose="02030600000101010101" pitchFamily="18" charset="-127"/>
              </a:rPr>
              <a:t>번 출발</a:t>
            </a:r>
            <a:r>
              <a:rPr lang="en-US" altLang="ko-KR" sz="2100" kern="100" dirty="0">
                <a:solidFill>
                  <a:srgbClr val="000000"/>
                </a:solidFill>
                <a:effectLst/>
                <a:latin typeface="+mn-ea"/>
                <a:cs typeface="바탕" panose="02030600000101010101" pitchFamily="18" charset="-127"/>
              </a:rPr>
              <a:t>, 8, 12</a:t>
            </a:r>
            <a:r>
              <a:rPr lang="ko-KR" altLang="ko-KR" sz="2100" kern="100" dirty="0">
                <a:solidFill>
                  <a:srgbClr val="000000"/>
                </a:solidFill>
                <a:effectLst/>
                <a:latin typeface="+mn-ea"/>
                <a:cs typeface="바탕" panose="02030600000101010101" pitchFamily="18" charset="-127"/>
              </a:rPr>
              <a:t>번 경유</a:t>
            </a:r>
            <a:r>
              <a:rPr lang="en-US" altLang="ko-KR" sz="2100" kern="100" dirty="0">
                <a:solidFill>
                  <a:srgbClr val="000000"/>
                </a:solidFill>
                <a:effectLst/>
                <a:latin typeface="+mn-ea"/>
                <a:cs typeface="바탕" panose="02030600000101010101" pitchFamily="18" charset="-127"/>
              </a:rPr>
              <a:t>, 1</a:t>
            </a:r>
            <a:r>
              <a:rPr lang="ko-KR" altLang="ko-KR" sz="2100" kern="100" dirty="0">
                <a:solidFill>
                  <a:srgbClr val="000000"/>
                </a:solidFill>
                <a:effectLst/>
                <a:latin typeface="+mn-ea"/>
                <a:cs typeface="바탕" panose="02030600000101010101" pitchFamily="18" charset="-127"/>
              </a:rPr>
              <a:t>번 복귀 </a:t>
            </a:r>
            <a:r>
              <a:rPr lang="ko-KR" altLang="ko-KR" sz="2100" kern="100" dirty="0" err="1">
                <a:solidFill>
                  <a:srgbClr val="000000"/>
                </a:solidFill>
                <a:effectLst/>
                <a:latin typeface="+mn-ea"/>
                <a:cs typeface="바탕" panose="02030600000101010101" pitchFamily="18" charset="-127"/>
              </a:rPr>
              <a:t>드론</a:t>
            </a:r>
            <a:r>
              <a:rPr lang="ko-KR" altLang="ko-KR" sz="2100" kern="100" dirty="0">
                <a:solidFill>
                  <a:srgbClr val="000000"/>
                </a:solidFill>
                <a:effectLst/>
                <a:latin typeface="+mn-ea"/>
                <a:cs typeface="바탕" panose="02030600000101010101" pitchFamily="18" charset="-127"/>
              </a:rPr>
              <a:t> </a:t>
            </a:r>
            <a:r>
              <a:rPr lang="ko-KR" altLang="ko-KR" sz="2100" kern="100" spc="-10" dirty="0">
                <a:solidFill>
                  <a:srgbClr val="000000"/>
                </a:solidFill>
                <a:effectLst/>
                <a:latin typeface="+mn-ea"/>
                <a:cs typeface="바탕" panose="02030600000101010101" pitchFamily="18" charset="-127"/>
              </a:rPr>
              <a:t>최적 경로</a:t>
            </a:r>
            <a:endParaRPr lang="en-US" altLang="ko-KR" sz="2100" kern="100" spc="-10" dirty="0">
              <a:solidFill>
                <a:srgbClr val="000000"/>
              </a:solidFill>
              <a:effectLst/>
              <a:latin typeface="+mn-ea"/>
              <a:cs typeface="바탕" panose="02030600000101010101" pitchFamily="18" charset="-127"/>
            </a:endParaRPr>
          </a:p>
          <a:p>
            <a:pPr algn="ctr"/>
            <a:r>
              <a:rPr lang="en-US" altLang="ko-KR" sz="2100" kern="100" spc="-10" dirty="0">
                <a:solidFill>
                  <a:srgbClr val="000000"/>
                </a:solidFill>
                <a:effectLst/>
                <a:latin typeface="+mn-ea"/>
                <a:cs typeface="바탕" panose="02030600000101010101" pitchFamily="18" charset="-127"/>
              </a:rPr>
              <a:t>(1-8-12-3-1, </a:t>
            </a:r>
            <a:r>
              <a:rPr lang="ko-KR" altLang="ko-KR" sz="2100" kern="100" spc="-10" dirty="0">
                <a:solidFill>
                  <a:srgbClr val="000000"/>
                </a:solidFill>
                <a:effectLst/>
                <a:latin typeface="+mn-ea"/>
                <a:cs typeface="바탕" panose="02030600000101010101" pitchFamily="18" charset="-127"/>
              </a:rPr>
              <a:t>총 거리</a:t>
            </a:r>
            <a:r>
              <a:rPr lang="en-US" altLang="ko-KR" sz="2100" kern="100" spc="-10" dirty="0">
                <a:solidFill>
                  <a:srgbClr val="000000"/>
                </a:solidFill>
                <a:effectLst/>
                <a:latin typeface="+mn-ea"/>
                <a:cs typeface="바탕" panose="02030600000101010101" pitchFamily="18" charset="-127"/>
              </a:rPr>
              <a:t>: 8.4)</a:t>
            </a:r>
            <a:endParaRPr lang="ko-KR" altLang="ko-KR" sz="2100" kern="100" dirty="0">
              <a:solidFill>
                <a:srgbClr val="000000"/>
              </a:solidFill>
              <a:effectLst/>
              <a:latin typeface="+mn-ea"/>
              <a:cs typeface="HY신명조" panose="02030600000101010101" pitchFamily="18" charset="-127"/>
            </a:endParaRPr>
          </a:p>
          <a:p>
            <a:pPr algn="ctr"/>
            <a:endParaRPr lang="en-US" altLang="ko-KR" sz="2211" dirty="0">
              <a:latin typeface="+mj-ea"/>
              <a:ea typeface="+mj-ea"/>
            </a:endParaRPr>
          </a:p>
        </p:txBody>
      </p:sp>
      <p:sp>
        <p:nvSpPr>
          <p:cNvPr id="30" name="순서도: 처리 29">
            <a:extLst>
              <a:ext uri="{FF2B5EF4-FFF2-40B4-BE49-F238E27FC236}">
                <a16:creationId xmlns:a16="http://schemas.microsoft.com/office/drawing/2014/main" id="{A0B2F692-E9AC-A474-CBD3-17D3799A35A3}"/>
              </a:ext>
            </a:extLst>
          </p:cNvPr>
          <p:cNvSpPr/>
          <p:nvPr/>
        </p:nvSpPr>
        <p:spPr>
          <a:xfrm>
            <a:off x="20385028" y="27929830"/>
            <a:ext cx="5314925" cy="1467896"/>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gn="ctr"/>
            <a:r>
              <a:rPr lang="en-US" altLang="ko-KR" sz="2100" dirty="0">
                <a:solidFill>
                  <a:srgbClr val="000000"/>
                </a:solidFill>
                <a:highlight>
                  <a:srgbClr val="FDFDFD"/>
                </a:highlight>
                <a:latin typeface="+mn-ea"/>
              </a:rPr>
              <a:t>(f) </a:t>
            </a:r>
            <a:r>
              <a:rPr lang="en-US" altLang="ko-KR" sz="2100" kern="100" dirty="0">
                <a:solidFill>
                  <a:srgbClr val="000000"/>
                </a:solidFill>
                <a:effectLst/>
                <a:latin typeface="+mn-ea"/>
                <a:cs typeface="바탕" panose="02030600000101010101" pitchFamily="18" charset="-127"/>
              </a:rPr>
              <a:t>(c) </a:t>
            </a:r>
            <a:r>
              <a:rPr lang="ko-KR" altLang="ko-KR" sz="2100" kern="100" dirty="0">
                <a:solidFill>
                  <a:srgbClr val="000000"/>
                </a:solidFill>
                <a:effectLst/>
                <a:latin typeface="+mn-ea"/>
                <a:cs typeface="바탕" panose="02030600000101010101" pitchFamily="18" charset="-127"/>
              </a:rPr>
              <a:t>조건보다 </a:t>
            </a:r>
            <a:r>
              <a:rPr lang="ko-KR" altLang="ko-KR" sz="2100" kern="100" dirty="0" err="1">
                <a:solidFill>
                  <a:srgbClr val="000000"/>
                </a:solidFill>
                <a:effectLst/>
                <a:latin typeface="+mn-ea"/>
                <a:cs typeface="바탕" panose="02030600000101010101" pitchFamily="18" charset="-127"/>
              </a:rPr>
              <a:t>두계가</a:t>
            </a:r>
            <a:r>
              <a:rPr lang="ko-KR" altLang="ko-KR" sz="2100" kern="100" dirty="0">
                <a:solidFill>
                  <a:srgbClr val="000000"/>
                </a:solidFill>
                <a:effectLst/>
                <a:latin typeface="+mn-ea"/>
                <a:cs typeface="바탕" panose="02030600000101010101" pitchFamily="18" charset="-127"/>
              </a:rPr>
              <a:t> 증가하여 가능 경로가</a:t>
            </a:r>
            <a:r>
              <a:rPr lang="en-US" altLang="ko-KR" sz="2100" kern="100" dirty="0">
                <a:solidFill>
                  <a:srgbClr val="000000"/>
                </a:solidFill>
                <a:effectLst/>
                <a:latin typeface="+mn-ea"/>
                <a:cs typeface="바탕" panose="02030600000101010101" pitchFamily="18" charset="-127"/>
              </a:rPr>
              <a:t> 8</a:t>
            </a:r>
            <a:r>
              <a:rPr lang="ko-KR" altLang="ko-KR" sz="2100" kern="100" dirty="0">
                <a:solidFill>
                  <a:srgbClr val="000000"/>
                </a:solidFill>
                <a:effectLst/>
                <a:latin typeface="+mn-ea"/>
                <a:cs typeface="바탕" panose="02030600000101010101" pitchFamily="18" charset="-127"/>
              </a:rPr>
              <a:t>개 추가 제외된 경우의</a:t>
            </a:r>
            <a:r>
              <a:rPr lang="en-US" altLang="ko-KR" sz="2100" kern="100" dirty="0">
                <a:solidFill>
                  <a:srgbClr val="000000"/>
                </a:solidFill>
                <a:effectLst/>
                <a:latin typeface="+mn-ea"/>
                <a:cs typeface="바탕" panose="02030600000101010101" pitchFamily="18" charset="-127"/>
              </a:rPr>
              <a:t> 1</a:t>
            </a:r>
            <a:r>
              <a:rPr lang="ko-KR" altLang="ko-KR" sz="2100" kern="100" dirty="0">
                <a:solidFill>
                  <a:srgbClr val="000000"/>
                </a:solidFill>
                <a:effectLst/>
                <a:latin typeface="+mn-ea"/>
                <a:cs typeface="바탕" panose="02030600000101010101" pitchFamily="18" charset="-127"/>
              </a:rPr>
              <a:t>번 출발</a:t>
            </a:r>
            <a:r>
              <a:rPr lang="en-US" altLang="ko-KR" sz="2100" kern="100" dirty="0">
                <a:solidFill>
                  <a:srgbClr val="000000"/>
                </a:solidFill>
                <a:effectLst/>
                <a:latin typeface="+mn-ea"/>
                <a:cs typeface="바탕" panose="02030600000101010101" pitchFamily="18" charset="-127"/>
              </a:rPr>
              <a:t>, 8, 12</a:t>
            </a:r>
            <a:r>
              <a:rPr lang="ko-KR" altLang="ko-KR" sz="2100" kern="100" dirty="0">
                <a:solidFill>
                  <a:srgbClr val="000000"/>
                </a:solidFill>
                <a:effectLst/>
                <a:latin typeface="+mn-ea"/>
                <a:cs typeface="바탕" panose="02030600000101010101" pitchFamily="18" charset="-127"/>
              </a:rPr>
              <a:t>번 경유</a:t>
            </a:r>
            <a:r>
              <a:rPr lang="en-US" altLang="ko-KR" sz="2100" kern="100" dirty="0">
                <a:solidFill>
                  <a:srgbClr val="000000"/>
                </a:solidFill>
                <a:effectLst/>
                <a:latin typeface="+mn-ea"/>
                <a:cs typeface="바탕" panose="02030600000101010101" pitchFamily="18" charset="-127"/>
              </a:rPr>
              <a:t>, 1</a:t>
            </a:r>
            <a:r>
              <a:rPr lang="ko-KR" altLang="ko-KR" sz="2100" kern="100" dirty="0">
                <a:solidFill>
                  <a:srgbClr val="000000"/>
                </a:solidFill>
                <a:effectLst/>
                <a:latin typeface="+mn-ea"/>
                <a:cs typeface="바탕" panose="02030600000101010101" pitchFamily="18" charset="-127"/>
              </a:rPr>
              <a:t>번 복귀 </a:t>
            </a:r>
            <a:r>
              <a:rPr lang="ko-KR" altLang="ko-KR" sz="2100" kern="100" dirty="0" err="1">
                <a:solidFill>
                  <a:srgbClr val="000000"/>
                </a:solidFill>
                <a:effectLst/>
                <a:latin typeface="+mn-ea"/>
                <a:cs typeface="바탕" panose="02030600000101010101" pitchFamily="18" charset="-127"/>
              </a:rPr>
              <a:t>드론</a:t>
            </a:r>
            <a:r>
              <a:rPr lang="ko-KR" altLang="ko-KR" sz="2100" kern="100" dirty="0">
                <a:solidFill>
                  <a:srgbClr val="000000"/>
                </a:solidFill>
                <a:effectLst/>
                <a:latin typeface="+mn-ea"/>
                <a:cs typeface="바탕" panose="02030600000101010101" pitchFamily="18" charset="-127"/>
              </a:rPr>
              <a:t> </a:t>
            </a:r>
            <a:r>
              <a:rPr lang="ko-KR" altLang="ko-KR" sz="2100" kern="100" spc="-10" dirty="0">
                <a:solidFill>
                  <a:srgbClr val="000000"/>
                </a:solidFill>
                <a:effectLst/>
                <a:latin typeface="+mn-ea"/>
                <a:cs typeface="바탕" panose="02030600000101010101" pitchFamily="18" charset="-127"/>
              </a:rPr>
              <a:t>최적 경로</a:t>
            </a:r>
            <a:endParaRPr lang="en-US" altLang="ko-KR" sz="2100" kern="100" spc="-10" dirty="0">
              <a:solidFill>
                <a:srgbClr val="000000"/>
              </a:solidFill>
              <a:effectLst/>
              <a:latin typeface="+mn-ea"/>
              <a:cs typeface="바탕" panose="02030600000101010101" pitchFamily="18" charset="-127"/>
            </a:endParaRPr>
          </a:p>
          <a:p>
            <a:pPr algn="ctr"/>
            <a:r>
              <a:rPr lang="en-US" altLang="ko-KR" sz="2100" kern="100" spc="-10" dirty="0">
                <a:solidFill>
                  <a:srgbClr val="000000"/>
                </a:solidFill>
                <a:effectLst/>
                <a:latin typeface="+mn-ea"/>
                <a:cs typeface="바탕" panose="02030600000101010101" pitchFamily="18" charset="-127"/>
              </a:rPr>
              <a:t>(1-2-8-12-3-2-1, </a:t>
            </a:r>
            <a:r>
              <a:rPr lang="ko-KR" altLang="ko-KR" sz="2100" kern="100" spc="-10" dirty="0">
                <a:solidFill>
                  <a:srgbClr val="000000"/>
                </a:solidFill>
                <a:effectLst/>
                <a:latin typeface="+mn-ea"/>
                <a:cs typeface="바탕" panose="02030600000101010101" pitchFamily="18" charset="-127"/>
              </a:rPr>
              <a:t>총 거리</a:t>
            </a:r>
            <a:r>
              <a:rPr lang="en-US" altLang="ko-KR" sz="2100" kern="100" spc="-10" dirty="0">
                <a:solidFill>
                  <a:srgbClr val="000000"/>
                </a:solidFill>
                <a:effectLst/>
                <a:latin typeface="+mn-ea"/>
                <a:cs typeface="바탕" panose="02030600000101010101" pitchFamily="18" charset="-127"/>
              </a:rPr>
              <a:t>: 8.47)</a:t>
            </a:r>
            <a:endParaRPr lang="ko-KR" altLang="ko-KR" sz="2100" kern="100" dirty="0">
              <a:solidFill>
                <a:srgbClr val="000000"/>
              </a:solidFill>
              <a:effectLst/>
              <a:latin typeface="+mn-ea"/>
              <a:cs typeface="HY신명조" panose="02030600000101010101" pitchFamily="18" charset="-127"/>
            </a:endParaRPr>
          </a:p>
          <a:p>
            <a:pPr algn="ctr"/>
            <a:endParaRPr lang="en-US" altLang="ko-KR" sz="2211" dirty="0">
              <a:latin typeface="+mj-ea"/>
              <a:ea typeface="+mj-ea"/>
            </a:endParaRPr>
          </a:p>
        </p:txBody>
      </p:sp>
      <p:sp>
        <p:nvSpPr>
          <p:cNvPr id="33" name="순서도: 처리 32">
            <a:extLst>
              <a:ext uri="{FF2B5EF4-FFF2-40B4-BE49-F238E27FC236}">
                <a16:creationId xmlns:a16="http://schemas.microsoft.com/office/drawing/2014/main" id="{D9C8A61D-BDCF-4EAC-125E-C8CD2F313028}"/>
              </a:ext>
            </a:extLst>
          </p:cNvPr>
          <p:cNvSpPr/>
          <p:nvPr/>
        </p:nvSpPr>
        <p:spPr>
          <a:xfrm>
            <a:off x="13915473" y="30197329"/>
            <a:ext cx="12362757" cy="4536734"/>
          </a:xfrm>
          <a:prstGeom prst="flowChartProcess">
            <a:avLst/>
          </a:prstGeom>
          <a:ln>
            <a:noFill/>
          </a:ln>
        </p:spPr>
        <p:style>
          <a:lnRef idx="2">
            <a:schemeClr val="accent1"/>
          </a:lnRef>
          <a:fillRef idx="1">
            <a:schemeClr val="lt1"/>
          </a:fillRef>
          <a:effectRef idx="0">
            <a:schemeClr val="accent1"/>
          </a:effectRef>
          <a:fontRef idx="minor">
            <a:schemeClr val="dk1"/>
          </a:fontRef>
        </p:style>
        <p:txBody>
          <a:bodyPr lIns="150006" tIns="150006" rIns="150006" bIns="150006" rtlCol="0" anchor="t"/>
          <a:lstStyle/>
          <a:p>
            <a:pPr>
              <a:lnSpc>
                <a:spcPct val="150000"/>
              </a:lnSpc>
            </a:pPr>
            <a:r>
              <a:rPr lang="en-US" altLang="ko-KR" sz="2100" dirty="0">
                <a:solidFill>
                  <a:srgbClr val="000000"/>
                </a:solidFill>
                <a:highlight>
                  <a:srgbClr val="FDFDFD"/>
                </a:highlight>
                <a:latin typeface="+mn-ea"/>
              </a:rPr>
              <a:t>(d)</a:t>
            </a:r>
            <a:r>
              <a:rPr lang="ko-KR" altLang="en-US" sz="2100" dirty="0">
                <a:solidFill>
                  <a:srgbClr val="000000"/>
                </a:solidFill>
                <a:highlight>
                  <a:srgbClr val="FDFDFD"/>
                </a:highlight>
                <a:latin typeface="+mn-ea"/>
              </a:rPr>
              <a:t>는 조건 </a:t>
            </a:r>
            <a:r>
              <a:rPr lang="en-US" altLang="ko-KR" sz="2100" dirty="0">
                <a:solidFill>
                  <a:srgbClr val="000000"/>
                </a:solidFill>
                <a:highlight>
                  <a:srgbClr val="FDFDFD"/>
                </a:highlight>
                <a:latin typeface="+mn-ea"/>
              </a:rPr>
              <a:t>(a)</a:t>
            </a:r>
            <a:r>
              <a:rPr lang="ko-KR" altLang="en-US" sz="2100" dirty="0">
                <a:solidFill>
                  <a:srgbClr val="000000"/>
                </a:solidFill>
                <a:highlight>
                  <a:srgbClr val="FDFDFD"/>
                </a:highlight>
                <a:latin typeface="+mn-ea"/>
              </a:rPr>
              <a:t>를 반영하고</a:t>
            </a:r>
            <a:r>
              <a:rPr lang="en-US" altLang="ko-KR" sz="2100" dirty="0">
                <a:solidFill>
                  <a:srgbClr val="000000"/>
                </a:solidFill>
                <a:highlight>
                  <a:srgbClr val="FDFDFD"/>
                </a:highlight>
                <a:latin typeface="+mn-ea"/>
              </a:rPr>
              <a:t>, (e)</a:t>
            </a:r>
            <a:r>
              <a:rPr lang="ko-KR" altLang="en-US" sz="2100" dirty="0">
                <a:solidFill>
                  <a:srgbClr val="000000"/>
                </a:solidFill>
                <a:highlight>
                  <a:srgbClr val="FDFDFD"/>
                </a:highlight>
                <a:latin typeface="+mn-ea"/>
              </a:rPr>
              <a:t>는 조건 </a:t>
            </a:r>
            <a:r>
              <a:rPr lang="en-US" altLang="ko-KR" sz="2100" dirty="0">
                <a:solidFill>
                  <a:srgbClr val="000000"/>
                </a:solidFill>
                <a:highlight>
                  <a:srgbClr val="FDFDFD"/>
                </a:highlight>
                <a:latin typeface="+mn-ea"/>
              </a:rPr>
              <a:t>(b)</a:t>
            </a:r>
            <a:r>
              <a:rPr lang="ko-KR" altLang="en-US" sz="2100" dirty="0">
                <a:solidFill>
                  <a:srgbClr val="000000"/>
                </a:solidFill>
                <a:highlight>
                  <a:srgbClr val="FDFDFD"/>
                </a:highlight>
                <a:latin typeface="+mn-ea"/>
              </a:rPr>
              <a:t>와 조건 </a:t>
            </a:r>
            <a:r>
              <a:rPr lang="en-US" altLang="ko-KR" sz="2100" dirty="0">
                <a:solidFill>
                  <a:srgbClr val="000000"/>
                </a:solidFill>
                <a:highlight>
                  <a:srgbClr val="FDFDFD"/>
                </a:highlight>
                <a:latin typeface="+mn-ea"/>
              </a:rPr>
              <a:t>(c)</a:t>
            </a:r>
            <a:r>
              <a:rPr lang="ko-KR" altLang="en-US" sz="2100" dirty="0">
                <a:solidFill>
                  <a:srgbClr val="000000"/>
                </a:solidFill>
                <a:highlight>
                  <a:srgbClr val="FDFDFD"/>
                </a:highlight>
                <a:latin typeface="+mn-ea"/>
              </a:rPr>
              <a:t>를 반영</a:t>
            </a:r>
            <a:r>
              <a:rPr lang="en-US" altLang="ko-KR" sz="2100" dirty="0">
                <a:solidFill>
                  <a:srgbClr val="000000"/>
                </a:solidFill>
                <a:highlight>
                  <a:srgbClr val="FDFDFD"/>
                </a:highlight>
                <a:latin typeface="+mn-ea"/>
              </a:rPr>
              <a:t>.</a:t>
            </a:r>
            <a:br>
              <a:rPr lang="ko-KR" altLang="en-US" sz="2100" dirty="0">
                <a:latin typeface="+mn-ea"/>
              </a:rPr>
            </a:br>
            <a:r>
              <a:rPr lang="ko-KR" altLang="en-US" sz="2100" dirty="0">
                <a:solidFill>
                  <a:srgbClr val="000000"/>
                </a:solidFill>
                <a:highlight>
                  <a:srgbClr val="FDFDFD"/>
                </a:highlight>
                <a:latin typeface="+mn-ea"/>
              </a:rPr>
              <a:t>가능한 경로의 변화로 인해 최적 경로와 총 거리가 다름을 알 수 있음</a:t>
            </a:r>
            <a:r>
              <a:rPr lang="en-US" altLang="ko-KR" sz="2100" dirty="0">
                <a:solidFill>
                  <a:srgbClr val="000000"/>
                </a:solidFill>
                <a:highlight>
                  <a:srgbClr val="FDFDFD"/>
                </a:highlight>
                <a:latin typeface="+mn-ea"/>
              </a:rPr>
              <a:t>.</a:t>
            </a:r>
            <a:br>
              <a:rPr lang="ko-KR" altLang="en-US" sz="2100" dirty="0">
                <a:latin typeface="+mn-ea"/>
              </a:rPr>
            </a:br>
            <a:br>
              <a:rPr lang="ko-KR" altLang="en-US" sz="2100" dirty="0">
                <a:latin typeface="+mn-ea"/>
              </a:rPr>
            </a:br>
            <a:r>
              <a:rPr lang="en-US" altLang="ko-KR" sz="2000" dirty="0">
                <a:solidFill>
                  <a:srgbClr val="000000"/>
                </a:solidFill>
                <a:effectLst/>
                <a:latin typeface="+mj-ea"/>
                <a:ea typeface="+mj-ea"/>
                <a:cs typeface="바탕" panose="02030600000101010101" pitchFamily="18" charset="-127"/>
              </a:rPr>
              <a:t>(c) </a:t>
            </a:r>
            <a:r>
              <a:rPr lang="ko-KR" altLang="ko-KR" sz="2000" dirty="0">
                <a:solidFill>
                  <a:srgbClr val="000000"/>
                </a:solidFill>
                <a:effectLst/>
                <a:latin typeface="+mj-ea"/>
                <a:ea typeface="+mj-ea"/>
                <a:cs typeface="바탕" panose="02030600000101010101" pitchFamily="18" charset="-127"/>
              </a:rPr>
              <a:t>조건에서 너비가 증가하여 추가적으로 제외되는 경로가 발생할 경우</a:t>
            </a:r>
            <a:r>
              <a:rPr lang="en-US" altLang="ko-KR" sz="2000" dirty="0">
                <a:solidFill>
                  <a:srgbClr val="000000"/>
                </a:solidFill>
                <a:effectLst/>
                <a:latin typeface="+mj-ea"/>
                <a:ea typeface="+mj-ea"/>
                <a:cs typeface="바탕" panose="02030600000101010101" pitchFamily="18" charset="-127"/>
              </a:rPr>
              <a:t>, </a:t>
            </a:r>
            <a:r>
              <a:rPr lang="ko-KR" altLang="ko-KR" sz="2000" dirty="0">
                <a:solidFill>
                  <a:srgbClr val="000000"/>
                </a:solidFill>
                <a:effectLst/>
                <a:latin typeface="+mj-ea"/>
                <a:ea typeface="+mj-ea"/>
                <a:cs typeface="바탕" panose="02030600000101010101" pitchFamily="18" charset="-127"/>
              </a:rPr>
              <a:t>즉</a:t>
            </a:r>
            <a:r>
              <a:rPr lang="en-US" altLang="ko-KR" sz="2000" dirty="0">
                <a:solidFill>
                  <a:srgbClr val="000000"/>
                </a:solidFill>
                <a:effectLst/>
                <a:latin typeface="+mj-ea"/>
                <a:ea typeface="+mj-ea"/>
                <a:cs typeface="바탕" panose="02030600000101010101" pitchFamily="18" charset="-127"/>
              </a:rPr>
              <a:t>, 1-8 </a:t>
            </a:r>
            <a:r>
              <a:rPr lang="ko-KR" altLang="ko-KR" sz="2000" dirty="0">
                <a:solidFill>
                  <a:srgbClr val="000000"/>
                </a:solidFill>
                <a:effectLst/>
                <a:latin typeface="+mj-ea"/>
                <a:ea typeface="+mj-ea"/>
                <a:cs typeface="바탕" panose="02030600000101010101" pitchFamily="18" charset="-127"/>
              </a:rPr>
              <a:t>노드 등</a:t>
            </a:r>
            <a:r>
              <a:rPr lang="en-US" altLang="ko-KR" sz="2000" dirty="0">
                <a:solidFill>
                  <a:srgbClr val="000000"/>
                </a:solidFill>
                <a:effectLst/>
                <a:latin typeface="+mj-ea"/>
                <a:ea typeface="+mj-ea"/>
                <a:cs typeface="바탕" panose="02030600000101010101" pitchFamily="18" charset="-127"/>
              </a:rPr>
              <a:t> 8</a:t>
            </a:r>
            <a:r>
              <a:rPr lang="ko-KR" altLang="ko-KR" sz="2000" dirty="0">
                <a:solidFill>
                  <a:srgbClr val="000000"/>
                </a:solidFill>
                <a:effectLst/>
                <a:latin typeface="+mj-ea"/>
                <a:ea typeface="+mj-ea"/>
                <a:cs typeface="바탕" panose="02030600000101010101" pitchFamily="18" charset="-127"/>
              </a:rPr>
              <a:t>개의 경로가 추가로 불가할 경우 최적 경로는</a:t>
            </a:r>
            <a:r>
              <a:rPr lang="en-US" altLang="ko-KR" sz="2000" dirty="0">
                <a:solidFill>
                  <a:srgbClr val="000000"/>
                </a:solidFill>
                <a:effectLst/>
                <a:latin typeface="+mj-ea"/>
                <a:ea typeface="+mj-ea"/>
                <a:cs typeface="바탕" panose="02030600000101010101" pitchFamily="18" charset="-127"/>
              </a:rPr>
              <a:t> 1-2-8-12-3-2-1 </a:t>
            </a:r>
            <a:r>
              <a:rPr lang="ko-KR" altLang="ko-KR" sz="2000" dirty="0">
                <a:solidFill>
                  <a:srgbClr val="000000"/>
                </a:solidFill>
                <a:effectLst/>
                <a:latin typeface="+mj-ea"/>
                <a:ea typeface="+mj-ea"/>
                <a:cs typeface="바탕" panose="02030600000101010101" pitchFamily="18" charset="-127"/>
              </a:rPr>
              <a:t>과 같이 변경되며 이 때의 총거리는</a:t>
            </a:r>
            <a:r>
              <a:rPr lang="en-US" altLang="ko-KR" sz="2000" dirty="0">
                <a:solidFill>
                  <a:srgbClr val="000000"/>
                </a:solidFill>
                <a:effectLst/>
                <a:latin typeface="+mj-ea"/>
                <a:ea typeface="+mj-ea"/>
                <a:cs typeface="바탕" panose="02030600000101010101" pitchFamily="18" charset="-127"/>
              </a:rPr>
              <a:t> 8.47</a:t>
            </a:r>
            <a:r>
              <a:rPr lang="ko-KR" altLang="ko-KR" sz="2000" dirty="0">
                <a:solidFill>
                  <a:srgbClr val="000000"/>
                </a:solidFill>
                <a:effectLst/>
                <a:latin typeface="+mj-ea"/>
                <a:ea typeface="+mj-ea"/>
                <a:cs typeface="바탕" panose="02030600000101010101" pitchFamily="18" charset="-127"/>
              </a:rPr>
              <a:t>로</a:t>
            </a:r>
            <a:r>
              <a:rPr lang="en-US" altLang="ko-KR" sz="2000" dirty="0">
                <a:solidFill>
                  <a:srgbClr val="000000"/>
                </a:solidFill>
                <a:effectLst/>
                <a:latin typeface="+mj-ea"/>
                <a:ea typeface="+mj-ea"/>
                <a:cs typeface="바탕" panose="02030600000101010101" pitchFamily="18" charset="-127"/>
              </a:rPr>
              <a:t> (b)</a:t>
            </a:r>
            <a:r>
              <a:rPr lang="ko-KR" altLang="ko-KR" sz="2000" dirty="0">
                <a:solidFill>
                  <a:srgbClr val="000000"/>
                </a:solidFill>
                <a:effectLst/>
                <a:latin typeface="+mj-ea"/>
                <a:ea typeface="+mj-ea"/>
                <a:cs typeface="바탕" panose="02030600000101010101" pitchFamily="18" charset="-127"/>
              </a:rPr>
              <a:t>의 경우에 비해 다소 증가</a:t>
            </a:r>
            <a:r>
              <a:rPr lang="en-US" altLang="ko-KR" sz="2000" dirty="0">
                <a:solidFill>
                  <a:srgbClr val="000000"/>
                </a:solidFill>
                <a:effectLst/>
                <a:latin typeface="+mj-ea"/>
                <a:ea typeface="+mj-ea"/>
                <a:cs typeface="바탕" panose="02030600000101010101" pitchFamily="18" charset="-127"/>
              </a:rPr>
              <a:t>.</a:t>
            </a:r>
          </a:p>
          <a:p>
            <a:pPr>
              <a:lnSpc>
                <a:spcPct val="150000"/>
              </a:lnSpc>
            </a:pPr>
            <a:r>
              <a:rPr lang="ko-KR" altLang="ko-KR" sz="2000" kern="100" dirty="0">
                <a:solidFill>
                  <a:srgbClr val="000000"/>
                </a:solidFill>
                <a:effectLst/>
                <a:latin typeface="+mj-ea"/>
                <a:ea typeface="+mj-ea"/>
                <a:cs typeface="바탕" panose="02030600000101010101" pitchFamily="18" charset="-127"/>
              </a:rPr>
              <a:t>제한 </a:t>
            </a:r>
            <a:r>
              <a:rPr lang="ko-KR" altLang="ko-KR" sz="2100" kern="100" dirty="0">
                <a:solidFill>
                  <a:srgbClr val="000000"/>
                </a:solidFill>
                <a:effectLst/>
                <a:latin typeface="+mn-ea"/>
                <a:cs typeface="바탕" panose="02030600000101010101" pitchFamily="18" charset="-127"/>
              </a:rPr>
              <a:t>구역과 비행 경로에 </a:t>
            </a:r>
            <a:r>
              <a:rPr lang="ko-KR" altLang="ko-KR" sz="2100" kern="100" dirty="0" err="1">
                <a:solidFill>
                  <a:srgbClr val="000000"/>
                </a:solidFill>
                <a:effectLst/>
                <a:latin typeface="+mn-ea"/>
                <a:cs typeface="바탕" panose="02030600000101010101" pitchFamily="18" charset="-127"/>
              </a:rPr>
              <a:t>측위</a:t>
            </a:r>
            <a:r>
              <a:rPr lang="ko-KR" altLang="ko-KR" sz="2100" kern="100" dirty="0">
                <a:solidFill>
                  <a:srgbClr val="000000"/>
                </a:solidFill>
                <a:effectLst/>
                <a:latin typeface="+mn-ea"/>
                <a:cs typeface="바탕" panose="02030600000101010101" pitchFamily="18" charset="-127"/>
              </a:rPr>
              <a:t> 오차를 반영하는 만큼의 충분한 </a:t>
            </a:r>
            <a:r>
              <a:rPr lang="ko-KR" altLang="ko-KR" sz="2100" kern="100" dirty="0" err="1">
                <a:solidFill>
                  <a:srgbClr val="000000"/>
                </a:solidFill>
                <a:effectLst/>
                <a:latin typeface="+mn-ea"/>
                <a:cs typeface="바탕" panose="02030600000101010101" pitchFamily="18" charset="-127"/>
              </a:rPr>
              <a:t>이격을</a:t>
            </a:r>
            <a:r>
              <a:rPr lang="ko-KR" altLang="ko-KR" sz="2100" kern="100" dirty="0">
                <a:solidFill>
                  <a:srgbClr val="000000"/>
                </a:solidFill>
                <a:effectLst/>
                <a:latin typeface="+mn-ea"/>
                <a:cs typeface="바탕" panose="02030600000101010101" pitchFamily="18" charset="-127"/>
              </a:rPr>
              <a:t> 가질 수 있으므로 안전성이 향상</a:t>
            </a:r>
            <a:r>
              <a:rPr lang="en-US" altLang="ko-KR" sz="2100" kern="100" dirty="0">
                <a:solidFill>
                  <a:srgbClr val="000000"/>
                </a:solidFill>
                <a:effectLst/>
                <a:latin typeface="+mn-ea"/>
                <a:cs typeface="바탕" panose="02030600000101010101" pitchFamily="18" charset="-127"/>
              </a:rPr>
              <a:t>. </a:t>
            </a:r>
            <a:r>
              <a:rPr lang="ko-KR" altLang="ko-KR" sz="2100" kern="100" dirty="0">
                <a:solidFill>
                  <a:srgbClr val="000000"/>
                </a:solidFill>
                <a:effectLst/>
                <a:latin typeface="+mn-ea"/>
                <a:cs typeface="바탕" panose="02030600000101010101" pitchFamily="18" charset="-127"/>
              </a:rPr>
              <a:t>이로써 </a:t>
            </a:r>
            <a:r>
              <a:rPr lang="ko-KR" altLang="ko-KR" sz="2100" kern="100" dirty="0" err="1">
                <a:solidFill>
                  <a:srgbClr val="000000"/>
                </a:solidFill>
                <a:effectLst/>
                <a:latin typeface="+mn-ea"/>
                <a:cs typeface="바탕" panose="02030600000101010101" pitchFamily="18" charset="-127"/>
              </a:rPr>
              <a:t>드론</a:t>
            </a:r>
            <a:r>
              <a:rPr lang="ko-KR" altLang="ko-KR" sz="2100" kern="100" dirty="0">
                <a:solidFill>
                  <a:srgbClr val="000000"/>
                </a:solidFill>
                <a:effectLst/>
                <a:latin typeface="+mn-ea"/>
                <a:cs typeface="바탕" panose="02030600000101010101" pitchFamily="18" charset="-127"/>
              </a:rPr>
              <a:t> 경로 설정에서</a:t>
            </a:r>
            <a:r>
              <a:rPr lang="en-US" altLang="ko-KR" sz="2100" kern="100" dirty="0">
                <a:solidFill>
                  <a:srgbClr val="000000"/>
                </a:solidFill>
                <a:effectLst/>
                <a:latin typeface="+mn-ea"/>
                <a:cs typeface="바탕" panose="02030600000101010101" pitchFamily="18" charset="-127"/>
              </a:rPr>
              <a:t> TSP(Travelling Salesman Problem) </a:t>
            </a:r>
            <a:r>
              <a:rPr lang="ko-KR" altLang="ko-KR" sz="2100" kern="100" dirty="0">
                <a:solidFill>
                  <a:srgbClr val="000000"/>
                </a:solidFill>
                <a:effectLst/>
                <a:latin typeface="+mn-ea"/>
                <a:cs typeface="바탕" panose="02030600000101010101" pitchFamily="18" charset="-127"/>
              </a:rPr>
              <a:t>문제의 해를 안전성과 최적 경로 </a:t>
            </a:r>
            <a:r>
              <a:rPr lang="ko-KR" altLang="ko-KR" sz="2100" kern="100" dirty="0" err="1">
                <a:solidFill>
                  <a:srgbClr val="000000"/>
                </a:solidFill>
                <a:effectLst/>
                <a:latin typeface="+mn-ea"/>
                <a:cs typeface="바탕" panose="02030600000101010101" pitchFamily="18" charset="-127"/>
              </a:rPr>
              <a:t>거리간에</a:t>
            </a:r>
            <a:r>
              <a:rPr lang="en-US" altLang="ko-KR" sz="2100" kern="100" dirty="0">
                <a:solidFill>
                  <a:srgbClr val="000000"/>
                </a:solidFill>
                <a:effectLst/>
                <a:latin typeface="+mn-ea"/>
                <a:cs typeface="바탕" panose="02030600000101010101" pitchFamily="18" charset="-127"/>
              </a:rPr>
              <a:t> Trade-off </a:t>
            </a:r>
            <a:r>
              <a:rPr lang="ko-KR" altLang="ko-KR" sz="2100" kern="100" dirty="0">
                <a:solidFill>
                  <a:srgbClr val="000000"/>
                </a:solidFill>
                <a:effectLst/>
                <a:latin typeface="+mn-ea"/>
                <a:cs typeface="바탕" panose="02030600000101010101" pitchFamily="18" charset="-127"/>
              </a:rPr>
              <a:t>관계가 있음</a:t>
            </a:r>
            <a:r>
              <a:rPr lang="ko-KR" altLang="en-US" sz="2100" kern="100" dirty="0">
                <a:solidFill>
                  <a:srgbClr val="000000"/>
                </a:solidFill>
                <a:effectLst/>
                <a:latin typeface="+mn-ea"/>
                <a:cs typeface="바탕" panose="02030600000101010101" pitchFamily="18" charset="-127"/>
              </a:rPr>
              <a:t>을 보임</a:t>
            </a:r>
            <a:r>
              <a:rPr lang="en-US" altLang="ko-KR" sz="2100" kern="100" dirty="0">
                <a:solidFill>
                  <a:srgbClr val="000000"/>
                </a:solidFill>
                <a:effectLst/>
                <a:latin typeface="+mn-ea"/>
                <a:cs typeface="바탕" panose="02030600000101010101" pitchFamily="18" charset="-127"/>
              </a:rPr>
              <a:t>.</a:t>
            </a:r>
            <a:endParaRPr lang="ko-KR" altLang="ko-KR" sz="2100" kern="100" dirty="0">
              <a:solidFill>
                <a:srgbClr val="000000"/>
              </a:solidFill>
              <a:effectLst/>
              <a:latin typeface="+mn-ea"/>
              <a:cs typeface="HY신명조" panose="02030600000101010101" pitchFamily="18" charset="-127"/>
            </a:endParaRPr>
          </a:p>
          <a:p>
            <a:endParaRPr lang="en-US" altLang="ko-KR" sz="2211" dirty="0">
              <a:latin typeface="+mj-ea"/>
              <a:ea typeface="+mj-ea"/>
            </a:endParaRPr>
          </a:p>
        </p:txBody>
      </p:sp>
      <p:pic>
        <p:nvPicPr>
          <p:cNvPr id="29" name="picture 1">
            <a:extLst>
              <a:ext uri="{FF2B5EF4-FFF2-40B4-BE49-F238E27FC236}">
                <a16:creationId xmlns:a16="http://schemas.microsoft.com/office/drawing/2014/main" id="{153FFD35-AC83-48AD-9B36-E53B1DC8FB96}"/>
              </a:ext>
            </a:extLst>
          </p:cNvPr>
          <p:cNvPicPr/>
          <p:nvPr/>
        </p:nvPicPr>
        <p:blipFill>
          <a:blip r:embed="rId10" cstate="print">
            <a:lum/>
          </a:blip>
          <a:srcRect/>
          <a:stretch>
            <a:fillRect/>
          </a:stretch>
        </p:blipFill>
        <p:spPr>
          <a:xfrm>
            <a:off x="4762402" y="30997688"/>
            <a:ext cx="4370453" cy="3736375"/>
          </a:xfrm>
          <a:prstGeom prst="rect">
            <a:avLst/>
          </a:prstGeom>
        </p:spPr>
      </p:pic>
    </p:spTree>
    <p:extLst>
      <p:ext uri="{BB962C8B-B14F-4D97-AF65-F5344CB8AC3E}">
        <p14:creationId xmlns:p14="http://schemas.microsoft.com/office/powerpoint/2010/main" val="2126497554"/>
      </p:ext>
    </p:extLst>
  </p:cSld>
  <p:clrMapOvr>
    <a:masterClrMapping/>
  </p:clrMapOvr>
</p:sld>
</file>

<file path=ppt/theme/theme1.xml><?xml version="1.0" encoding="utf-8"?>
<a:theme xmlns:a="http://schemas.openxmlformats.org/drawingml/2006/main" name="Office 2013 - 2022 테마">
  <a:themeElements>
    <a:clrScheme name="Office 2013 - 2022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4416</TotalTime>
  <Words>2025</Words>
  <Application>Microsoft Office PowerPoint</Application>
  <PresentationFormat>사용자 지정</PresentationFormat>
  <Paragraphs>120</Paragraphs>
  <Slides>2</Slides>
  <Notes>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vt:i4>
      </vt:variant>
    </vt:vector>
  </HeadingPairs>
  <TitlesOfParts>
    <vt:vector size="7" baseType="lpstr">
      <vt:lpstr>Arial</vt:lpstr>
      <vt:lpstr>Calibri</vt:lpstr>
      <vt:lpstr>맑은 고딕</vt:lpstr>
      <vt:lpstr>Calibri Light</vt:lpstr>
      <vt:lpstr>Office 2013 - 2022 테마</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admin</dc:creator>
  <cp:lastModifiedBy>윤민제/전자공학과</cp:lastModifiedBy>
  <cp:revision>386</cp:revision>
  <cp:lastPrinted>2021-10-06T08:24:30Z</cp:lastPrinted>
  <dcterms:created xsi:type="dcterms:W3CDTF">2018-09-28T01:59:17Z</dcterms:created>
  <dcterms:modified xsi:type="dcterms:W3CDTF">2024-06-24T06:10:16Z</dcterms:modified>
</cp:coreProperties>
</file>